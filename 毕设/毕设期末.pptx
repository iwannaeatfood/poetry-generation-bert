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703" r:id="rId2"/>
  </p:sldMasterIdLst>
  <p:notesMasterIdLst>
    <p:notesMasterId r:id="rId29"/>
  </p:notesMasterIdLst>
  <p:handoutMasterIdLst>
    <p:handoutMasterId r:id="rId30"/>
  </p:handoutMasterIdLst>
  <p:sldIdLst>
    <p:sldId id="277" r:id="rId3"/>
    <p:sldId id="257" r:id="rId4"/>
    <p:sldId id="438" r:id="rId5"/>
    <p:sldId id="465" r:id="rId6"/>
    <p:sldId id="439" r:id="rId7"/>
    <p:sldId id="472" r:id="rId8"/>
    <p:sldId id="456" r:id="rId9"/>
    <p:sldId id="455" r:id="rId10"/>
    <p:sldId id="470" r:id="rId11"/>
    <p:sldId id="473" r:id="rId12"/>
    <p:sldId id="474" r:id="rId13"/>
    <p:sldId id="436" r:id="rId14"/>
    <p:sldId id="476" r:id="rId15"/>
    <p:sldId id="452" r:id="rId16"/>
    <p:sldId id="475" r:id="rId17"/>
    <p:sldId id="484" r:id="rId18"/>
    <p:sldId id="478" r:id="rId19"/>
    <p:sldId id="477" r:id="rId20"/>
    <p:sldId id="479" r:id="rId21"/>
    <p:sldId id="480" r:id="rId22"/>
    <p:sldId id="467" r:id="rId23"/>
    <p:sldId id="457" r:id="rId24"/>
    <p:sldId id="481" r:id="rId25"/>
    <p:sldId id="482" r:id="rId26"/>
    <p:sldId id="483" r:id="rId27"/>
    <p:sldId id="293" r:id="rId28"/>
  </p:sldIdLst>
  <p:sldSz cx="12192000" cy="6858000"/>
  <p:notesSz cx="6858000" cy="9144000"/>
  <p:embeddedFontLst>
    <p:embeddedFont>
      <p:font typeface="맑은 고딕" panose="020B0503020000020004" pitchFamily="34" charset="-127"/>
      <p:regular r:id="rId31"/>
      <p:bold r:id="rId32"/>
    </p:embeddedFont>
    <p:embeddedFont>
      <p:font typeface="等线" panose="02010600030101010101" pitchFamily="2" charset="-122"/>
      <p:regular r:id="rId33"/>
      <p:bold r:id="rId34"/>
    </p:embeddedFont>
    <p:embeddedFont>
      <p:font typeface="等线 Light" panose="02010600030101010101" pitchFamily="2" charset="-122"/>
      <p:regular r:id="rId35"/>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9485"/>
    <a:srgbClr val="B3A47F"/>
    <a:srgbClr val="3D0702"/>
    <a:srgbClr val="F6D9CC"/>
    <a:srgbClr val="FDF4EC"/>
    <a:srgbClr val="F85352"/>
    <a:srgbClr val="ECB797"/>
    <a:srgbClr val="F4F0F0"/>
    <a:srgbClr val="33B3A4"/>
    <a:srgbClr val="B5EA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7" autoAdjust="0"/>
    <p:restoredTop sz="95519" autoAdjust="0"/>
  </p:normalViewPr>
  <p:slideViewPr>
    <p:cSldViewPr snapToGrid="0">
      <p:cViewPr varScale="1">
        <p:scale>
          <a:sx n="87" d="100"/>
          <a:sy n="87" d="100"/>
        </p:scale>
        <p:origin x="427" y="4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8" d="100"/>
          <a:sy n="58" d="100"/>
        </p:scale>
        <p:origin x="302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3.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2.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font" Target="fonts/font5.fntdata"/><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59230B0E-39ED-45EA-AD95-669D0616B39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4" name="바닥글 개체 틀 3">
            <a:extLst>
              <a:ext uri="{FF2B5EF4-FFF2-40B4-BE49-F238E27FC236}">
                <a16:creationId xmlns:a16="http://schemas.microsoft.com/office/drawing/2014/main" id="{AA82B798-201A-4B14-B1F0-6A660C5C72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EE2F5857-B39B-4284-A086-C6DE2719C9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E3EF34-7656-4396-AEBE-2B554E5E9341}" type="slidenum">
              <a:rPr lang="ko-KR" altLang="en-US" smtClean="0"/>
              <a:t>‹#›</a:t>
            </a:fld>
            <a:endParaRPr lang="ko-KR" altLang="en-US"/>
          </a:p>
        </p:txBody>
      </p:sp>
    </p:spTree>
    <p:extLst>
      <p:ext uri="{BB962C8B-B14F-4D97-AF65-F5344CB8AC3E}">
        <p14:creationId xmlns:p14="http://schemas.microsoft.com/office/powerpoint/2010/main" val="16987821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A49F08-9100-4AF5-BC0A-FC6A093BE3CC}" type="datetimeFigureOut">
              <a:rPr lang="ko-KR" altLang="en-US" smtClean="0"/>
              <a:t>2024-05-08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8FC7D2-309F-4B1D-AF63-DB3D4B544859}" type="slidenum">
              <a:rPr lang="ko-KR" altLang="en-US" smtClean="0"/>
              <a:t>‹#›</a:t>
            </a:fld>
            <a:endParaRPr lang="ko-KR" altLang="en-US"/>
          </a:p>
        </p:txBody>
      </p:sp>
    </p:spTree>
    <p:extLst>
      <p:ext uri="{BB962C8B-B14F-4D97-AF65-F5344CB8AC3E}">
        <p14:creationId xmlns:p14="http://schemas.microsoft.com/office/powerpoint/2010/main" val="371793352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1</a:t>
            </a:fld>
            <a:endParaRPr lang="ko-KR" altLang="en-US"/>
          </a:p>
        </p:txBody>
      </p:sp>
    </p:spTree>
    <p:extLst>
      <p:ext uri="{BB962C8B-B14F-4D97-AF65-F5344CB8AC3E}">
        <p14:creationId xmlns:p14="http://schemas.microsoft.com/office/powerpoint/2010/main" val="3314365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2</a:t>
            </a:fld>
            <a:endParaRPr lang="ko-KR" altLang="en-US"/>
          </a:p>
        </p:txBody>
      </p:sp>
    </p:spTree>
    <p:extLst>
      <p:ext uri="{BB962C8B-B14F-4D97-AF65-F5344CB8AC3E}">
        <p14:creationId xmlns:p14="http://schemas.microsoft.com/office/powerpoint/2010/main" val="1937491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3</a:t>
            </a:fld>
            <a:endParaRPr lang="ko-KR" altLang="en-US"/>
          </a:p>
        </p:txBody>
      </p:sp>
    </p:spTree>
    <p:extLst>
      <p:ext uri="{BB962C8B-B14F-4D97-AF65-F5344CB8AC3E}">
        <p14:creationId xmlns:p14="http://schemas.microsoft.com/office/powerpoint/2010/main" val="2626128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ECECEC"/>
                </a:solidFill>
                <a:effectLst/>
                <a:highlight>
                  <a:srgbClr val="212121"/>
                </a:highlight>
                <a:latin typeface="Times New Roman" panose="02020603050405020304" pitchFamily="18" charset="0"/>
              </a:rPr>
              <a:t>Subsequently, statistical machine translation technology was introduced into the field of automatic poetry generation. This approach attempts to turn the poetry generation problem into a language translation problem, using statistical models to predict the likelihood of each word. However, due to limitations on the structure of language, the resulting poems often lack fluency and </a:t>
            </a:r>
            <a:r>
              <a:rPr lang="en-US" altLang="zh-CN" b="0" i="0" dirty="0" err="1">
                <a:solidFill>
                  <a:srgbClr val="ECECEC"/>
                </a:solidFill>
                <a:effectLst/>
                <a:highlight>
                  <a:srgbClr val="212121"/>
                </a:highlight>
                <a:latin typeface="Times New Roman" panose="02020603050405020304" pitchFamily="18" charset="0"/>
              </a:rPr>
              <a:t>coherence.In</a:t>
            </a:r>
            <a:r>
              <a:rPr lang="en-US" altLang="zh-CN" b="0" i="0" dirty="0">
                <a:solidFill>
                  <a:srgbClr val="ECECEC"/>
                </a:solidFill>
                <a:effectLst/>
                <a:highlight>
                  <a:srgbClr val="212121"/>
                </a:highlight>
                <a:latin typeface="Times New Roman" panose="02020603050405020304" pitchFamily="18" charset="0"/>
              </a:rPr>
              <a:t> the early 21st century, deep learning models such as recurrent neural networks (RNN) and long short-term memory networks (LSTM) began to be applied to automatic poetry generation tasks. These models were able to better capture the semantic and grammatical structures in poetry, and the quality of the poems produced was significantly improved. However, due to the limitations of RNN and LSTM models, the generated poems still have some limitations.</a:t>
            </a:r>
          </a:p>
          <a:p>
            <a:pPr algn="l"/>
            <a:r>
              <a:rPr lang="en-US" altLang="zh-CN" b="0" i="0" dirty="0">
                <a:solidFill>
                  <a:srgbClr val="ECECEC"/>
                </a:solidFill>
                <a:effectLst/>
                <a:highlight>
                  <a:srgbClr val="212121"/>
                </a:highlight>
                <a:latin typeface="Times New Roman" panose="02020603050405020304" pitchFamily="18" charset="0"/>
              </a:rPr>
              <a:t>Until 2018, Google proposed the BERT (Bidirectional Encoder Representations from Transformers) model, which marked a new level of natural language processing. BERT model utilizes bidirectional encoders and attention mechanisms to understand text context, and its powerful text representation and prediction capabilities provide new possibilities for poetry generation tasks. With the help of BERT model, researchers can produce more fluent and natural poetry works, which brings a new development opportunity for the field of automatic poetry generation.</a:t>
            </a:r>
            <a:endParaRPr lang="zh-CN" altLang="en-US" b="0" i="0" dirty="0">
              <a:solidFill>
                <a:srgbClr val="ECECEC"/>
              </a:solidFill>
              <a:effectLst/>
              <a:highlight>
                <a:srgbClr val="212121"/>
              </a:highlight>
              <a:latin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08FC7D2-309F-4B1D-AF63-DB3D4B544859}" type="slidenum">
              <a:rPr lang="ko-KR" altLang="en-US" smtClean="0"/>
              <a:t>4</a:t>
            </a:fld>
            <a:endParaRPr lang="ko-KR" altLang="en-US"/>
          </a:p>
        </p:txBody>
      </p:sp>
    </p:spTree>
    <p:extLst>
      <p:ext uri="{BB962C8B-B14F-4D97-AF65-F5344CB8AC3E}">
        <p14:creationId xmlns:p14="http://schemas.microsoft.com/office/powerpoint/2010/main" val="2759066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111111"/>
                </a:solidFill>
                <a:effectLst/>
                <a:highlight>
                  <a:srgbClr val="FFFFFF"/>
                </a:highlight>
                <a:latin typeface="Times New Roman" panose="02020603050405020304" pitchFamily="18" charset="0"/>
              </a:rPr>
              <a:t>In this paper, the researchers used the BERT model to generate ancient poems, and then compared with using the LSTM model, with the same parameter Settings and device configurations. </a:t>
            </a:r>
          </a:p>
          <a:p>
            <a:pPr algn="l"/>
            <a:r>
              <a:rPr lang="en-US" altLang="zh-CN" b="0" i="0" dirty="0">
                <a:solidFill>
                  <a:srgbClr val="111111"/>
                </a:solidFill>
                <a:effectLst/>
                <a:highlight>
                  <a:srgbClr val="FFFFFF"/>
                </a:highlight>
                <a:latin typeface="Times New Roman" panose="02020603050405020304" pitchFamily="18" charset="0"/>
              </a:rPr>
              <a:t>Figure 5 shows the loss changes for both models in the test data </a:t>
            </a:r>
            <a:r>
              <a:rPr lang="en-US" altLang="zh-CN" b="0" i="0" dirty="0" err="1">
                <a:solidFill>
                  <a:srgbClr val="111111"/>
                </a:solidFill>
                <a:effectLst/>
                <a:highlight>
                  <a:srgbClr val="FFFFFF"/>
                </a:highlight>
                <a:latin typeface="Times New Roman" panose="02020603050405020304" pitchFamily="18" charset="0"/>
              </a:rPr>
              <a:t>setIt</a:t>
            </a:r>
            <a:r>
              <a:rPr lang="en-US" altLang="zh-CN" b="0" i="0" dirty="0">
                <a:solidFill>
                  <a:srgbClr val="111111"/>
                </a:solidFill>
                <a:effectLst/>
                <a:highlight>
                  <a:srgbClr val="FFFFFF"/>
                </a:highlight>
                <a:latin typeface="Times New Roman" panose="02020603050405020304" pitchFamily="18" charset="0"/>
              </a:rPr>
              <a:t> can be seen that the loss of BERT model is not only smoother, but also smaller than that of LSTM model, indicating that BERT model has better fitting inference ability.</a:t>
            </a:r>
          </a:p>
          <a:p>
            <a:pPr algn="l"/>
            <a:r>
              <a:rPr lang="en-US" altLang="zh-CN" b="0" i="0" dirty="0">
                <a:solidFill>
                  <a:srgbClr val="111111"/>
                </a:solidFill>
                <a:effectLst/>
                <a:highlight>
                  <a:srgbClr val="FFFFFF"/>
                </a:highlight>
                <a:latin typeface="Times New Roman" panose="02020603050405020304" pitchFamily="18" charset="0"/>
              </a:rPr>
              <a:t>After that, the two models were given the first sentence of the five-character poem by Liu </a:t>
            </a:r>
            <a:r>
              <a:rPr lang="en-US" altLang="zh-CN" b="0" i="0" dirty="0" err="1">
                <a:solidFill>
                  <a:srgbClr val="111111"/>
                </a:solidFill>
                <a:effectLst/>
                <a:highlight>
                  <a:srgbClr val="FFFFFF"/>
                </a:highlight>
                <a:latin typeface="Times New Roman" panose="02020603050405020304" pitchFamily="18" charset="0"/>
              </a:rPr>
              <a:t>Zongyuan</a:t>
            </a:r>
            <a:r>
              <a:rPr lang="en-US" altLang="zh-CN" b="0" i="0" dirty="0">
                <a:solidFill>
                  <a:srgbClr val="111111"/>
                </a:solidFill>
                <a:effectLst/>
                <a:highlight>
                  <a:srgbClr val="FFFFFF"/>
                </a:highlight>
                <a:latin typeface="Times New Roman" panose="02020603050405020304" pitchFamily="18" charset="0"/>
              </a:rPr>
              <a:t>, and asked to continue writing down the rest of the poem, and then evaluate the original and generated verses using the BLEURT algorithm. The BLEURT model, which had a rating range of (-1,1), also found five experts and professors in the Chinese department to evaluate the poems, with an average score between 1 and 10. The results are shown in Table 4.</a:t>
            </a:r>
          </a:p>
          <a:p>
            <a:pPr algn="l"/>
            <a:r>
              <a:rPr lang="en-US" altLang="zh-CN" b="0" i="0" dirty="0">
                <a:solidFill>
                  <a:srgbClr val="111111"/>
                </a:solidFill>
                <a:effectLst/>
                <a:highlight>
                  <a:srgbClr val="FFFFFF"/>
                </a:highlight>
                <a:latin typeface="Times New Roman" panose="02020603050405020304" pitchFamily="18" charset="0"/>
              </a:rPr>
              <a:t>As can be seen from Table 4 above, the poetry generated by BERT model has significantly improved compared with the proposed LSTM model in the evaluation of BLEURT algorithm, indicating that ancient poetry generated by BERT method can more deeply show prosodic characteristics.</a:t>
            </a:r>
          </a:p>
          <a:p>
            <a:pPr algn="l"/>
            <a:r>
              <a:rPr lang="en-US" altLang="zh-CN" b="0" i="0" dirty="0">
                <a:solidFill>
                  <a:srgbClr val="111111"/>
                </a:solidFill>
                <a:effectLst/>
                <a:highlight>
                  <a:srgbClr val="FFFFFF"/>
                </a:highlight>
                <a:latin typeface="Times New Roman" panose="02020603050405020304" pitchFamily="18" charset="0"/>
              </a:rPr>
              <a:t>By changing the mask structure, the model can also receive some manually provided characters so that each character appears at the beginning of each poem. The results are shown in Table 5 above. It can be seen that the model has good expansibility and is helpful to the reference and research in the field of poetry generation.</a:t>
            </a:r>
            <a:endParaRPr lang="zh-CN" altLang="en-US" b="0" i="0" dirty="0">
              <a:solidFill>
                <a:srgbClr val="111111"/>
              </a:solidFill>
              <a:effectLst/>
              <a:highlight>
                <a:srgbClr val="FFFFFF"/>
              </a:highlight>
              <a:latin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08FC7D2-309F-4B1D-AF63-DB3D4B544859}" type="slidenum">
              <a:rPr lang="ko-KR" altLang="en-US" smtClean="0"/>
              <a:t>5</a:t>
            </a:fld>
            <a:endParaRPr lang="ko-KR" altLang="en-US"/>
          </a:p>
        </p:txBody>
      </p:sp>
    </p:spTree>
    <p:extLst>
      <p:ext uri="{BB962C8B-B14F-4D97-AF65-F5344CB8AC3E}">
        <p14:creationId xmlns:p14="http://schemas.microsoft.com/office/powerpoint/2010/main" val="3022236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6</a:t>
            </a:fld>
            <a:endParaRPr lang="ko-KR" altLang="en-US"/>
          </a:p>
        </p:txBody>
      </p:sp>
    </p:spTree>
    <p:extLst>
      <p:ext uri="{BB962C8B-B14F-4D97-AF65-F5344CB8AC3E}">
        <p14:creationId xmlns:p14="http://schemas.microsoft.com/office/powerpoint/2010/main" val="1513903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7</a:t>
            </a:fld>
            <a:endParaRPr lang="ko-KR" altLang="en-US"/>
          </a:p>
        </p:txBody>
      </p:sp>
    </p:spTree>
    <p:extLst>
      <p:ext uri="{BB962C8B-B14F-4D97-AF65-F5344CB8AC3E}">
        <p14:creationId xmlns:p14="http://schemas.microsoft.com/office/powerpoint/2010/main" val="4724145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None/>
            </a:pPr>
            <a:r>
              <a:rPr lang="en-US" altLang="zh-CN" b="1" i="0" dirty="0">
                <a:solidFill>
                  <a:srgbClr val="111111"/>
                </a:solidFill>
                <a:effectLst/>
                <a:highlight>
                  <a:srgbClr val="FFFFFF"/>
                </a:highlight>
                <a:latin typeface="Times New Roman" panose="02020603050405020304" pitchFamily="18" charset="0"/>
              </a:rPr>
              <a:t>The BERT model (Bidirectional Encoder Representations from Transformers) is a pre-trained model proposed by Google AI Research Institute in 2018. It has made amazing achievements in the field of natural language processing (NLP), breaking multiple records. BERT models are very difficult to train, but fortunately, Google has open sourced several versions of the pre-trained model, including English, Chinese, and multilingual versions. My project uses a </a:t>
            </a:r>
            <a:r>
              <a:rPr lang="en-US" altLang="zh-CN" b="1" i="0" dirty="0" err="1">
                <a:solidFill>
                  <a:srgbClr val="111111"/>
                </a:solidFill>
                <a:effectLst/>
                <a:highlight>
                  <a:srgbClr val="FFFFFF"/>
                </a:highlight>
                <a:latin typeface="Times New Roman" panose="02020603050405020304" pitchFamily="18" charset="0"/>
              </a:rPr>
              <a:t>bert</a:t>
            </a:r>
            <a:r>
              <a:rPr lang="en-US" altLang="zh-CN" b="1" i="0" dirty="0">
                <a:solidFill>
                  <a:srgbClr val="111111"/>
                </a:solidFill>
                <a:effectLst/>
                <a:highlight>
                  <a:srgbClr val="FFFFFF"/>
                </a:highlight>
                <a:latin typeface="Times New Roman" panose="02020603050405020304" pitchFamily="18" charset="0"/>
              </a:rPr>
              <a:t> pre-training model "Bert-BASE-Chinese" that can be run on the paddle framework.</a:t>
            </a:r>
            <a:endParaRPr lang="zh-CN" altLang="en-US" b="0" i="0" dirty="0">
              <a:solidFill>
                <a:srgbClr val="111111"/>
              </a:solidFill>
              <a:effectLst/>
              <a:highlight>
                <a:srgbClr val="FFFFFF"/>
              </a:highlight>
              <a:latin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08FC7D2-309F-4B1D-AF63-DB3D4B544859}" type="slidenum">
              <a:rPr lang="ko-KR" altLang="en-US" smtClean="0"/>
              <a:t>8</a:t>
            </a:fld>
            <a:endParaRPr lang="ko-KR" altLang="en-US"/>
          </a:p>
        </p:txBody>
      </p:sp>
    </p:spTree>
    <p:extLst>
      <p:ext uri="{BB962C8B-B14F-4D97-AF65-F5344CB8AC3E}">
        <p14:creationId xmlns:p14="http://schemas.microsoft.com/office/powerpoint/2010/main" val="3583428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zh-CN" b="1" i="0" dirty="0" err="1">
                <a:solidFill>
                  <a:srgbClr val="111111"/>
                </a:solidFill>
                <a:effectLst/>
                <a:highlight>
                  <a:srgbClr val="FFFFFF"/>
                </a:highlight>
                <a:latin typeface="Times New Roman" panose="02020603050405020304" pitchFamily="18" charset="0"/>
              </a:rPr>
              <a:t>PaddlePaddle</a:t>
            </a:r>
            <a:r>
              <a:rPr lang="en-US" altLang="zh-CN" b="1" i="0" dirty="0">
                <a:solidFill>
                  <a:srgbClr val="111111"/>
                </a:solidFill>
                <a:effectLst/>
                <a:highlight>
                  <a:srgbClr val="FFFFFF"/>
                </a:highlight>
                <a:latin typeface="Times New Roman" panose="02020603050405020304" pitchFamily="18" charset="0"/>
              </a:rPr>
              <a:t> (or fly paddle) is a deep learning framework proposed by Baidu. It is easy to use, efficient, flexible, scalable, and designed to provide modelers with a convenient deep learning development experience. </a:t>
            </a:r>
            <a:r>
              <a:rPr lang="en-US" altLang="zh-CN" b="1" i="0" dirty="0" err="1">
                <a:solidFill>
                  <a:srgbClr val="111111"/>
                </a:solidFill>
                <a:effectLst/>
                <a:highlight>
                  <a:srgbClr val="FFFFFF"/>
                </a:highlight>
                <a:latin typeface="Times New Roman" panose="02020603050405020304" pitchFamily="18" charset="0"/>
              </a:rPr>
              <a:t>PaddlePaddle</a:t>
            </a:r>
            <a:r>
              <a:rPr lang="en-US" altLang="zh-CN" b="1" i="0" dirty="0">
                <a:solidFill>
                  <a:srgbClr val="111111"/>
                </a:solidFill>
                <a:effectLst/>
                <a:highlight>
                  <a:srgbClr val="FFFFFF"/>
                </a:highlight>
                <a:latin typeface="Times New Roman" panose="02020603050405020304" pitchFamily="18" charset="0"/>
              </a:rPr>
              <a:t> can be used to build, train, and deploy deep learning models. </a:t>
            </a:r>
            <a:r>
              <a:rPr lang="en-US" altLang="zh-CN" b="1" i="0" dirty="0" err="1">
                <a:solidFill>
                  <a:srgbClr val="111111"/>
                </a:solidFill>
                <a:effectLst/>
                <a:highlight>
                  <a:srgbClr val="FFFFFF"/>
                </a:highlight>
                <a:latin typeface="Times New Roman" panose="02020603050405020304" pitchFamily="18" charset="0"/>
              </a:rPr>
              <a:t>PaddlePaddle</a:t>
            </a:r>
            <a:r>
              <a:rPr lang="en-US" altLang="zh-CN" b="1" i="0" dirty="0">
                <a:solidFill>
                  <a:srgbClr val="111111"/>
                </a:solidFill>
                <a:effectLst/>
                <a:highlight>
                  <a:srgbClr val="FFFFFF"/>
                </a:highlight>
                <a:latin typeface="Times New Roman" panose="02020603050405020304" pitchFamily="18" charset="0"/>
              </a:rPr>
              <a:t> supports both CPU and GPU, and provides a rich API and model library.</a:t>
            </a:r>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9</a:t>
            </a:fld>
            <a:endParaRPr lang="ko-KR" altLang="en-US"/>
          </a:p>
        </p:txBody>
      </p:sp>
    </p:spTree>
    <p:extLst>
      <p:ext uri="{BB962C8B-B14F-4D97-AF65-F5344CB8AC3E}">
        <p14:creationId xmlns:p14="http://schemas.microsoft.com/office/powerpoint/2010/main" val="1059049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None/>
            </a:pPr>
            <a:r>
              <a:rPr lang="en-US" altLang="zh-CN" b="1" i="0" dirty="0">
                <a:solidFill>
                  <a:srgbClr val="111111"/>
                </a:solidFill>
                <a:effectLst/>
                <a:highlight>
                  <a:srgbClr val="FFFFFF"/>
                </a:highlight>
                <a:latin typeface="Times New Roman" panose="02020603050405020304" pitchFamily="18" charset="0"/>
              </a:rPr>
              <a:t>This is the tool I use to show the graphics. </a:t>
            </a:r>
            <a:r>
              <a:rPr lang="en-US" altLang="zh-CN" b="1" i="0" dirty="0" err="1">
                <a:solidFill>
                  <a:srgbClr val="111111"/>
                </a:solidFill>
                <a:effectLst/>
                <a:highlight>
                  <a:srgbClr val="FFFFFF"/>
                </a:highlight>
                <a:latin typeface="Times New Roman" panose="02020603050405020304" pitchFamily="18" charset="0"/>
              </a:rPr>
              <a:t>Tkinter</a:t>
            </a:r>
            <a:r>
              <a:rPr lang="en-US" altLang="zh-CN" b="1" i="0" dirty="0">
                <a:solidFill>
                  <a:srgbClr val="111111"/>
                </a:solidFill>
                <a:effectLst/>
                <a:highlight>
                  <a:srgbClr val="FFFFFF"/>
                </a:highlight>
                <a:latin typeface="Times New Roman" panose="02020603050405020304" pitchFamily="18" charset="0"/>
              </a:rPr>
              <a:t> is an interface to Python's standard Tk GUI toolkit. It is used to create graphical window interfaces, including buttons, text boxes, labels, and so on. </a:t>
            </a:r>
            <a:r>
              <a:rPr lang="en-US" altLang="zh-CN" b="1" i="0" dirty="0" err="1">
                <a:solidFill>
                  <a:srgbClr val="111111"/>
                </a:solidFill>
                <a:effectLst/>
                <a:highlight>
                  <a:srgbClr val="FFFFFF"/>
                </a:highlight>
                <a:latin typeface="Times New Roman" panose="02020603050405020304" pitchFamily="18" charset="0"/>
              </a:rPr>
              <a:t>Tkinter</a:t>
            </a:r>
            <a:r>
              <a:rPr lang="en-US" altLang="zh-CN" b="1" i="0" dirty="0">
                <a:solidFill>
                  <a:srgbClr val="111111"/>
                </a:solidFill>
                <a:effectLst/>
                <a:highlight>
                  <a:srgbClr val="FFFFFF"/>
                </a:highlight>
                <a:latin typeface="Times New Roman" panose="02020603050405020304" pitchFamily="18" charset="0"/>
              </a:rPr>
              <a:t> is a GUI interface that comes with Python and can be edited. I use this interface when working with the poems generated by the final display.</a:t>
            </a:r>
            <a:endParaRPr lang="zh-CN" altLang="en-US" b="0" i="0" dirty="0">
              <a:solidFill>
                <a:srgbClr val="111111"/>
              </a:solidFill>
              <a:effectLst/>
              <a:highlight>
                <a:srgbClr val="FFFFFF"/>
              </a:highlight>
              <a:latin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08FC7D2-309F-4B1D-AF63-DB3D4B544859}" type="slidenum">
              <a:rPr lang="ko-KR" altLang="en-US" smtClean="0"/>
              <a:t>10</a:t>
            </a:fld>
            <a:endParaRPr lang="ko-KR" altLang="en-US"/>
          </a:p>
        </p:txBody>
      </p:sp>
    </p:spTree>
    <p:extLst>
      <p:ext uri="{BB962C8B-B14F-4D97-AF65-F5344CB8AC3E}">
        <p14:creationId xmlns:p14="http://schemas.microsoft.com/office/powerpoint/2010/main" val="3675163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在了解了基础工具后，我试图实现诗歌生成</a:t>
            </a:r>
          </a:p>
        </p:txBody>
      </p:sp>
      <p:sp>
        <p:nvSpPr>
          <p:cNvPr id="4" name="灯片编号占位符 3"/>
          <p:cNvSpPr>
            <a:spLocks noGrp="1"/>
          </p:cNvSpPr>
          <p:nvPr>
            <p:ph type="sldNum" sz="quarter" idx="5"/>
          </p:nvPr>
        </p:nvSpPr>
        <p:spPr/>
        <p:txBody>
          <a:bodyPr/>
          <a:lstStyle/>
          <a:p>
            <a:fld id="{F08FC7D2-309F-4B1D-AF63-DB3D4B544859}" type="slidenum">
              <a:rPr lang="ko-KR" altLang="en-US" smtClean="0"/>
              <a:t>11</a:t>
            </a:fld>
            <a:endParaRPr lang="ko-KR" altLang="en-US"/>
          </a:p>
        </p:txBody>
      </p:sp>
    </p:spTree>
    <p:extLst>
      <p:ext uri="{BB962C8B-B14F-4D97-AF65-F5344CB8AC3E}">
        <p14:creationId xmlns:p14="http://schemas.microsoft.com/office/powerpoint/2010/main" val="97272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b="1" i="0" dirty="0">
              <a:solidFill>
                <a:srgbClr val="ECECEC"/>
              </a:solidFill>
              <a:effectLst/>
              <a:highlight>
                <a:srgbClr val="212121"/>
              </a:highlight>
              <a:latin typeface="Times New Roman" panose="02020603050405020304" pitchFamily="18" charset="0"/>
            </a:endParaRPr>
          </a:p>
          <a:p>
            <a:pPr algn="l">
              <a:buFont typeface="+mj-lt"/>
              <a:buAutoNum type="arabicPeriod"/>
            </a:pPr>
            <a:r>
              <a:rPr lang="en-US" altLang="zh-CN" b="1" i="0" dirty="0">
                <a:solidFill>
                  <a:srgbClr val="ECECEC"/>
                </a:solidFill>
                <a:effectLst/>
                <a:highlight>
                  <a:srgbClr val="212121"/>
                </a:highlight>
                <a:latin typeface="Times New Roman" panose="02020603050405020304" pitchFamily="18" charset="0"/>
              </a:rPr>
              <a:t>Preprocessing</a:t>
            </a:r>
            <a:r>
              <a:rPr lang="en-US" altLang="zh-CN" b="0" i="0" dirty="0">
                <a:solidFill>
                  <a:srgbClr val="ECECEC"/>
                </a:solidFill>
                <a:effectLst/>
                <a:highlight>
                  <a:srgbClr val="212121"/>
                </a:highlight>
                <a:latin typeface="Times New Roman" panose="02020603050405020304" pitchFamily="18" charset="0"/>
              </a:rPr>
              <a:t>:</a:t>
            </a:r>
          </a:p>
          <a:p>
            <a:pPr marL="742950" lvl="1" indent="-285750" algn="l">
              <a:buFont typeface="+mj-lt"/>
              <a:buAutoNum type="arabicPeriod"/>
            </a:pPr>
            <a:r>
              <a:rPr lang="en-US" altLang="zh-CN" b="0" i="0" dirty="0">
                <a:solidFill>
                  <a:srgbClr val="ECECEC"/>
                </a:solidFill>
                <a:effectLst/>
                <a:highlight>
                  <a:srgbClr val="212121"/>
                </a:highlight>
                <a:latin typeface="Times New Roman" panose="02020603050405020304" pitchFamily="18" charset="0"/>
              </a:rPr>
              <a:t>Tokenization: The input text is tokenized into </a:t>
            </a:r>
            <a:r>
              <a:rPr lang="en-US" altLang="zh-CN" b="0" i="0" dirty="0" err="1">
                <a:solidFill>
                  <a:srgbClr val="ECECEC"/>
                </a:solidFill>
                <a:effectLst/>
                <a:highlight>
                  <a:srgbClr val="212121"/>
                </a:highlight>
                <a:latin typeface="Times New Roman" panose="02020603050405020304" pitchFamily="18" charset="0"/>
              </a:rPr>
              <a:t>subwords</a:t>
            </a:r>
            <a:r>
              <a:rPr lang="en-US" altLang="zh-CN" b="0" i="0" dirty="0">
                <a:solidFill>
                  <a:srgbClr val="ECECEC"/>
                </a:solidFill>
                <a:effectLst/>
                <a:highlight>
                  <a:srgbClr val="212121"/>
                </a:highlight>
                <a:latin typeface="Times New Roman" panose="02020603050405020304" pitchFamily="18" charset="0"/>
              </a:rPr>
              <a:t> or characters to create input sequences suitable for BERT.</a:t>
            </a:r>
          </a:p>
          <a:p>
            <a:pPr marL="742950" lvl="1" indent="-285750" algn="l">
              <a:buFont typeface="+mj-lt"/>
              <a:buAutoNum type="arabicPeriod"/>
            </a:pPr>
            <a:r>
              <a:rPr lang="en-US" altLang="zh-CN" b="0" i="0" dirty="0">
                <a:solidFill>
                  <a:srgbClr val="ECECEC"/>
                </a:solidFill>
                <a:effectLst/>
                <a:highlight>
                  <a:srgbClr val="212121"/>
                </a:highlight>
                <a:latin typeface="Times New Roman" panose="02020603050405020304" pitchFamily="18" charset="0"/>
              </a:rPr>
              <a:t>Padding: The tokenized sequences are padded to ensure uniform length, allowing for batch processing.</a:t>
            </a:r>
          </a:p>
          <a:p>
            <a:pPr algn="l">
              <a:buFont typeface="+mj-lt"/>
              <a:buAutoNum type="arabicPeriod"/>
            </a:pPr>
            <a:r>
              <a:rPr lang="en-US" altLang="zh-CN" b="1" i="0" dirty="0">
                <a:solidFill>
                  <a:srgbClr val="ECECEC"/>
                </a:solidFill>
                <a:effectLst/>
                <a:highlight>
                  <a:srgbClr val="212121"/>
                </a:highlight>
                <a:latin typeface="Times New Roman" panose="02020603050405020304" pitchFamily="18" charset="0"/>
              </a:rPr>
              <a:t>Model Loading</a:t>
            </a:r>
            <a:r>
              <a:rPr lang="en-US" altLang="zh-CN" b="0" i="0" dirty="0">
                <a:solidFill>
                  <a:srgbClr val="ECECEC"/>
                </a:solidFill>
                <a:effectLst/>
                <a:highlight>
                  <a:srgbClr val="212121"/>
                </a:highlight>
                <a:latin typeface="Times New Roman" panose="02020603050405020304" pitchFamily="18" charset="0"/>
              </a:rPr>
              <a:t>:</a:t>
            </a:r>
          </a:p>
          <a:p>
            <a:pPr marL="742950" lvl="1" indent="-285750" algn="l">
              <a:buFont typeface="+mj-lt"/>
              <a:buAutoNum type="arabicPeriod"/>
            </a:pPr>
            <a:r>
              <a:rPr lang="en-US" altLang="zh-CN" b="0" i="0" dirty="0">
                <a:solidFill>
                  <a:srgbClr val="ECECEC"/>
                </a:solidFill>
                <a:effectLst/>
                <a:highlight>
                  <a:srgbClr val="212121"/>
                </a:highlight>
                <a:latin typeface="Times New Roman" panose="02020603050405020304" pitchFamily="18" charset="0"/>
              </a:rPr>
              <a:t>Load the pre-trained BERT-base-Chinese model .</a:t>
            </a:r>
          </a:p>
          <a:p>
            <a:pPr algn="l">
              <a:buFont typeface="+mj-lt"/>
              <a:buAutoNum type="arabicPeriod"/>
            </a:pPr>
            <a:r>
              <a:rPr lang="en-US" altLang="zh-CN" b="1" i="0" dirty="0">
                <a:solidFill>
                  <a:srgbClr val="ECECEC"/>
                </a:solidFill>
                <a:effectLst/>
                <a:highlight>
                  <a:srgbClr val="212121"/>
                </a:highlight>
                <a:latin typeface="Times New Roman" panose="02020603050405020304" pitchFamily="18" charset="0"/>
              </a:rPr>
              <a:t>Fine-Tuning</a:t>
            </a:r>
            <a:r>
              <a:rPr lang="en-US" altLang="zh-CN" b="0" i="0" dirty="0">
                <a:solidFill>
                  <a:srgbClr val="ECECEC"/>
                </a:solidFill>
                <a:effectLst/>
                <a:highlight>
                  <a:srgbClr val="212121"/>
                </a:highlight>
                <a:latin typeface="Times New Roman" panose="02020603050405020304" pitchFamily="18" charset="0"/>
              </a:rPr>
              <a:t>:</a:t>
            </a:r>
          </a:p>
          <a:p>
            <a:pPr marL="742950" lvl="1" indent="-285750" algn="l">
              <a:buFont typeface="+mj-lt"/>
              <a:buAutoNum type="arabicPeriod"/>
            </a:pPr>
            <a:r>
              <a:rPr lang="en-US" altLang="zh-CN" b="0" i="0" dirty="0">
                <a:solidFill>
                  <a:srgbClr val="ECECEC"/>
                </a:solidFill>
                <a:effectLst/>
                <a:highlight>
                  <a:srgbClr val="212121"/>
                </a:highlight>
                <a:latin typeface="Times New Roman" panose="02020603050405020304" pitchFamily="18" charset="0"/>
              </a:rPr>
              <a:t>Fine-tune the pre-trained BERT model on a specific poetry dataset .</a:t>
            </a:r>
          </a:p>
          <a:p>
            <a:pPr marL="742950" lvl="1" indent="-285750" algn="l">
              <a:buFont typeface="+mj-lt"/>
              <a:buAutoNum type="arabicPeriod"/>
            </a:pPr>
            <a:r>
              <a:rPr lang="en-US" altLang="zh-CN" b="0" i="0" dirty="0">
                <a:solidFill>
                  <a:srgbClr val="ECECEC"/>
                </a:solidFill>
                <a:effectLst/>
                <a:highlight>
                  <a:srgbClr val="212121"/>
                </a:highlight>
                <a:latin typeface="Times New Roman" panose="02020603050405020304" pitchFamily="18" charset="0"/>
              </a:rPr>
              <a:t>Define the fine-tuning task, such as masked language modeling or sequence classification, depending on the specific poetry generation approach.</a:t>
            </a:r>
          </a:p>
          <a:p>
            <a:pPr algn="l">
              <a:buFont typeface="+mj-lt"/>
              <a:buAutoNum type="arabicPeriod"/>
            </a:pPr>
            <a:r>
              <a:rPr lang="en-US" altLang="zh-CN" b="1" i="0" dirty="0">
                <a:solidFill>
                  <a:srgbClr val="ECECEC"/>
                </a:solidFill>
                <a:effectLst/>
                <a:highlight>
                  <a:srgbClr val="212121"/>
                </a:highlight>
                <a:latin typeface="Times New Roman" panose="02020603050405020304" pitchFamily="18" charset="0"/>
              </a:rPr>
              <a:t>Input Encoding</a:t>
            </a:r>
            <a:r>
              <a:rPr lang="en-US" altLang="zh-CN" b="0" i="0" dirty="0">
                <a:solidFill>
                  <a:srgbClr val="ECECEC"/>
                </a:solidFill>
                <a:effectLst/>
                <a:highlight>
                  <a:srgbClr val="212121"/>
                </a:highlight>
                <a:latin typeface="Times New Roman" panose="02020603050405020304" pitchFamily="18" charset="0"/>
              </a:rPr>
              <a:t>:</a:t>
            </a:r>
          </a:p>
          <a:p>
            <a:pPr marL="742950" lvl="1" indent="-285750" algn="l">
              <a:buFont typeface="+mj-lt"/>
              <a:buAutoNum type="arabicPeriod"/>
            </a:pPr>
            <a:r>
              <a:rPr lang="en-US" altLang="zh-CN" b="0" i="0" dirty="0">
                <a:solidFill>
                  <a:srgbClr val="ECECEC"/>
                </a:solidFill>
                <a:effectLst/>
                <a:highlight>
                  <a:srgbClr val="212121"/>
                </a:highlight>
                <a:latin typeface="Times New Roman" panose="02020603050405020304" pitchFamily="18" charset="0"/>
              </a:rPr>
              <a:t>Encode the input poetry prompts or keywords using the BERT tokenizer to generate input embeddings.</a:t>
            </a:r>
          </a:p>
          <a:p>
            <a:pPr algn="l">
              <a:buFont typeface="+mj-lt"/>
              <a:buAutoNum type="arabicPeriod"/>
            </a:pPr>
            <a:r>
              <a:rPr lang="en-US" altLang="zh-CN" b="1" i="0" dirty="0">
                <a:solidFill>
                  <a:srgbClr val="ECECEC"/>
                </a:solidFill>
                <a:effectLst/>
                <a:highlight>
                  <a:srgbClr val="212121"/>
                </a:highlight>
                <a:latin typeface="Times New Roman" panose="02020603050405020304" pitchFamily="18" charset="0"/>
              </a:rPr>
              <a:t>Generation Process</a:t>
            </a:r>
            <a:r>
              <a:rPr lang="en-US" altLang="zh-CN" b="0" i="0" dirty="0">
                <a:solidFill>
                  <a:srgbClr val="ECECEC"/>
                </a:solidFill>
                <a:effectLst/>
                <a:highlight>
                  <a:srgbClr val="212121"/>
                </a:highlight>
                <a:latin typeface="Times New Roman" panose="02020603050405020304" pitchFamily="18" charset="0"/>
              </a:rPr>
              <a:t>:</a:t>
            </a:r>
          </a:p>
          <a:p>
            <a:pPr marL="742950" lvl="1" indent="-285750" algn="l">
              <a:buFont typeface="+mj-lt"/>
              <a:buAutoNum type="arabicPeriod"/>
            </a:pPr>
            <a:r>
              <a:rPr lang="en-US" altLang="zh-CN" b="0" i="0" dirty="0">
                <a:solidFill>
                  <a:srgbClr val="ECECEC"/>
                </a:solidFill>
                <a:effectLst/>
                <a:highlight>
                  <a:srgbClr val="212121"/>
                </a:highlight>
                <a:latin typeface="Times New Roman" panose="02020603050405020304" pitchFamily="18" charset="0"/>
              </a:rPr>
              <a:t>Generate poetry line by line or character by character using a decoding strategy such as greedy decoding, beam search, or nucleus sampling.</a:t>
            </a:r>
          </a:p>
          <a:p>
            <a:pPr marL="742950" lvl="1" indent="-285750" algn="l">
              <a:buFont typeface="+mj-lt"/>
              <a:buAutoNum type="arabicPeriod"/>
            </a:pPr>
            <a:r>
              <a:rPr lang="en-US" altLang="zh-CN" b="0" i="0" dirty="0">
                <a:solidFill>
                  <a:srgbClr val="ECECEC"/>
                </a:solidFill>
                <a:effectLst/>
                <a:highlight>
                  <a:srgbClr val="212121"/>
                </a:highlight>
                <a:latin typeface="Times New Roman" panose="02020603050405020304" pitchFamily="18" charset="0"/>
              </a:rPr>
              <a:t>Feed the encoded input prompts along with optional control tokens into the BERT model to generate the next token probabilities.</a:t>
            </a:r>
          </a:p>
          <a:p>
            <a:pPr marL="742950" lvl="1" indent="-285750" algn="l">
              <a:buFont typeface="+mj-lt"/>
              <a:buAutoNum type="arabicPeriod"/>
            </a:pPr>
            <a:r>
              <a:rPr lang="en-US" altLang="zh-CN" b="0" i="0" dirty="0">
                <a:solidFill>
                  <a:srgbClr val="ECECEC"/>
                </a:solidFill>
                <a:effectLst/>
                <a:highlight>
                  <a:srgbClr val="212121"/>
                </a:highlight>
                <a:latin typeface="Times New Roman" panose="02020603050405020304" pitchFamily="18" charset="0"/>
              </a:rPr>
              <a:t>Select the next token based on the probability distribution obtained from the BERT model and continue the generation process until the desired length or termination condition is met.</a:t>
            </a:r>
          </a:p>
          <a:p>
            <a:pPr algn="l">
              <a:buFont typeface="+mj-lt"/>
              <a:buAutoNum type="arabicPeriod"/>
            </a:pPr>
            <a:r>
              <a:rPr lang="en-US" altLang="zh-CN" b="1" i="0" dirty="0">
                <a:solidFill>
                  <a:srgbClr val="ECECEC"/>
                </a:solidFill>
                <a:effectLst/>
                <a:highlight>
                  <a:srgbClr val="212121"/>
                </a:highlight>
                <a:latin typeface="Times New Roman" panose="02020603050405020304" pitchFamily="18" charset="0"/>
              </a:rPr>
              <a:t>Evaluation</a:t>
            </a:r>
            <a:r>
              <a:rPr lang="en-US" altLang="zh-CN" b="0" i="0" dirty="0">
                <a:solidFill>
                  <a:srgbClr val="ECECEC"/>
                </a:solidFill>
                <a:effectLst/>
                <a:highlight>
                  <a:srgbClr val="212121"/>
                </a:highlight>
                <a:latin typeface="Times New Roman" panose="02020603050405020304" pitchFamily="18" charset="0"/>
              </a:rPr>
              <a:t>:</a:t>
            </a:r>
          </a:p>
          <a:p>
            <a:pPr marL="742950" lvl="1" indent="-285750" algn="l">
              <a:buFont typeface="+mj-lt"/>
              <a:buAutoNum type="arabicPeriod"/>
            </a:pPr>
            <a:r>
              <a:rPr lang="en-US" altLang="zh-CN" b="0" i="0" dirty="0">
                <a:solidFill>
                  <a:srgbClr val="ECECEC"/>
                </a:solidFill>
                <a:effectLst/>
                <a:highlight>
                  <a:srgbClr val="212121"/>
                </a:highlight>
                <a:latin typeface="Times New Roman" panose="02020603050405020304" pitchFamily="18" charset="0"/>
              </a:rPr>
              <a:t>Evaluate the generated poetry using metrics such as fluency, coherence, rhyme scheme adherence, and semantic relevance.</a:t>
            </a:r>
          </a:p>
          <a:p>
            <a:pPr marL="742950" lvl="1" indent="-285750" algn="l">
              <a:buFont typeface="+mj-lt"/>
              <a:buAutoNum type="arabicPeriod"/>
            </a:pPr>
            <a:r>
              <a:rPr lang="en-US" altLang="zh-CN" b="0" i="0" dirty="0">
                <a:solidFill>
                  <a:srgbClr val="ECECEC"/>
                </a:solidFill>
                <a:effectLst/>
                <a:highlight>
                  <a:srgbClr val="212121"/>
                </a:highlight>
                <a:latin typeface="Times New Roman" panose="02020603050405020304" pitchFamily="18" charset="0"/>
              </a:rPr>
              <a:t>Refine the generation process and fine-tuning strategy based on the evaluation results to improve poetry quality.</a:t>
            </a:r>
          </a:p>
          <a:p>
            <a:pPr algn="l">
              <a:buFont typeface="+mj-lt"/>
              <a:buAutoNum type="arabicPeriod"/>
            </a:pPr>
            <a:r>
              <a:rPr lang="en-US" altLang="zh-CN" b="1" i="0" dirty="0">
                <a:solidFill>
                  <a:srgbClr val="ECECEC"/>
                </a:solidFill>
                <a:effectLst/>
                <a:highlight>
                  <a:srgbClr val="212121"/>
                </a:highlight>
                <a:latin typeface="Times New Roman" panose="02020603050405020304" pitchFamily="18" charset="0"/>
              </a:rPr>
              <a:t>Post-processing</a:t>
            </a:r>
            <a:r>
              <a:rPr lang="en-US" altLang="zh-CN" b="0" i="0" dirty="0">
                <a:solidFill>
                  <a:srgbClr val="ECECEC"/>
                </a:solidFill>
                <a:effectLst/>
                <a:highlight>
                  <a:srgbClr val="212121"/>
                </a:highlight>
                <a:latin typeface="Times New Roman" panose="02020603050405020304" pitchFamily="18" charset="0"/>
              </a:rPr>
              <a:t>:</a:t>
            </a:r>
          </a:p>
          <a:p>
            <a:pPr marL="742950" lvl="1" indent="-285750" algn="l">
              <a:buFont typeface="+mj-lt"/>
              <a:buAutoNum type="arabicPeriod"/>
            </a:pPr>
            <a:r>
              <a:rPr lang="en-US" altLang="zh-CN" b="0" i="0" dirty="0">
                <a:solidFill>
                  <a:srgbClr val="ECECEC"/>
                </a:solidFill>
                <a:effectLst/>
                <a:highlight>
                  <a:srgbClr val="212121"/>
                </a:highlight>
                <a:latin typeface="Times New Roman" panose="02020603050405020304" pitchFamily="18" charset="0"/>
              </a:rPr>
              <a:t>Perform post-processing steps such as detokenization, formatting, and rhyming pattern adjustment to enhance the readability and aesthetic appeal of the generated poetry.</a:t>
            </a:r>
          </a:p>
          <a:p>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12</a:t>
            </a:fld>
            <a:endParaRPr lang="ko-KR" altLang="en-US"/>
          </a:p>
        </p:txBody>
      </p:sp>
    </p:spTree>
    <p:extLst>
      <p:ext uri="{BB962C8B-B14F-4D97-AF65-F5344CB8AC3E}">
        <p14:creationId xmlns:p14="http://schemas.microsoft.com/office/powerpoint/2010/main" val="3774819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Before fully understanding how to generate poetry, I first made an attempt to generate poetry using </a:t>
            </a:r>
            <a:r>
              <a:rPr lang="en-US" altLang="zh-CN" dirty="0" err="1"/>
              <a:t>bert</a:t>
            </a:r>
            <a:r>
              <a:rPr lang="en-US" altLang="zh-CN" dirty="0"/>
              <a:t>-base-</a:t>
            </a:r>
            <a:r>
              <a:rPr lang="en-US" altLang="zh-CN" dirty="0" err="1"/>
              <a:t>chinese</a:t>
            </a:r>
            <a:r>
              <a:rPr lang="en-US" altLang="zh-CN" dirty="0"/>
              <a:t>. Unfortunately, my code failed.</a:t>
            </a:r>
            <a:r>
              <a:rPr lang="zh-CN" altLang="en-US" dirty="0"/>
              <a:t>可以看出我的结果非常糟糕且不稳定，因此我决定结合这次失败的经历重新生成诗歌。</a:t>
            </a:r>
          </a:p>
        </p:txBody>
      </p:sp>
      <p:sp>
        <p:nvSpPr>
          <p:cNvPr id="4" name="灯片编号占位符 3"/>
          <p:cNvSpPr>
            <a:spLocks noGrp="1"/>
          </p:cNvSpPr>
          <p:nvPr>
            <p:ph type="sldNum" sz="quarter" idx="5"/>
          </p:nvPr>
        </p:nvSpPr>
        <p:spPr/>
        <p:txBody>
          <a:bodyPr/>
          <a:lstStyle/>
          <a:p>
            <a:fld id="{F08FC7D2-309F-4B1D-AF63-DB3D4B544859}" type="slidenum">
              <a:rPr lang="ko-KR" altLang="en-US" smtClean="0"/>
              <a:t>13</a:t>
            </a:fld>
            <a:endParaRPr lang="ko-KR" altLang="en-US"/>
          </a:p>
        </p:txBody>
      </p:sp>
    </p:spTree>
    <p:extLst>
      <p:ext uri="{BB962C8B-B14F-4D97-AF65-F5344CB8AC3E}">
        <p14:creationId xmlns:p14="http://schemas.microsoft.com/office/powerpoint/2010/main" val="990031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are the steps and results of my code implementation. As you can see, the results are not ideal. Not only does it fail to make sense, but it also generates English and symbols. Therefore, I conducted a detailed analysis of my code and came to the conclusion that its shortcomings are mainly as follows.</a:t>
            </a:r>
          </a:p>
          <a:p>
            <a:r>
              <a:rPr lang="en-US" altLang="zh-CN" dirty="0"/>
              <a:t>Steps to implement:</a:t>
            </a:r>
          </a:p>
          <a:p>
            <a:r>
              <a:rPr lang="en-US" altLang="zh-CN" dirty="0"/>
              <a:t>1. Load pre-trained BERT model and tokenizer</a:t>
            </a:r>
          </a:p>
          <a:p>
            <a:r>
              <a:rPr lang="en-US" altLang="zh-CN" dirty="0"/>
              <a:t>2. ** Define the </a:t>
            </a:r>
            <a:r>
              <a:rPr lang="en-US" altLang="zh-CN" dirty="0" err="1"/>
              <a:t>PoetryGenerator</a:t>
            </a:r>
            <a:r>
              <a:rPr lang="en-US" altLang="zh-CN" dirty="0"/>
              <a:t> Model ** In the forward propagation method of the model, the input is passed to the BERT model, which is then mapped through the linear layer.</a:t>
            </a:r>
          </a:p>
          <a:p>
            <a:r>
              <a:rPr lang="en-US" altLang="zh-CN" dirty="0"/>
              <a:t>3. ** Generated poetry ** The input text is successfully passed to the poetry generator model and the logic of the output is obtained. Finally, the index of the word with the highest probability is obtained by the loss function 'argmax' function, and this index is decoded into the generated poem using a marker.</a:t>
            </a:r>
          </a:p>
          <a:p>
            <a:r>
              <a:rPr lang="en-US" altLang="zh-CN" dirty="0"/>
              <a:t>Unimplemented steps:</a:t>
            </a:r>
          </a:p>
          <a:p>
            <a:pPr marL="228600" indent="-228600">
              <a:buAutoNum type="arabicPeriod"/>
            </a:pPr>
            <a:r>
              <a:rPr lang="en-US" altLang="zh-CN" dirty="0"/>
              <a:t>** Model training ** :  model training process for the poetry generation task. </a:t>
            </a:r>
          </a:p>
          <a:p>
            <a:pPr marL="228600" indent="-228600">
              <a:buAutoNum type="arabicPeriod"/>
            </a:pPr>
            <a:r>
              <a:rPr lang="en-US" altLang="zh-CN" dirty="0"/>
              <a:t>** Introduction of attention mechanism ** : The model does not introduce attention mechanism to capture important information of input text. The attention mechanism, which is crucial for improving the coherence and semantic richness of generated poetry, is not implemented in this document.</a:t>
            </a:r>
          </a:p>
          <a:p>
            <a:pPr marL="228600" indent="-228600">
              <a:buAutoNum type="arabicPeriod"/>
            </a:pPr>
            <a:r>
              <a:rPr lang="en-US" altLang="zh-CN" dirty="0"/>
              <a:t>Optimization of generation strategy ** : easily leads to the repetition and lack of diversity of generated poems. </a:t>
            </a:r>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14</a:t>
            </a:fld>
            <a:endParaRPr lang="ko-KR" altLang="en-US"/>
          </a:p>
        </p:txBody>
      </p:sp>
    </p:spTree>
    <p:extLst>
      <p:ext uri="{BB962C8B-B14F-4D97-AF65-F5344CB8AC3E}">
        <p14:creationId xmlns:p14="http://schemas.microsoft.com/office/powerpoint/2010/main" val="1335935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15</a:t>
            </a:fld>
            <a:endParaRPr lang="ko-KR" altLang="en-US"/>
          </a:p>
        </p:txBody>
      </p:sp>
    </p:spTree>
    <p:extLst>
      <p:ext uri="{BB962C8B-B14F-4D97-AF65-F5344CB8AC3E}">
        <p14:creationId xmlns:p14="http://schemas.microsoft.com/office/powerpoint/2010/main" val="792857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project was trained using paddle's built-in data set and generated poems with a random style. But since it doesn’t open </a:t>
            </a:r>
            <a:r>
              <a:rPr lang="en-US" altLang="zh-CN" dirty="0" err="1"/>
              <a:t>sourse</a:t>
            </a:r>
            <a:r>
              <a:rPr lang="en-US" altLang="zh-CN" dirty="0"/>
              <a:t> its training for datasets, I chose to train a particular style of poetry on my own based on its code</a:t>
            </a:r>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16</a:t>
            </a:fld>
            <a:endParaRPr lang="ko-KR" altLang="en-US"/>
          </a:p>
        </p:txBody>
      </p:sp>
    </p:spTree>
    <p:extLst>
      <p:ext uri="{BB962C8B-B14F-4D97-AF65-F5344CB8AC3E}">
        <p14:creationId xmlns:p14="http://schemas.microsoft.com/office/powerpoint/2010/main" val="4050736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 have five documents to help me with this project.</a:t>
            </a:r>
          </a:p>
          <a:p>
            <a:pPr marL="228600" indent="-228600">
              <a:buFont typeface="+mj-lt"/>
              <a:buAutoNum type="arabicPeriod"/>
            </a:pPr>
            <a:r>
              <a:rPr lang="en-US" altLang="zh-CN" dirty="0"/>
              <a:t>dataset.py: This file is used to prepare and process data sets. It is responsible for loading the ancient poetry data from the data source and converting it into a format acceptable to the model. Other files, such as train.py, rely on this file for data.</a:t>
            </a:r>
          </a:p>
          <a:p>
            <a:pPr marL="228600" indent="-228600">
              <a:buFont typeface="+mj-lt"/>
              <a:buAutoNum type="arabicPeriod"/>
            </a:pPr>
            <a:r>
              <a:rPr lang="en-US" altLang="zh-CN" dirty="0"/>
              <a:t>Model.py: This file defines the poetry generation model. It contains the model structure and related loss functions for generating ancient poems. Other files, such as train.py, need to be trained and generated using the model defined in this file.</a:t>
            </a:r>
          </a:p>
          <a:p>
            <a:pPr marL="228600" indent="-228600">
              <a:buFont typeface="+mj-lt"/>
              <a:buAutoNum type="arabicPeriod"/>
            </a:pPr>
            <a:r>
              <a:rPr lang="en-US" altLang="zh-CN" dirty="0"/>
              <a:t>gen.py: This file contains the code for generating ancient poems. It relies on the model defined in Model.py and generates ancient poems by loading the model and entering text.</a:t>
            </a:r>
          </a:p>
          <a:p>
            <a:pPr marL="228600" indent="-228600">
              <a:buFont typeface="+mj-lt"/>
              <a:buAutoNum type="arabicPeriod"/>
            </a:pPr>
            <a:r>
              <a:rPr lang="en-US" altLang="zh-CN" dirty="0"/>
              <a:t>creator.py: This file defines helper functions and classes to help generate ancient poems. It is used with the gen.py file, but is not directly involved in the process of generating ancient poems.</a:t>
            </a:r>
          </a:p>
          <a:p>
            <a:pPr marL="228600" indent="-228600">
              <a:buFont typeface="+mj-lt"/>
              <a:buAutoNum type="arabicPeriod"/>
            </a:pPr>
            <a:r>
              <a:rPr lang="en-US" altLang="zh-CN" dirty="0"/>
              <a:t>Train.py: This file is the main script used to train the poetry generation model. It relies on the data processing logic defined in dataset.py and the model structure defined in Model.py for training.</a:t>
            </a:r>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17</a:t>
            </a:fld>
            <a:endParaRPr lang="ko-KR" altLang="en-US"/>
          </a:p>
        </p:txBody>
      </p:sp>
    </p:spTree>
    <p:extLst>
      <p:ext uri="{BB962C8B-B14F-4D97-AF65-F5344CB8AC3E}">
        <p14:creationId xmlns:p14="http://schemas.microsoft.com/office/powerpoint/2010/main" val="36353527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First, I load and prepare the poetry dataset through the dataset.py file. This step is critical because good data processing can provide high-quality input data to the model, which can affect the quality and fluency of the resulting poetry. In this process, I will clean, mark and organize the data of ancient poems to facilitate subsequent training and generation.</a:t>
            </a:r>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18</a:t>
            </a:fld>
            <a:endParaRPr lang="ko-KR" altLang="en-US"/>
          </a:p>
        </p:txBody>
      </p:sp>
    </p:spTree>
    <p:extLst>
      <p:ext uri="{BB962C8B-B14F-4D97-AF65-F5344CB8AC3E}">
        <p14:creationId xmlns:p14="http://schemas.microsoft.com/office/powerpoint/2010/main" val="41279983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Then, in the model.py file, I define the model used to generate the poem and the associated loss function. In this step, I chose to use the pre-trained BERT model as a base and build a poetry generator model on top of it. By combining the powerful text representation capability of BERT model and the design of generator model, I was able to achieve accurate generation of ancient poems.</a:t>
            </a:r>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19</a:t>
            </a:fld>
            <a:endParaRPr lang="ko-KR" altLang="en-US"/>
          </a:p>
        </p:txBody>
      </p:sp>
    </p:spTree>
    <p:extLst>
      <p:ext uri="{BB962C8B-B14F-4D97-AF65-F5344CB8AC3E}">
        <p14:creationId xmlns:p14="http://schemas.microsoft.com/office/powerpoint/2010/main" val="4170490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Contains some auxiliary functions and code snippets for generating ancient poems. These functions and code snippets help us process text data during the generation process, call models to make predictions, and post-process the generated results to ensure the quality of the resulting poetry.</a:t>
            </a:r>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20</a:t>
            </a:fld>
            <a:endParaRPr lang="ko-KR" altLang="en-US"/>
          </a:p>
        </p:txBody>
      </p:sp>
    </p:spTree>
    <p:extLst>
      <p:ext uri="{BB962C8B-B14F-4D97-AF65-F5344CB8AC3E}">
        <p14:creationId xmlns:p14="http://schemas.microsoft.com/office/powerpoint/2010/main" val="19768897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the data preparation phase, I need to prepare a poetry data set for training and evaluation. I used the open source database of ancient Chinese poetry on </a:t>
            </a:r>
            <a:r>
              <a:rPr lang="en-US" altLang="zh-CN" dirty="0" err="1"/>
              <a:t>Github</a:t>
            </a:r>
            <a:r>
              <a:rPr lang="en-US" altLang="zh-CN" dirty="0"/>
              <a:t>. In this section, I read and load the ancient poetry data file and prepare it in a format acceptable to the model. I trained the initial poetry dataset in four parts: five poems, five poems, seven poems, seven poems. The standard of the division is 4 sentences for quantifiers, 8 sentences for metrical poems, each sentence has 5 or 7 words. Below is a partial introduction to the segmented data set and the seven verse data set.</a:t>
            </a:r>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21</a:t>
            </a:fld>
            <a:endParaRPr lang="ko-KR" altLang="en-US"/>
          </a:p>
        </p:txBody>
      </p:sp>
    </p:spTree>
    <p:extLst>
      <p:ext uri="{BB962C8B-B14F-4D97-AF65-F5344CB8AC3E}">
        <p14:creationId xmlns:p14="http://schemas.microsoft.com/office/powerpoint/2010/main" val="11605379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the data processing stage, I need to further process the extracted poetry data, including word segmentation, coding and other operations, in order to facilitate the subsequent training and application of the model. The following code snippet reads data from a file called qilv_all.txt, which is used to train the generation of seven verses. This file may contain different types of poems, and I need to filter out anything related to seven-rhyme poems according to my needs. By extracting what comes after the colon, you get a purely poetic text.</a:t>
            </a:r>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22</a:t>
            </a:fld>
            <a:endParaRPr lang="ko-KR" altLang="en-US"/>
          </a:p>
        </p:txBody>
      </p:sp>
    </p:spTree>
    <p:extLst>
      <p:ext uri="{BB962C8B-B14F-4D97-AF65-F5344CB8AC3E}">
        <p14:creationId xmlns:p14="http://schemas.microsoft.com/office/powerpoint/2010/main" val="8948048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23</a:t>
            </a:fld>
            <a:endParaRPr lang="ko-KR" altLang="en-US"/>
          </a:p>
        </p:txBody>
      </p:sp>
    </p:spTree>
    <p:extLst>
      <p:ext uri="{BB962C8B-B14F-4D97-AF65-F5344CB8AC3E}">
        <p14:creationId xmlns:p14="http://schemas.microsoft.com/office/powerpoint/2010/main" val="31292598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24</a:t>
            </a:fld>
            <a:endParaRPr lang="ko-KR" altLang="en-US"/>
          </a:p>
        </p:txBody>
      </p:sp>
    </p:spTree>
    <p:extLst>
      <p:ext uri="{BB962C8B-B14F-4D97-AF65-F5344CB8AC3E}">
        <p14:creationId xmlns:p14="http://schemas.microsoft.com/office/powerpoint/2010/main" val="23877432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8FC7D2-309F-4B1D-AF63-DB3D4B544859}" type="slidenum">
              <a:rPr lang="ko-KR" altLang="en-US" smtClean="0"/>
              <a:t>25</a:t>
            </a:fld>
            <a:endParaRPr lang="ko-KR" altLang="en-US"/>
          </a:p>
        </p:txBody>
      </p:sp>
    </p:spTree>
    <p:extLst>
      <p:ext uri="{BB962C8B-B14F-4D97-AF65-F5344CB8AC3E}">
        <p14:creationId xmlns:p14="http://schemas.microsoft.com/office/powerpoint/2010/main" val="26176574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hyperlink" Target="http://pptmon.com/" TargetMode="External"/><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10" Type="http://schemas.openxmlformats.org/officeDocument/2006/relationships/image" Target="../media/image6.png"/><Relationship Id="rId4" Type="http://schemas.openxmlformats.org/officeDocument/2006/relationships/image" Target="../media/image2.svg"/><Relationship Id="rId9"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hyperlink" Target="http://pptmon.com/" TargetMode="External"/><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2.svg"/><Relationship Id="rId9"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hyperlink" Target="http://pptmon.com/" TargetMode="External"/><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2.svg"/><Relationship Id="rId9"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hyperlink" Target="http://pptmon.com/" TargetMode="External"/><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10" Type="http://schemas.openxmlformats.org/officeDocument/2006/relationships/image" Target="../media/image11.png"/><Relationship Id="rId4" Type="http://schemas.openxmlformats.org/officeDocument/2006/relationships/image" Target="../media/image2.svg"/><Relationship Id="rId9"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hyperlink" Target="http://pptmon.com/" TargetMode="External"/><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2.svg"/><Relationship Id="rId9" Type="http://schemas.openxmlformats.org/officeDocument/2006/relationships/image" Target="../media/image14.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hyperlink" Target="http://pptmon.com/" TargetMode="External"/><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2.svg"/><Relationship Id="rId9"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hyperlink" Target="http://pptmon.com/" TargetMode="External"/><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2.svg"/><Relationship Id="rId9"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8" Type="http://schemas.openxmlformats.org/officeDocument/2006/relationships/hyperlink" Target="https://pptmon.com/" TargetMode="External"/><Relationship Id="rId3" Type="http://schemas.openxmlformats.org/officeDocument/2006/relationships/image" Target="../media/image13.pn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pptmon.com/" TargetMode="External"/><Relationship Id="rId4" Type="http://schemas.openxmlformats.org/officeDocument/2006/relationships/image" Target="../media/image14.png"/><Relationship Id="rId9" Type="http://schemas.openxmlformats.org/officeDocument/2006/relationships/hyperlink" Target="http://www.pptmon.com/" TargetMode="Externa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8" Type="http://schemas.openxmlformats.org/officeDocument/2006/relationships/hyperlink" Target="https://pptmon.com/" TargetMode="External"/><Relationship Id="rId3" Type="http://schemas.openxmlformats.org/officeDocument/2006/relationships/image" Target="../media/image8.png"/><Relationship Id="rId7"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pptmon.com/" TargetMode="External"/><Relationship Id="rId4" Type="http://schemas.openxmlformats.org/officeDocument/2006/relationships/image" Target="../media/image9.png"/><Relationship Id="rId9" Type="http://schemas.openxmlformats.org/officeDocument/2006/relationships/hyperlink" Target="http://www.pptmon.com/" TargetMode="External"/></Relationships>
</file>

<file path=ppt/slideLayouts/_rels/slideLayout12.xml.rels><?xml version="1.0" encoding="UTF-8" standalone="yes"?>
<Relationships xmlns="http://schemas.openxmlformats.org/package/2006/relationships"><Relationship Id="rId8" Type="http://schemas.openxmlformats.org/officeDocument/2006/relationships/hyperlink" Target="https://pptmon.com/" TargetMode="External"/><Relationship Id="rId3" Type="http://schemas.openxmlformats.org/officeDocument/2006/relationships/image" Target="../media/image10.pn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pptmon.com/" TargetMode="External"/><Relationship Id="rId4" Type="http://schemas.openxmlformats.org/officeDocument/2006/relationships/image" Target="../media/image11.png"/><Relationship Id="rId9" Type="http://schemas.openxmlformats.org/officeDocument/2006/relationships/hyperlink" Target="http://www.pptmon.com/" TargetMode="External"/></Relationships>
</file>

<file path=ppt/slideLayouts/_rels/slideLayout13.xml.rels><?xml version="1.0" encoding="UTF-8" standalone="yes"?>
<Relationships xmlns="http://schemas.openxmlformats.org/package/2006/relationships"><Relationship Id="rId8" Type="http://schemas.openxmlformats.org/officeDocument/2006/relationships/hyperlink" Target="https://pptmon.com/" TargetMode="External"/><Relationship Id="rId3" Type="http://schemas.openxmlformats.org/officeDocument/2006/relationships/image" Target="../media/image13.pn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pptmon.com/" TargetMode="External"/><Relationship Id="rId4" Type="http://schemas.openxmlformats.org/officeDocument/2006/relationships/image" Target="../media/image14.png"/><Relationship Id="rId9" Type="http://schemas.openxmlformats.org/officeDocument/2006/relationships/hyperlink" Target="http://www.pptmon.com/" TargetMode="External"/></Relationships>
</file>

<file path=ppt/slideLayouts/_rels/slideLayout14.xml.rels><?xml version="1.0" encoding="UTF-8" standalone="yes"?>
<Relationships xmlns="http://schemas.openxmlformats.org/package/2006/relationships"><Relationship Id="rId8" Type="http://schemas.openxmlformats.org/officeDocument/2006/relationships/hyperlink" Target="https://pptmon.com/" TargetMode="External"/><Relationship Id="rId3" Type="http://schemas.openxmlformats.org/officeDocument/2006/relationships/image" Target="../media/image4.png"/><Relationship Id="rId7"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pptmon.com/" TargetMode="External"/><Relationship Id="rId4" Type="http://schemas.openxmlformats.org/officeDocument/2006/relationships/image" Target="../media/image5.png"/><Relationship Id="rId9" Type="http://schemas.openxmlformats.org/officeDocument/2006/relationships/hyperlink" Target="http://www.pptmon.com/" TargetMode="External"/></Relationships>
</file>

<file path=ppt/slideLayouts/_rels/slideLayout15.xml.rels><?xml version="1.0" encoding="UTF-8" standalone="yes"?>
<Relationships xmlns="http://schemas.openxmlformats.org/package/2006/relationships"><Relationship Id="rId8" Type="http://schemas.openxmlformats.org/officeDocument/2006/relationships/hyperlink" Target="https://pptmon.com/" TargetMode="External"/><Relationship Id="rId3" Type="http://schemas.openxmlformats.org/officeDocument/2006/relationships/image" Target="../media/image8.png"/><Relationship Id="rId7"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pptmon.com/" TargetMode="External"/><Relationship Id="rId4" Type="http://schemas.openxmlformats.org/officeDocument/2006/relationships/image" Target="../media/image9.png"/><Relationship Id="rId9" Type="http://schemas.openxmlformats.org/officeDocument/2006/relationships/hyperlink" Target="http://www.pptmon.com/" TargetMode="External"/></Relationships>
</file>

<file path=ppt/slideLayouts/_rels/slideLayout16.xml.rels><?xml version="1.0" encoding="UTF-8" standalone="yes"?>
<Relationships xmlns="http://schemas.openxmlformats.org/package/2006/relationships"><Relationship Id="rId8" Type="http://schemas.openxmlformats.org/officeDocument/2006/relationships/hyperlink" Target="https://pptmon.com/" TargetMode="External"/><Relationship Id="rId3" Type="http://schemas.openxmlformats.org/officeDocument/2006/relationships/image" Target="../media/image10.pn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pptmon.com/" TargetMode="External"/><Relationship Id="rId4" Type="http://schemas.openxmlformats.org/officeDocument/2006/relationships/image" Target="../media/image11.png"/><Relationship Id="rId9" Type="http://schemas.openxmlformats.org/officeDocument/2006/relationships/hyperlink" Target="http://www.pptmon.com/" TargetMode="Externa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pptmon.com/" TargetMode="External"/><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pptmon.com/" TargetMode="External"/><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PTMON title">
    <p:spTree>
      <p:nvGrpSpPr>
        <p:cNvPr id="1" name=""/>
        <p:cNvGrpSpPr/>
        <p:nvPr/>
      </p:nvGrpSpPr>
      <p:grpSpPr>
        <a:xfrm>
          <a:off x="0" y="0"/>
          <a:ext cx="0" cy="0"/>
          <a:chOff x="0" y="0"/>
          <a:chExt cx="0" cy="0"/>
        </a:xfrm>
      </p:grpSpPr>
      <p:pic>
        <p:nvPicPr>
          <p:cNvPr id="13" name="Graphic 3">
            <a:hlinkClick r:id="rId2"/>
            <a:extLst>
              <a:ext uri="{FF2B5EF4-FFF2-40B4-BE49-F238E27FC236}">
                <a16:creationId xmlns:a16="http://schemas.microsoft.com/office/drawing/2014/main" id="{F91E1617-937E-49D2-AFBD-16501363F343}"/>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p:blipFill>
        <p:spPr>
          <a:xfrm>
            <a:off x="5771192" y="6898137"/>
            <a:ext cx="2239204" cy="246221"/>
          </a:xfrm>
          <a:prstGeom prst="rect">
            <a:avLst/>
          </a:prstGeom>
        </p:spPr>
      </p:pic>
      <p:sp>
        <p:nvSpPr>
          <p:cNvPr id="14" name="TextBox 13">
            <a:hlinkClick r:id="rId5"/>
            <a:extLst>
              <a:ext uri="{FF2B5EF4-FFF2-40B4-BE49-F238E27FC236}">
                <a16:creationId xmlns:a16="http://schemas.microsoft.com/office/drawing/2014/main" id="{C6D823B5-C471-4EA0-8A4D-9EC1940BFC43}"/>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4" name="그림 3">
            <a:extLst>
              <a:ext uri="{FF2B5EF4-FFF2-40B4-BE49-F238E27FC236}">
                <a16:creationId xmlns:a16="http://schemas.microsoft.com/office/drawing/2014/main" id="{B7A34932-2C26-41A0-8702-836E2DB7E021}"/>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그림 7">
            <a:extLst>
              <a:ext uri="{FF2B5EF4-FFF2-40B4-BE49-F238E27FC236}">
                <a16:creationId xmlns:a16="http://schemas.microsoft.com/office/drawing/2014/main" id="{D115D9E0-F364-438E-944B-15558852DD84}"/>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9839898" y="0"/>
            <a:ext cx="2352101" cy="2548647"/>
          </a:xfrm>
          <a:prstGeom prst="rect">
            <a:avLst/>
          </a:prstGeom>
        </p:spPr>
      </p:pic>
      <p:pic>
        <p:nvPicPr>
          <p:cNvPr id="16" name="그림 15">
            <a:extLst>
              <a:ext uri="{FF2B5EF4-FFF2-40B4-BE49-F238E27FC236}">
                <a16:creationId xmlns:a16="http://schemas.microsoft.com/office/drawing/2014/main" id="{40BC74B7-F5A9-420F-9BDB-CF61377C720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8832714" y="4509563"/>
            <a:ext cx="3359285" cy="2348437"/>
          </a:xfrm>
          <a:prstGeom prst="rect">
            <a:avLst/>
          </a:prstGeom>
        </p:spPr>
      </p:pic>
      <p:pic>
        <p:nvPicPr>
          <p:cNvPr id="6" name="그림 5">
            <a:extLst>
              <a:ext uri="{FF2B5EF4-FFF2-40B4-BE49-F238E27FC236}">
                <a16:creationId xmlns:a16="http://schemas.microsoft.com/office/drawing/2014/main" id="{95987ACC-D944-49D9-B2F8-3BB6D236E255}"/>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579336" y="765708"/>
            <a:ext cx="5516664" cy="5889676"/>
          </a:xfrm>
          <a:prstGeom prst="rect">
            <a:avLst/>
          </a:prstGeom>
        </p:spPr>
      </p:pic>
    </p:spTree>
    <p:extLst>
      <p:ext uri="{BB962C8B-B14F-4D97-AF65-F5344CB8AC3E}">
        <p14:creationId xmlns:p14="http://schemas.microsoft.com/office/powerpoint/2010/main" val="25494878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PPTMON slide">
    <p:spTree>
      <p:nvGrpSpPr>
        <p:cNvPr id="1" name=""/>
        <p:cNvGrpSpPr/>
        <p:nvPr/>
      </p:nvGrpSpPr>
      <p:grpSpPr>
        <a:xfrm>
          <a:off x="0" y="0"/>
          <a:ext cx="0" cy="0"/>
          <a:chOff x="0" y="0"/>
          <a:chExt cx="0" cy="0"/>
        </a:xfrm>
      </p:grpSpPr>
      <p:pic>
        <p:nvPicPr>
          <p:cNvPr id="7" name="Graphic 3">
            <a:hlinkClick r:id="rId2"/>
            <a:extLst>
              <a:ext uri="{FF2B5EF4-FFF2-40B4-BE49-F238E27FC236}">
                <a16:creationId xmlns:a16="http://schemas.microsoft.com/office/drawing/2014/main" id="{D6F2261F-5735-4089-B25B-CFC2ECC6F7A0}"/>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p:blipFill>
        <p:spPr>
          <a:xfrm>
            <a:off x="5771192" y="6898137"/>
            <a:ext cx="2239204" cy="246221"/>
          </a:xfrm>
          <a:prstGeom prst="rect">
            <a:avLst/>
          </a:prstGeom>
        </p:spPr>
      </p:pic>
      <p:sp>
        <p:nvSpPr>
          <p:cNvPr id="8" name="TextBox 7">
            <a:hlinkClick r:id="rId5"/>
            <a:extLst>
              <a:ext uri="{FF2B5EF4-FFF2-40B4-BE49-F238E27FC236}">
                <a16:creationId xmlns:a16="http://schemas.microsoft.com/office/drawing/2014/main" id="{71482538-7382-4004-8C15-BD6274D127C5}"/>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4" name="그림 3">
            <a:extLst>
              <a:ext uri="{FF2B5EF4-FFF2-40B4-BE49-F238E27FC236}">
                <a16:creationId xmlns:a16="http://schemas.microsoft.com/office/drawing/2014/main" id="{7C03A6B0-D280-474B-8492-BEFC77B5B97C}"/>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0" name="그림 19">
            <a:extLst>
              <a:ext uri="{FF2B5EF4-FFF2-40B4-BE49-F238E27FC236}">
                <a16:creationId xmlns:a16="http://schemas.microsoft.com/office/drawing/2014/main" id="{472CE7B9-0662-40E1-9B78-010E8F865B4C}"/>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flipH="1">
            <a:off x="9664796" y="4407515"/>
            <a:ext cx="2527204" cy="2450485"/>
          </a:xfrm>
          <a:prstGeom prst="rect">
            <a:avLst/>
          </a:prstGeom>
        </p:spPr>
      </p:pic>
      <p:pic>
        <p:nvPicPr>
          <p:cNvPr id="22" name="그림 21">
            <a:extLst>
              <a:ext uri="{FF2B5EF4-FFF2-40B4-BE49-F238E27FC236}">
                <a16:creationId xmlns:a16="http://schemas.microsoft.com/office/drawing/2014/main" id="{D8C92162-AF1F-48CA-9E60-CD3A1AB153F6}"/>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0" y="0"/>
            <a:ext cx="3386708" cy="2308259"/>
          </a:xfrm>
          <a:prstGeom prst="rect">
            <a:avLst/>
          </a:prstGeom>
        </p:spPr>
      </p:pic>
    </p:spTree>
    <p:extLst>
      <p:ext uri="{BB962C8B-B14F-4D97-AF65-F5344CB8AC3E}">
        <p14:creationId xmlns:p14="http://schemas.microsoft.com/office/powerpoint/2010/main" val="29472348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PPTMON slide">
    <p:spTree>
      <p:nvGrpSpPr>
        <p:cNvPr id="1" name=""/>
        <p:cNvGrpSpPr/>
        <p:nvPr/>
      </p:nvGrpSpPr>
      <p:grpSpPr>
        <a:xfrm>
          <a:off x="0" y="0"/>
          <a:ext cx="0" cy="0"/>
          <a:chOff x="0" y="0"/>
          <a:chExt cx="0" cy="0"/>
        </a:xfrm>
      </p:grpSpPr>
      <p:pic>
        <p:nvPicPr>
          <p:cNvPr id="7" name="Graphic 3">
            <a:hlinkClick r:id="rId2"/>
            <a:extLst>
              <a:ext uri="{FF2B5EF4-FFF2-40B4-BE49-F238E27FC236}">
                <a16:creationId xmlns:a16="http://schemas.microsoft.com/office/drawing/2014/main" id="{488A0761-8739-46B6-9EC9-4CFBC7AF053E}"/>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p:blipFill>
        <p:spPr>
          <a:xfrm>
            <a:off x="5771192" y="6898137"/>
            <a:ext cx="2239204" cy="246221"/>
          </a:xfrm>
          <a:prstGeom prst="rect">
            <a:avLst/>
          </a:prstGeom>
        </p:spPr>
      </p:pic>
      <p:sp>
        <p:nvSpPr>
          <p:cNvPr id="8" name="TextBox 7">
            <a:hlinkClick r:id="rId5"/>
            <a:extLst>
              <a:ext uri="{FF2B5EF4-FFF2-40B4-BE49-F238E27FC236}">
                <a16:creationId xmlns:a16="http://schemas.microsoft.com/office/drawing/2014/main" id="{28DFFCF3-FA44-4410-A061-63EF6BA4A7CE}"/>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9" name="그림 8">
            <a:extLst>
              <a:ext uri="{FF2B5EF4-FFF2-40B4-BE49-F238E27FC236}">
                <a16:creationId xmlns:a16="http://schemas.microsoft.com/office/drawing/2014/main" id="{F2A87836-D030-4B5D-B6CD-268FC980AB1E}"/>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12" name="그림 11">
            <a:extLst>
              <a:ext uri="{FF2B5EF4-FFF2-40B4-BE49-F238E27FC236}">
                <a16:creationId xmlns:a16="http://schemas.microsoft.com/office/drawing/2014/main" id="{EE28B65A-7E5A-4EC6-B7BC-9D7AB7B3A19D}"/>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549741"/>
            <a:ext cx="1370529" cy="2308259"/>
          </a:xfrm>
          <a:prstGeom prst="rect">
            <a:avLst/>
          </a:prstGeom>
        </p:spPr>
      </p:pic>
      <p:pic>
        <p:nvPicPr>
          <p:cNvPr id="13" name="그림 12">
            <a:extLst>
              <a:ext uri="{FF2B5EF4-FFF2-40B4-BE49-F238E27FC236}">
                <a16:creationId xmlns:a16="http://schemas.microsoft.com/office/drawing/2014/main" id="{C5DF37A9-2F17-412F-922E-4E54F1A3B28E}"/>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flipV="1">
            <a:off x="9588077" y="0"/>
            <a:ext cx="2603923" cy="1899916"/>
          </a:xfrm>
          <a:prstGeom prst="rect">
            <a:avLst/>
          </a:prstGeom>
        </p:spPr>
      </p:pic>
    </p:spTree>
    <p:extLst>
      <p:ext uri="{BB962C8B-B14F-4D97-AF65-F5344CB8AC3E}">
        <p14:creationId xmlns:p14="http://schemas.microsoft.com/office/powerpoint/2010/main" val="8923761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PPTMON slide">
    <p:spTree>
      <p:nvGrpSpPr>
        <p:cNvPr id="1" name=""/>
        <p:cNvGrpSpPr/>
        <p:nvPr/>
      </p:nvGrpSpPr>
      <p:grpSpPr>
        <a:xfrm>
          <a:off x="0" y="0"/>
          <a:ext cx="0" cy="0"/>
          <a:chOff x="0" y="0"/>
          <a:chExt cx="0" cy="0"/>
        </a:xfrm>
      </p:grpSpPr>
      <p:pic>
        <p:nvPicPr>
          <p:cNvPr id="9" name="Graphic 3">
            <a:hlinkClick r:id="rId2"/>
            <a:extLst>
              <a:ext uri="{FF2B5EF4-FFF2-40B4-BE49-F238E27FC236}">
                <a16:creationId xmlns:a16="http://schemas.microsoft.com/office/drawing/2014/main" id="{6D1C5BEC-8344-4592-A625-11376DBF6B3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p:blipFill>
        <p:spPr>
          <a:xfrm>
            <a:off x="5771192" y="6898137"/>
            <a:ext cx="2239204" cy="246221"/>
          </a:xfrm>
          <a:prstGeom prst="rect">
            <a:avLst/>
          </a:prstGeom>
        </p:spPr>
      </p:pic>
      <p:sp>
        <p:nvSpPr>
          <p:cNvPr id="10" name="TextBox 9">
            <a:hlinkClick r:id="rId5"/>
            <a:extLst>
              <a:ext uri="{FF2B5EF4-FFF2-40B4-BE49-F238E27FC236}">
                <a16:creationId xmlns:a16="http://schemas.microsoft.com/office/drawing/2014/main" id="{8E49991B-7228-4071-8864-C53D6E11F48D}"/>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822B74E6-9E5E-4ECB-91CF-A27268D6EB7A}"/>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4" name="그림 3">
            <a:extLst>
              <a:ext uri="{FF2B5EF4-FFF2-40B4-BE49-F238E27FC236}">
                <a16:creationId xmlns:a16="http://schemas.microsoft.com/office/drawing/2014/main" id="{1421BB27-4D8C-48B7-96FB-B3E3F1D06622}"/>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639438" y="912086"/>
            <a:ext cx="6913124" cy="5033828"/>
          </a:xfrm>
          <a:prstGeom prst="rect">
            <a:avLst/>
          </a:prstGeom>
        </p:spPr>
      </p:pic>
      <p:pic>
        <p:nvPicPr>
          <p:cNvPr id="20" name="그림 19">
            <a:extLst>
              <a:ext uri="{FF2B5EF4-FFF2-40B4-BE49-F238E27FC236}">
                <a16:creationId xmlns:a16="http://schemas.microsoft.com/office/drawing/2014/main" id="{07C72AE4-B8C4-452E-A3A8-888D346B957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0" y="4298688"/>
            <a:ext cx="2639438" cy="2559312"/>
          </a:xfrm>
          <a:prstGeom prst="rect">
            <a:avLst/>
          </a:prstGeom>
        </p:spPr>
      </p:pic>
      <p:pic>
        <p:nvPicPr>
          <p:cNvPr id="21" name="그림 20">
            <a:extLst>
              <a:ext uri="{FF2B5EF4-FFF2-40B4-BE49-F238E27FC236}">
                <a16:creationId xmlns:a16="http://schemas.microsoft.com/office/drawing/2014/main" id="{295261A6-9AA1-452E-9EDB-74F5D9157CEF}"/>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218918" y="4688732"/>
            <a:ext cx="2973082" cy="2169268"/>
          </a:xfrm>
          <a:prstGeom prst="rect">
            <a:avLst/>
          </a:prstGeom>
        </p:spPr>
      </p:pic>
    </p:spTree>
    <p:extLst>
      <p:ext uri="{BB962C8B-B14F-4D97-AF65-F5344CB8AC3E}">
        <p14:creationId xmlns:p14="http://schemas.microsoft.com/office/powerpoint/2010/main" val="12696327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PPTMON slide">
    <p:spTree>
      <p:nvGrpSpPr>
        <p:cNvPr id="1" name=""/>
        <p:cNvGrpSpPr/>
        <p:nvPr/>
      </p:nvGrpSpPr>
      <p:grpSpPr>
        <a:xfrm>
          <a:off x="0" y="0"/>
          <a:ext cx="0" cy="0"/>
          <a:chOff x="0" y="0"/>
          <a:chExt cx="0" cy="0"/>
        </a:xfrm>
      </p:grpSpPr>
      <p:pic>
        <p:nvPicPr>
          <p:cNvPr id="7" name="Graphic 3">
            <a:hlinkClick r:id="rId2"/>
            <a:extLst>
              <a:ext uri="{FF2B5EF4-FFF2-40B4-BE49-F238E27FC236}">
                <a16:creationId xmlns:a16="http://schemas.microsoft.com/office/drawing/2014/main" id="{763F1A14-DBB6-4BE7-AEEB-4BA757F77A1A}"/>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p:blipFill>
        <p:spPr>
          <a:xfrm>
            <a:off x="5771192" y="6898137"/>
            <a:ext cx="2239204" cy="246221"/>
          </a:xfrm>
          <a:prstGeom prst="rect">
            <a:avLst/>
          </a:prstGeom>
        </p:spPr>
      </p:pic>
      <p:sp>
        <p:nvSpPr>
          <p:cNvPr id="8" name="TextBox 7">
            <a:hlinkClick r:id="rId5"/>
            <a:extLst>
              <a:ext uri="{FF2B5EF4-FFF2-40B4-BE49-F238E27FC236}">
                <a16:creationId xmlns:a16="http://schemas.microsoft.com/office/drawing/2014/main" id="{D18B6217-FBA2-486B-8185-67641F776C2F}"/>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5E1EC8E2-0941-42A8-A9FC-795358FE0DF3}"/>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flipV="1">
            <a:off x="0" y="0"/>
            <a:ext cx="12192000" cy="6858000"/>
          </a:xfrm>
          <a:prstGeom prst="rect">
            <a:avLst/>
          </a:prstGeom>
        </p:spPr>
      </p:pic>
      <p:pic>
        <p:nvPicPr>
          <p:cNvPr id="10" name="그림 9">
            <a:extLst>
              <a:ext uri="{FF2B5EF4-FFF2-40B4-BE49-F238E27FC236}">
                <a16:creationId xmlns:a16="http://schemas.microsoft.com/office/drawing/2014/main" id="{5BF6C5D2-20BC-467E-9545-39893F0C74A7}"/>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rot="5400000">
            <a:off x="283471" y="-283470"/>
            <a:ext cx="1741318" cy="2308259"/>
          </a:xfrm>
          <a:prstGeom prst="rect">
            <a:avLst/>
          </a:prstGeom>
        </p:spPr>
      </p:pic>
      <p:pic>
        <p:nvPicPr>
          <p:cNvPr id="12" name="그림 11">
            <a:extLst>
              <a:ext uri="{FF2B5EF4-FFF2-40B4-BE49-F238E27FC236}">
                <a16:creationId xmlns:a16="http://schemas.microsoft.com/office/drawing/2014/main" id="{A8EE34B0-4C46-4274-B730-59E6C4D90661}"/>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b="32472"/>
          <a:stretch/>
        </p:blipFill>
        <p:spPr>
          <a:xfrm>
            <a:off x="9415508" y="5487195"/>
            <a:ext cx="2776492" cy="1370805"/>
          </a:xfrm>
          <a:prstGeom prst="rect">
            <a:avLst/>
          </a:prstGeom>
        </p:spPr>
      </p:pic>
    </p:spTree>
    <p:extLst>
      <p:ext uri="{BB962C8B-B14F-4D97-AF65-F5344CB8AC3E}">
        <p14:creationId xmlns:p14="http://schemas.microsoft.com/office/powerpoint/2010/main" val="3564344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PPTMON slide">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F185AFF1-04B7-498B-9013-8F063426E5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V="1">
            <a:off x="0" y="0"/>
            <a:ext cx="12192000" cy="6858000"/>
          </a:xfrm>
          <a:prstGeom prst="rect">
            <a:avLst/>
          </a:prstGeom>
        </p:spPr>
      </p:pic>
      <p:pic>
        <p:nvPicPr>
          <p:cNvPr id="7" name="Graphic 3">
            <a:hlinkClick r:id="rId3"/>
            <a:extLst>
              <a:ext uri="{FF2B5EF4-FFF2-40B4-BE49-F238E27FC236}">
                <a16:creationId xmlns:a16="http://schemas.microsoft.com/office/drawing/2014/main" id="{2618CB36-98F6-4A4F-A1A3-1E8D1DFE6E8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9909"/>
          <a:stretch/>
        </p:blipFill>
        <p:spPr>
          <a:xfrm>
            <a:off x="5771192" y="6898137"/>
            <a:ext cx="2239204" cy="246221"/>
          </a:xfrm>
          <a:prstGeom prst="rect">
            <a:avLst/>
          </a:prstGeom>
        </p:spPr>
      </p:pic>
      <p:sp>
        <p:nvSpPr>
          <p:cNvPr id="8" name="TextBox 7">
            <a:hlinkClick r:id="rId6"/>
            <a:extLst>
              <a:ext uri="{FF2B5EF4-FFF2-40B4-BE49-F238E27FC236}">
                <a16:creationId xmlns:a16="http://schemas.microsoft.com/office/drawing/2014/main" id="{93A1A71E-CCA5-4E8F-9C3F-867EA0F5D0C6}"/>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0" name="그림 9">
            <a:extLst>
              <a:ext uri="{FF2B5EF4-FFF2-40B4-BE49-F238E27FC236}">
                <a16:creationId xmlns:a16="http://schemas.microsoft.com/office/drawing/2014/main" id="{714EB92B-FB84-4D68-95FF-928A06C90877}"/>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061748" y="0"/>
            <a:ext cx="2130252" cy="2308259"/>
          </a:xfrm>
          <a:prstGeom prst="rect">
            <a:avLst/>
          </a:prstGeom>
        </p:spPr>
      </p:pic>
      <p:pic>
        <p:nvPicPr>
          <p:cNvPr id="15" name="그림 14">
            <a:extLst>
              <a:ext uri="{FF2B5EF4-FFF2-40B4-BE49-F238E27FC236}">
                <a16:creationId xmlns:a16="http://schemas.microsoft.com/office/drawing/2014/main" id="{65846024-197D-42A5-AFAB-1C24AE1E3CD9}"/>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rot="5400000">
            <a:off x="-476078" y="4169840"/>
            <a:ext cx="3164238" cy="2212082"/>
          </a:xfrm>
          <a:prstGeom prst="rect">
            <a:avLst/>
          </a:prstGeom>
        </p:spPr>
      </p:pic>
    </p:spTree>
    <p:extLst>
      <p:ext uri="{BB962C8B-B14F-4D97-AF65-F5344CB8AC3E}">
        <p14:creationId xmlns:p14="http://schemas.microsoft.com/office/powerpoint/2010/main" val="10763005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PPTMON slide">
    <p:spTree>
      <p:nvGrpSpPr>
        <p:cNvPr id="1" name=""/>
        <p:cNvGrpSpPr/>
        <p:nvPr/>
      </p:nvGrpSpPr>
      <p:grpSpPr>
        <a:xfrm>
          <a:off x="0" y="0"/>
          <a:ext cx="0" cy="0"/>
          <a:chOff x="0" y="0"/>
          <a:chExt cx="0" cy="0"/>
        </a:xfrm>
      </p:grpSpPr>
      <p:pic>
        <p:nvPicPr>
          <p:cNvPr id="7" name="Graphic 3">
            <a:hlinkClick r:id="rId2"/>
            <a:extLst>
              <a:ext uri="{FF2B5EF4-FFF2-40B4-BE49-F238E27FC236}">
                <a16:creationId xmlns:a16="http://schemas.microsoft.com/office/drawing/2014/main" id="{37C64A28-27C1-49D3-A64A-5335F356C3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p:blipFill>
        <p:spPr>
          <a:xfrm>
            <a:off x="5771192" y="6898137"/>
            <a:ext cx="2239204" cy="246221"/>
          </a:xfrm>
          <a:prstGeom prst="rect">
            <a:avLst/>
          </a:prstGeom>
        </p:spPr>
      </p:pic>
      <p:sp>
        <p:nvSpPr>
          <p:cNvPr id="8" name="TextBox 7">
            <a:hlinkClick r:id="rId5"/>
            <a:extLst>
              <a:ext uri="{FF2B5EF4-FFF2-40B4-BE49-F238E27FC236}">
                <a16:creationId xmlns:a16="http://schemas.microsoft.com/office/drawing/2014/main" id="{7DDDE506-2313-46FA-B89D-68D93FC3ACDE}"/>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651964D4-8DE4-4F34-8447-86BE4240340C}"/>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flipV="1">
            <a:off x="0" y="0"/>
            <a:ext cx="12192000" cy="6858000"/>
          </a:xfrm>
          <a:prstGeom prst="rect">
            <a:avLst/>
          </a:prstGeom>
        </p:spPr>
      </p:pic>
      <p:pic>
        <p:nvPicPr>
          <p:cNvPr id="6" name="그림 5">
            <a:extLst>
              <a:ext uri="{FF2B5EF4-FFF2-40B4-BE49-F238E27FC236}">
                <a16:creationId xmlns:a16="http://schemas.microsoft.com/office/drawing/2014/main" id="{B0F899A6-1844-4B68-B21E-FB8DCF1544D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407515"/>
            <a:ext cx="2527204" cy="2450485"/>
          </a:xfrm>
          <a:prstGeom prst="rect">
            <a:avLst/>
          </a:prstGeom>
        </p:spPr>
      </p:pic>
      <p:pic>
        <p:nvPicPr>
          <p:cNvPr id="9" name="그림 8">
            <a:extLst>
              <a:ext uri="{FF2B5EF4-FFF2-40B4-BE49-F238E27FC236}">
                <a16:creationId xmlns:a16="http://schemas.microsoft.com/office/drawing/2014/main" id="{0A595E98-97F7-4813-887F-75329E40454F}"/>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flipH="1">
            <a:off x="8805292" y="0"/>
            <a:ext cx="3386708" cy="2308259"/>
          </a:xfrm>
          <a:prstGeom prst="rect">
            <a:avLst/>
          </a:prstGeom>
        </p:spPr>
      </p:pic>
    </p:spTree>
    <p:extLst>
      <p:ext uri="{BB962C8B-B14F-4D97-AF65-F5344CB8AC3E}">
        <p14:creationId xmlns:p14="http://schemas.microsoft.com/office/powerpoint/2010/main" val="31633975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PPTMON slide">
    <p:spTree>
      <p:nvGrpSpPr>
        <p:cNvPr id="1" name=""/>
        <p:cNvGrpSpPr/>
        <p:nvPr/>
      </p:nvGrpSpPr>
      <p:grpSpPr>
        <a:xfrm>
          <a:off x="0" y="0"/>
          <a:ext cx="0" cy="0"/>
          <a:chOff x="0" y="0"/>
          <a:chExt cx="0" cy="0"/>
        </a:xfrm>
      </p:grpSpPr>
      <p:pic>
        <p:nvPicPr>
          <p:cNvPr id="7" name="Graphic 3">
            <a:hlinkClick r:id="rId2"/>
            <a:extLst>
              <a:ext uri="{FF2B5EF4-FFF2-40B4-BE49-F238E27FC236}">
                <a16:creationId xmlns:a16="http://schemas.microsoft.com/office/drawing/2014/main" id="{FA081A27-233F-4A53-8547-E0E59CF688A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p:blipFill>
        <p:spPr>
          <a:xfrm>
            <a:off x="5771192" y="6898137"/>
            <a:ext cx="2239204" cy="246221"/>
          </a:xfrm>
          <a:prstGeom prst="rect">
            <a:avLst/>
          </a:prstGeom>
        </p:spPr>
      </p:pic>
      <p:sp>
        <p:nvSpPr>
          <p:cNvPr id="8" name="TextBox 7">
            <a:hlinkClick r:id="rId5"/>
            <a:extLst>
              <a:ext uri="{FF2B5EF4-FFF2-40B4-BE49-F238E27FC236}">
                <a16:creationId xmlns:a16="http://schemas.microsoft.com/office/drawing/2014/main" id="{5DAF1752-08CD-4B30-A0DC-FB81FEFD4F82}"/>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EC6A0C35-0B06-41A9-920F-C2EE7AA5BEC3}"/>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pic>
        <p:nvPicPr>
          <p:cNvPr id="6" name="그림 5">
            <a:extLst>
              <a:ext uri="{FF2B5EF4-FFF2-40B4-BE49-F238E27FC236}">
                <a16:creationId xmlns:a16="http://schemas.microsoft.com/office/drawing/2014/main" id="{9CEB671F-AB26-40EB-BD47-EFE008E2E537}"/>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flipH="1">
            <a:off x="10821471" y="4549741"/>
            <a:ext cx="1370529" cy="2308259"/>
          </a:xfrm>
          <a:prstGeom prst="rect">
            <a:avLst/>
          </a:prstGeom>
        </p:spPr>
      </p:pic>
      <p:pic>
        <p:nvPicPr>
          <p:cNvPr id="9" name="그림 8">
            <a:extLst>
              <a:ext uri="{FF2B5EF4-FFF2-40B4-BE49-F238E27FC236}">
                <a16:creationId xmlns:a16="http://schemas.microsoft.com/office/drawing/2014/main" id="{DEC08DF1-576A-4893-BC4A-63EEE6F118EC}"/>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flipH="1" flipV="1">
            <a:off x="0" y="0"/>
            <a:ext cx="2603923" cy="1899916"/>
          </a:xfrm>
          <a:prstGeom prst="rect">
            <a:avLst/>
          </a:prstGeom>
        </p:spPr>
      </p:pic>
    </p:spTree>
    <p:extLst>
      <p:ext uri="{BB962C8B-B14F-4D97-AF65-F5344CB8AC3E}">
        <p14:creationId xmlns:p14="http://schemas.microsoft.com/office/powerpoint/2010/main" val="9156368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PPTMON slide">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21D41C8E-FA7D-4DCD-852D-C3E76F5256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pic>
        <p:nvPicPr>
          <p:cNvPr id="11" name="그림 10">
            <a:extLst>
              <a:ext uri="{FF2B5EF4-FFF2-40B4-BE49-F238E27FC236}">
                <a16:creationId xmlns:a16="http://schemas.microsoft.com/office/drawing/2014/main" id="{13312CC1-C724-4B23-B9E6-71AE02E2373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flipH="1">
            <a:off x="10167211" y="-283470"/>
            <a:ext cx="1741318" cy="2308259"/>
          </a:xfrm>
          <a:prstGeom prst="rect">
            <a:avLst/>
          </a:prstGeom>
        </p:spPr>
      </p:pic>
      <p:pic>
        <p:nvPicPr>
          <p:cNvPr id="12" name="그림 11">
            <a:extLst>
              <a:ext uri="{FF2B5EF4-FFF2-40B4-BE49-F238E27FC236}">
                <a16:creationId xmlns:a16="http://schemas.microsoft.com/office/drawing/2014/main" id="{6529507B-B35F-4501-8D68-818EF82C901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b="32472"/>
          <a:stretch/>
        </p:blipFill>
        <p:spPr>
          <a:xfrm flipH="1">
            <a:off x="0" y="5487195"/>
            <a:ext cx="2776492" cy="1370805"/>
          </a:xfrm>
          <a:prstGeom prst="rect">
            <a:avLst/>
          </a:prstGeom>
        </p:spPr>
      </p:pic>
      <p:pic>
        <p:nvPicPr>
          <p:cNvPr id="7" name="Graphic 3">
            <a:hlinkClick r:id="rId5"/>
            <a:extLst>
              <a:ext uri="{FF2B5EF4-FFF2-40B4-BE49-F238E27FC236}">
                <a16:creationId xmlns:a16="http://schemas.microsoft.com/office/drawing/2014/main" id="{14404531-E09B-4C59-940F-69F6DE98E4EE}"/>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29909"/>
          <a:stretch/>
        </p:blipFill>
        <p:spPr>
          <a:xfrm>
            <a:off x="5771192" y="6898137"/>
            <a:ext cx="2239204" cy="246221"/>
          </a:xfrm>
          <a:prstGeom prst="rect">
            <a:avLst/>
          </a:prstGeom>
        </p:spPr>
      </p:pic>
      <p:sp>
        <p:nvSpPr>
          <p:cNvPr id="8" name="TextBox 7">
            <a:hlinkClick r:id="rId8"/>
            <a:extLst>
              <a:ext uri="{FF2B5EF4-FFF2-40B4-BE49-F238E27FC236}">
                <a16:creationId xmlns:a16="http://schemas.microsoft.com/office/drawing/2014/main" id="{1E69E9DD-DE93-46F7-AE06-A0E2249D0396}"/>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9"/>
              </a:rPr>
              <a:t>Presentation template by</a:t>
            </a:r>
            <a:endParaRPr lang="ko-KR" altLang="en-US" sz="1000" u="none" dirty="0">
              <a:latin typeface="Arial" panose="020B0604020202020204" pitchFamily="34" charset="0"/>
              <a:cs typeface="Arial" panose="020B0604020202020204" pitchFamily="34" charset="0"/>
            </a:endParaRPr>
          </a:p>
        </p:txBody>
      </p:sp>
      <p:sp>
        <p:nvSpPr>
          <p:cNvPr id="10" name="그림 개체 틀 17">
            <a:extLst>
              <a:ext uri="{FF2B5EF4-FFF2-40B4-BE49-F238E27FC236}">
                <a16:creationId xmlns:a16="http://schemas.microsoft.com/office/drawing/2014/main" id="{0F0A1AA4-669D-4B56-9D7A-C55C8967731C}"/>
              </a:ext>
            </a:extLst>
          </p:cNvPr>
          <p:cNvSpPr>
            <a:spLocks noGrp="1" noChangeAspect="1"/>
          </p:cNvSpPr>
          <p:nvPr userDrawn="1">
            <p:ph type="pic" sz="quarter" idx="13" hasCustomPrompt="1"/>
          </p:nvPr>
        </p:nvSpPr>
        <p:spPr>
          <a:xfrm>
            <a:off x="1165728" y="1673729"/>
            <a:ext cx="3510548" cy="3510542"/>
          </a:xfrm>
          <a:prstGeom prst="ellipse">
            <a:avLst/>
          </a:prstGeom>
          <a:pattFill prst="pct10">
            <a:fgClr>
              <a:schemeClr val="bg1">
                <a:lumMod val="75000"/>
              </a:schemeClr>
            </a:fgClr>
            <a:bgClr>
              <a:schemeClr val="bg1">
                <a:lumMod val="95000"/>
              </a:schemeClr>
            </a:bgClr>
          </a:pattFill>
        </p:spPr>
        <p:txBody>
          <a:bodyPr anchor="b"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lang="ko-KR" altLang="en-US"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Tree>
    <p:extLst>
      <p:ext uri="{BB962C8B-B14F-4D97-AF65-F5344CB8AC3E}">
        <p14:creationId xmlns:p14="http://schemas.microsoft.com/office/powerpoint/2010/main" val="13621232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PPTMON slide">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AF2C6D84-1570-4D17-BBDE-60FA9F2C962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pic>
        <p:nvPicPr>
          <p:cNvPr id="7" name="Graphic 3">
            <a:hlinkClick r:id="rId3"/>
            <a:extLst>
              <a:ext uri="{FF2B5EF4-FFF2-40B4-BE49-F238E27FC236}">
                <a16:creationId xmlns:a16="http://schemas.microsoft.com/office/drawing/2014/main" id="{2E270193-2C1B-42E7-AE73-8B64DACDE27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9909"/>
          <a:stretch/>
        </p:blipFill>
        <p:spPr>
          <a:xfrm>
            <a:off x="5771192" y="6898137"/>
            <a:ext cx="2239204" cy="246221"/>
          </a:xfrm>
          <a:prstGeom prst="rect">
            <a:avLst/>
          </a:prstGeom>
        </p:spPr>
      </p:pic>
      <p:sp>
        <p:nvSpPr>
          <p:cNvPr id="8" name="TextBox 7">
            <a:hlinkClick r:id="rId6"/>
            <a:extLst>
              <a:ext uri="{FF2B5EF4-FFF2-40B4-BE49-F238E27FC236}">
                <a16:creationId xmlns:a16="http://schemas.microsoft.com/office/drawing/2014/main" id="{2DEF5961-3C9C-425C-B5BC-2F1822BADEFD}"/>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
        <p:nvSpPr>
          <p:cNvPr id="10" name="그림 개체 틀 12">
            <a:extLst>
              <a:ext uri="{FF2B5EF4-FFF2-40B4-BE49-F238E27FC236}">
                <a16:creationId xmlns:a16="http://schemas.microsoft.com/office/drawing/2014/main" id="{CCB19C02-D580-4C52-B75B-77C9A4EBD472}"/>
              </a:ext>
            </a:extLst>
          </p:cNvPr>
          <p:cNvSpPr>
            <a:spLocks noGrp="1" noChangeAspect="1"/>
          </p:cNvSpPr>
          <p:nvPr>
            <p:ph type="pic" sz="quarter" idx="25" hasCustomPrompt="1"/>
          </p:nvPr>
        </p:nvSpPr>
        <p:spPr>
          <a:xfrm>
            <a:off x="6467565" y="1269000"/>
            <a:ext cx="4320004" cy="4320000"/>
          </a:xfrm>
          <a:prstGeom prst="ellipse">
            <a:avLst/>
          </a:prstGeom>
          <a:pattFill prst="pct10">
            <a:fgClr>
              <a:schemeClr val="bg1">
                <a:lumMod val="75000"/>
              </a:schemeClr>
            </a:fgClr>
            <a:bgClr>
              <a:schemeClr val="bg1">
                <a:lumMod val="95000"/>
              </a:schemeClr>
            </a:bgClr>
          </a:pattFill>
        </p:spPr>
        <p:txBody>
          <a:bodyPr tIns="936000" anchor="ctr" anchorCtr="1"/>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sz="1400"/>
            </a:lvl1pPr>
          </a:lstStyle>
          <a:p>
            <a:pPr marL="0" marR="0" lvl="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a:pPr>
            <a:r>
              <a:rPr lang="en-US" altLang="ko-KR" dirty="0"/>
              <a:t>Click icon to add picture</a:t>
            </a:r>
            <a:endParaRPr lang="ko-KR" altLang="en-US" dirty="0"/>
          </a:p>
        </p:txBody>
      </p:sp>
      <p:pic>
        <p:nvPicPr>
          <p:cNvPr id="9" name="그림 8">
            <a:extLst>
              <a:ext uri="{FF2B5EF4-FFF2-40B4-BE49-F238E27FC236}">
                <a16:creationId xmlns:a16="http://schemas.microsoft.com/office/drawing/2014/main" id="{E336E0F3-0913-46C7-A6FE-725EFB4F84D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flipH="1">
            <a:off x="0" y="0"/>
            <a:ext cx="2130252" cy="2308259"/>
          </a:xfrm>
          <a:prstGeom prst="rect">
            <a:avLst/>
          </a:prstGeom>
        </p:spPr>
      </p:pic>
      <p:pic>
        <p:nvPicPr>
          <p:cNvPr id="11" name="그림 10">
            <a:extLst>
              <a:ext uri="{FF2B5EF4-FFF2-40B4-BE49-F238E27FC236}">
                <a16:creationId xmlns:a16="http://schemas.microsoft.com/office/drawing/2014/main" id="{AAD5AEFD-BE6C-497E-B431-7A23648AFAF0}"/>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rot="16200000" flipH="1">
            <a:off x="9503840" y="4169840"/>
            <a:ext cx="3164238" cy="2212082"/>
          </a:xfrm>
          <a:prstGeom prst="rect">
            <a:avLst/>
          </a:prstGeom>
        </p:spPr>
      </p:pic>
    </p:spTree>
    <p:extLst>
      <p:ext uri="{BB962C8B-B14F-4D97-AF65-F5344CB8AC3E}">
        <p14:creationId xmlns:p14="http://schemas.microsoft.com/office/powerpoint/2010/main" val="26876367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PPTMON slide">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750F76C9-7CEA-45B5-A597-9CE516754B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그림 8">
            <a:extLst>
              <a:ext uri="{FF2B5EF4-FFF2-40B4-BE49-F238E27FC236}">
                <a16:creationId xmlns:a16="http://schemas.microsoft.com/office/drawing/2014/main" id="{2B0F9D32-D335-4A9A-BE4D-5C8FB96132B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flipV="1">
            <a:off x="9664796" y="0"/>
            <a:ext cx="2527204" cy="2450485"/>
          </a:xfrm>
          <a:prstGeom prst="rect">
            <a:avLst/>
          </a:prstGeom>
        </p:spPr>
      </p:pic>
      <p:pic>
        <p:nvPicPr>
          <p:cNvPr id="11" name="그림 10">
            <a:extLst>
              <a:ext uri="{FF2B5EF4-FFF2-40B4-BE49-F238E27FC236}">
                <a16:creationId xmlns:a16="http://schemas.microsoft.com/office/drawing/2014/main" id="{871CD6E2-BB00-4450-A2F3-DB9C8BA091C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flipV="1">
            <a:off x="0" y="4549741"/>
            <a:ext cx="3386708" cy="2308259"/>
          </a:xfrm>
          <a:prstGeom prst="rect">
            <a:avLst/>
          </a:prstGeom>
        </p:spPr>
      </p:pic>
      <p:pic>
        <p:nvPicPr>
          <p:cNvPr id="15" name="Graphic 3">
            <a:hlinkClick r:id="rId5"/>
            <a:extLst>
              <a:ext uri="{FF2B5EF4-FFF2-40B4-BE49-F238E27FC236}">
                <a16:creationId xmlns:a16="http://schemas.microsoft.com/office/drawing/2014/main" id="{6C48AFC2-9079-443A-ADEF-0E9B832A0907}"/>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29909"/>
          <a:stretch/>
        </p:blipFill>
        <p:spPr>
          <a:xfrm>
            <a:off x="5771192" y="6898137"/>
            <a:ext cx="2239204" cy="246221"/>
          </a:xfrm>
          <a:prstGeom prst="rect">
            <a:avLst/>
          </a:prstGeom>
        </p:spPr>
      </p:pic>
      <p:sp>
        <p:nvSpPr>
          <p:cNvPr id="16" name="TextBox 15">
            <a:hlinkClick r:id="rId8"/>
            <a:extLst>
              <a:ext uri="{FF2B5EF4-FFF2-40B4-BE49-F238E27FC236}">
                <a16:creationId xmlns:a16="http://schemas.microsoft.com/office/drawing/2014/main" id="{0F70A544-5176-4A75-94DE-9DD1C1563963}"/>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9"/>
              </a:rPr>
              <a:t>Presentation template by</a:t>
            </a:r>
            <a:endParaRPr lang="ko-KR" altLang="en-US" sz="1000" u="none" dirty="0">
              <a:latin typeface="Arial" panose="020B0604020202020204" pitchFamily="34" charset="0"/>
              <a:cs typeface="Arial" panose="020B0604020202020204" pitchFamily="34" charset="0"/>
            </a:endParaRPr>
          </a:p>
        </p:txBody>
      </p:sp>
      <p:sp>
        <p:nvSpPr>
          <p:cNvPr id="18" name="그림 개체 틀 17">
            <a:extLst>
              <a:ext uri="{FF2B5EF4-FFF2-40B4-BE49-F238E27FC236}">
                <a16:creationId xmlns:a16="http://schemas.microsoft.com/office/drawing/2014/main" id="{22A44985-FC9C-404B-9ACA-B4BC23EFC230}"/>
              </a:ext>
            </a:extLst>
          </p:cNvPr>
          <p:cNvSpPr>
            <a:spLocks noGrp="1"/>
          </p:cNvSpPr>
          <p:nvPr userDrawn="1">
            <p:ph type="pic" sz="quarter" idx="11" hasCustomPrompt="1"/>
          </p:nvPr>
        </p:nvSpPr>
        <p:spPr>
          <a:xfrm>
            <a:off x="1787436" y="2578053"/>
            <a:ext cx="3446418" cy="3446414"/>
          </a:xfrm>
          <a:prstGeom prst="rect">
            <a:avLst/>
          </a:prstGeom>
          <a:pattFill prst="pct10">
            <a:fgClr>
              <a:schemeClr val="bg1">
                <a:lumMod val="75000"/>
              </a:schemeClr>
            </a:fgClr>
            <a:bgClr>
              <a:schemeClr val="bg1">
                <a:lumMod val="95000"/>
              </a:schemeClr>
            </a:bgClr>
          </a:pattFill>
        </p:spPr>
        <p:txBody>
          <a:bodyPr anchor="b"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lang="ko-KR" altLang="en-US" sz="18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
        <p:nvSpPr>
          <p:cNvPr id="19" name="그림 개체 틀 17">
            <a:extLst>
              <a:ext uri="{FF2B5EF4-FFF2-40B4-BE49-F238E27FC236}">
                <a16:creationId xmlns:a16="http://schemas.microsoft.com/office/drawing/2014/main" id="{8357AC79-9529-44C9-AC0C-832F6CD7B905}"/>
              </a:ext>
            </a:extLst>
          </p:cNvPr>
          <p:cNvSpPr>
            <a:spLocks noGrp="1"/>
          </p:cNvSpPr>
          <p:nvPr userDrawn="1">
            <p:ph type="pic" sz="quarter" idx="12" hasCustomPrompt="1"/>
          </p:nvPr>
        </p:nvSpPr>
        <p:spPr>
          <a:xfrm>
            <a:off x="6958148" y="2578053"/>
            <a:ext cx="3446418" cy="3446414"/>
          </a:xfrm>
          <a:prstGeom prst="rect">
            <a:avLst/>
          </a:prstGeom>
          <a:pattFill prst="pct10">
            <a:fgClr>
              <a:schemeClr val="bg1">
                <a:lumMod val="75000"/>
              </a:schemeClr>
            </a:fgClr>
            <a:bgClr>
              <a:schemeClr val="bg1">
                <a:lumMod val="95000"/>
              </a:schemeClr>
            </a:bgClr>
          </a:pattFill>
        </p:spPr>
        <p:txBody>
          <a:bodyPr anchor="b"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lang="ko-KR" altLang="en-US" sz="18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Tree>
    <p:extLst>
      <p:ext uri="{BB962C8B-B14F-4D97-AF65-F5344CB8AC3E}">
        <p14:creationId xmlns:p14="http://schemas.microsoft.com/office/powerpoint/2010/main" val="10855969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PPTMON slide">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4882E807-B21A-4ACB-9A79-9B39A4D247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그림 11">
            <a:extLst>
              <a:ext uri="{FF2B5EF4-FFF2-40B4-BE49-F238E27FC236}">
                <a16:creationId xmlns:a16="http://schemas.microsoft.com/office/drawing/2014/main" id="{AAE76E8E-CF0A-4D01-B244-8D399BED768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V="1">
            <a:off x="0" y="0"/>
            <a:ext cx="1370529" cy="2308259"/>
          </a:xfrm>
          <a:prstGeom prst="rect">
            <a:avLst/>
          </a:prstGeom>
        </p:spPr>
      </p:pic>
      <p:pic>
        <p:nvPicPr>
          <p:cNvPr id="15" name="그림 14">
            <a:extLst>
              <a:ext uri="{FF2B5EF4-FFF2-40B4-BE49-F238E27FC236}">
                <a16:creationId xmlns:a16="http://schemas.microsoft.com/office/drawing/2014/main" id="{AE73C714-F81F-4F18-82B0-F343915F20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588077" y="4958084"/>
            <a:ext cx="2603923" cy="1899916"/>
          </a:xfrm>
          <a:prstGeom prst="rect">
            <a:avLst/>
          </a:prstGeom>
        </p:spPr>
      </p:pic>
      <p:pic>
        <p:nvPicPr>
          <p:cNvPr id="8" name="Graphic 3">
            <a:hlinkClick r:id="rId5"/>
            <a:extLst>
              <a:ext uri="{FF2B5EF4-FFF2-40B4-BE49-F238E27FC236}">
                <a16:creationId xmlns:a16="http://schemas.microsoft.com/office/drawing/2014/main" id="{EDFA93A3-9866-4FC7-A8AC-5D0589D4A4D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29909"/>
          <a:stretch/>
        </p:blipFill>
        <p:spPr>
          <a:xfrm>
            <a:off x="5771192" y="6898137"/>
            <a:ext cx="2239204" cy="246221"/>
          </a:xfrm>
          <a:prstGeom prst="rect">
            <a:avLst/>
          </a:prstGeom>
        </p:spPr>
      </p:pic>
      <p:sp>
        <p:nvSpPr>
          <p:cNvPr id="9" name="TextBox 8">
            <a:hlinkClick r:id="rId8"/>
            <a:extLst>
              <a:ext uri="{FF2B5EF4-FFF2-40B4-BE49-F238E27FC236}">
                <a16:creationId xmlns:a16="http://schemas.microsoft.com/office/drawing/2014/main" id="{7529A775-DC49-47EC-BC77-8336185F2A6D}"/>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9"/>
              </a:rPr>
              <a:t>Presentation template by</a:t>
            </a:r>
            <a:endParaRPr lang="ko-KR" altLang="en-US" sz="1000" u="none" dirty="0">
              <a:latin typeface="Arial" panose="020B0604020202020204" pitchFamily="34" charset="0"/>
              <a:cs typeface="Arial" panose="020B0604020202020204" pitchFamily="34" charset="0"/>
            </a:endParaRPr>
          </a:p>
        </p:txBody>
      </p:sp>
      <p:sp>
        <p:nvSpPr>
          <p:cNvPr id="13" name="그림 개체 틀 4">
            <a:extLst>
              <a:ext uri="{FF2B5EF4-FFF2-40B4-BE49-F238E27FC236}">
                <a16:creationId xmlns:a16="http://schemas.microsoft.com/office/drawing/2014/main" id="{86B0BA7B-AF9C-4C99-B9D5-754C45F40EBB}"/>
              </a:ext>
            </a:extLst>
          </p:cNvPr>
          <p:cNvSpPr>
            <a:spLocks noGrp="1"/>
          </p:cNvSpPr>
          <p:nvPr>
            <p:ph type="pic" sz="quarter" idx="10" hasCustomPrompt="1"/>
          </p:nvPr>
        </p:nvSpPr>
        <p:spPr>
          <a:xfrm>
            <a:off x="1008357" y="1336676"/>
            <a:ext cx="4857162" cy="2247122"/>
          </a:xfrm>
          <a:prstGeom prst="roundRect">
            <a:avLst>
              <a:gd name="adj" fmla="val 8755"/>
            </a:avLst>
          </a:prstGeom>
          <a:pattFill prst="pct10">
            <a:fgClr>
              <a:schemeClr val="bg1">
                <a:lumMod val="75000"/>
              </a:schemeClr>
            </a:fgClr>
            <a:bgClr>
              <a:schemeClr val="bg1">
                <a:lumMod val="95000"/>
              </a:schemeClr>
            </a:bgClr>
          </a:pattFill>
        </p:spPr>
        <p:txBody>
          <a:bodyPr bIns="432000" anchor="b"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tabLst/>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
        <p:nvSpPr>
          <p:cNvPr id="14" name="그림 개체 틀 4">
            <a:extLst>
              <a:ext uri="{FF2B5EF4-FFF2-40B4-BE49-F238E27FC236}">
                <a16:creationId xmlns:a16="http://schemas.microsoft.com/office/drawing/2014/main" id="{C19CB30C-8A61-45A5-97C9-3F3042C8BB2E}"/>
              </a:ext>
            </a:extLst>
          </p:cNvPr>
          <p:cNvSpPr>
            <a:spLocks noGrp="1"/>
          </p:cNvSpPr>
          <p:nvPr>
            <p:ph type="pic" sz="quarter" idx="13" hasCustomPrompt="1"/>
          </p:nvPr>
        </p:nvSpPr>
        <p:spPr>
          <a:xfrm>
            <a:off x="6326481" y="1336676"/>
            <a:ext cx="4857162" cy="2247122"/>
          </a:xfrm>
          <a:prstGeom prst="roundRect">
            <a:avLst>
              <a:gd name="adj" fmla="val 8755"/>
            </a:avLst>
          </a:prstGeom>
          <a:pattFill prst="pct10">
            <a:fgClr>
              <a:schemeClr val="bg1">
                <a:lumMod val="75000"/>
              </a:schemeClr>
            </a:fgClr>
            <a:bgClr>
              <a:schemeClr val="bg1">
                <a:lumMod val="95000"/>
              </a:schemeClr>
            </a:bgClr>
          </a:pattFill>
        </p:spPr>
        <p:txBody>
          <a:bodyPr bIns="432000" anchor="b"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tabLst/>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Tree>
    <p:extLst>
      <p:ext uri="{BB962C8B-B14F-4D97-AF65-F5344CB8AC3E}">
        <p14:creationId xmlns:p14="http://schemas.microsoft.com/office/powerpoint/2010/main" val="8856994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PPTMON slide">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92DBC992-B619-4BC8-877F-4B3AD1BE6C1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6" name="그림 15">
            <a:extLst>
              <a:ext uri="{FF2B5EF4-FFF2-40B4-BE49-F238E27FC236}">
                <a16:creationId xmlns:a16="http://schemas.microsoft.com/office/drawing/2014/main" id="{D04B177F-32DF-47FF-BCF8-7D8233D94DF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flipV="1">
            <a:off x="283471" y="4833212"/>
            <a:ext cx="1741318" cy="2308259"/>
          </a:xfrm>
          <a:prstGeom prst="rect">
            <a:avLst/>
          </a:prstGeom>
        </p:spPr>
      </p:pic>
      <p:pic>
        <p:nvPicPr>
          <p:cNvPr id="17" name="그림 16">
            <a:extLst>
              <a:ext uri="{FF2B5EF4-FFF2-40B4-BE49-F238E27FC236}">
                <a16:creationId xmlns:a16="http://schemas.microsoft.com/office/drawing/2014/main" id="{39FC1959-39CB-486B-A8AF-3F1F0C48283F}"/>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b="32472"/>
          <a:stretch/>
        </p:blipFill>
        <p:spPr>
          <a:xfrm flipV="1">
            <a:off x="9415508" y="1"/>
            <a:ext cx="2776492" cy="1370805"/>
          </a:xfrm>
          <a:prstGeom prst="rect">
            <a:avLst/>
          </a:prstGeom>
        </p:spPr>
      </p:pic>
      <p:sp>
        <p:nvSpPr>
          <p:cNvPr id="10" name="그림 개체 틀 4">
            <a:extLst>
              <a:ext uri="{FF2B5EF4-FFF2-40B4-BE49-F238E27FC236}">
                <a16:creationId xmlns:a16="http://schemas.microsoft.com/office/drawing/2014/main" id="{4C9FB4EA-5FD1-4F37-B581-8625B58E6B96}"/>
              </a:ext>
            </a:extLst>
          </p:cNvPr>
          <p:cNvSpPr>
            <a:spLocks noGrp="1"/>
          </p:cNvSpPr>
          <p:nvPr userDrawn="1">
            <p:ph type="pic" sz="quarter" idx="10" hasCustomPrompt="1"/>
          </p:nvPr>
        </p:nvSpPr>
        <p:spPr>
          <a:xfrm>
            <a:off x="5030973" y="1549400"/>
            <a:ext cx="2130054" cy="2130054"/>
          </a:xfrm>
          <a:prstGeom prst="ellipse">
            <a:avLst/>
          </a:prstGeom>
          <a:pattFill prst="pct10">
            <a:fgClr>
              <a:schemeClr val="bg1">
                <a:lumMod val="75000"/>
              </a:schemeClr>
            </a:fgClr>
            <a:bgClr>
              <a:schemeClr val="bg1">
                <a:lumMod val="95000"/>
              </a:schemeClr>
            </a:bgClr>
          </a:pattFill>
        </p:spPr>
        <p:txBody>
          <a:bodyPr tIns="828000" anchor="ctr" anchorCtr="1"/>
          <a:lstStyle>
            <a:lvl1pPr marL="0" indent="0">
              <a:buNone/>
              <a:defRPr sz="1400"/>
            </a:lvl1pPr>
          </a:lstStyle>
          <a:p>
            <a:r>
              <a:rPr lang="en-US" altLang="ko-KR" dirty="0"/>
              <a:t>Click icon to add picture</a:t>
            </a:r>
            <a:endParaRPr lang="ko-KR" altLang="en-US" dirty="0"/>
          </a:p>
        </p:txBody>
      </p:sp>
      <p:sp>
        <p:nvSpPr>
          <p:cNvPr id="11" name="그림 개체 틀 4">
            <a:extLst>
              <a:ext uri="{FF2B5EF4-FFF2-40B4-BE49-F238E27FC236}">
                <a16:creationId xmlns:a16="http://schemas.microsoft.com/office/drawing/2014/main" id="{C1C6AAA3-88B5-4F9B-AA6A-B8907F343E61}"/>
              </a:ext>
            </a:extLst>
          </p:cNvPr>
          <p:cNvSpPr>
            <a:spLocks noGrp="1"/>
          </p:cNvSpPr>
          <p:nvPr userDrawn="1">
            <p:ph type="pic" sz="quarter" idx="11" hasCustomPrompt="1"/>
          </p:nvPr>
        </p:nvSpPr>
        <p:spPr>
          <a:xfrm>
            <a:off x="1284473" y="1549400"/>
            <a:ext cx="2130054" cy="2130054"/>
          </a:xfrm>
          <a:prstGeom prst="ellipse">
            <a:avLst/>
          </a:prstGeom>
          <a:pattFill prst="pct10">
            <a:fgClr>
              <a:schemeClr val="bg1">
                <a:lumMod val="75000"/>
              </a:schemeClr>
            </a:fgClr>
            <a:bgClr>
              <a:schemeClr val="bg1">
                <a:lumMod val="95000"/>
              </a:schemeClr>
            </a:bgClr>
          </a:pattFill>
        </p:spPr>
        <p:txBody>
          <a:bodyPr tIns="828000" anchor="ctr" anchorCtr="1"/>
          <a:lstStyle>
            <a:lvl1pPr marL="0" indent="0">
              <a:buNone/>
              <a:defRPr sz="1400"/>
            </a:lvl1pPr>
          </a:lstStyle>
          <a:p>
            <a:r>
              <a:rPr lang="en-US" altLang="ko-KR" dirty="0"/>
              <a:t>Click icon to add picture</a:t>
            </a:r>
            <a:endParaRPr lang="ko-KR" altLang="en-US" dirty="0"/>
          </a:p>
        </p:txBody>
      </p:sp>
      <p:sp>
        <p:nvSpPr>
          <p:cNvPr id="12" name="그림 개체 틀 4">
            <a:extLst>
              <a:ext uri="{FF2B5EF4-FFF2-40B4-BE49-F238E27FC236}">
                <a16:creationId xmlns:a16="http://schemas.microsoft.com/office/drawing/2014/main" id="{72AC8921-988E-4596-80FD-3A91F99CF5CA}"/>
              </a:ext>
            </a:extLst>
          </p:cNvPr>
          <p:cNvSpPr>
            <a:spLocks noGrp="1"/>
          </p:cNvSpPr>
          <p:nvPr userDrawn="1">
            <p:ph type="pic" sz="quarter" idx="12" hasCustomPrompt="1"/>
          </p:nvPr>
        </p:nvSpPr>
        <p:spPr>
          <a:xfrm>
            <a:off x="8777473" y="1549400"/>
            <a:ext cx="2130054" cy="2130054"/>
          </a:xfrm>
          <a:prstGeom prst="ellipse">
            <a:avLst/>
          </a:prstGeom>
          <a:pattFill prst="pct10">
            <a:fgClr>
              <a:schemeClr val="bg1">
                <a:lumMod val="75000"/>
              </a:schemeClr>
            </a:fgClr>
            <a:bgClr>
              <a:schemeClr val="bg1">
                <a:lumMod val="95000"/>
              </a:schemeClr>
            </a:bgClr>
          </a:pattFill>
        </p:spPr>
        <p:txBody>
          <a:bodyPr tIns="828000" anchor="ctr" anchorCtr="1"/>
          <a:lstStyle>
            <a:lvl1pPr marL="0" indent="0">
              <a:buNone/>
              <a:defRPr sz="1400"/>
            </a:lvl1pPr>
          </a:lstStyle>
          <a:p>
            <a:r>
              <a:rPr lang="en-US" altLang="ko-KR" dirty="0"/>
              <a:t>Click icon to add picture</a:t>
            </a:r>
            <a:endParaRPr lang="ko-KR" altLang="en-US" dirty="0"/>
          </a:p>
        </p:txBody>
      </p:sp>
      <p:pic>
        <p:nvPicPr>
          <p:cNvPr id="9" name="Graphic 3">
            <a:hlinkClick r:id="rId5"/>
            <a:extLst>
              <a:ext uri="{FF2B5EF4-FFF2-40B4-BE49-F238E27FC236}">
                <a16:creationId xmlns:a16="http://schemas.microsoft.com/office/drawing/2014/main" id="{9B650C41-615D-46F1-B81B-DF0D8B1E4928}"/>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29909"/>
          <a:stretch/>
        </p:blipFill>
        <p:spPr>
          <a:xfrm>
            <a:off x="5771192" y="6898137"/>
            <a:ext cx="2239204" cy="246221"/>
          </a:xfrm>
          <a:prstGeom prst="rect">
            <a:avLst/>
          </a:prstGeom>
        </p:spPr>
      </p:pic>
      <p:sp>
        <p:nvSpPr>
          <p:cNvPr id="13" name="TextBox 12">
            <a:hlinkClick r:id="rId8"/>
            <a:extLst>
              <a:ext uri="{FF2B5EF4-FFF2-40B4-BE49-F238E27FC236}">
                <a16:creationId xmlns:a16="http://schemas.microsoft.com/office/drawing/2014/main" id="{AB66A8F9-C01A-4AC5-9AFB-04145982A68C}"/>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9"/>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130285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PPTMON slide">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E3DB3811-0346-4580-B1F4-5611C28B9D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pic>
        <p:nvPicPr>
          <p:cNvPr id="10" name="그림 9">
            <a:extLst>
              <a:ext uri="{FF2B5EF4-FFF2-40B4-BE49-F238E27FC236}">
                <a16:creationId xmlns:a16="http://schemas.microsoft.com/office/drawing/2014/main" id="{2428572C-BDB1-4B7C-86D9-4E6DEA4BB78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V="1">
            <a:off x="10061748" y="4549741"/>
            <a:ext cx="2130252" cy="2308259"/>
          </a:xfrm>
          <a:prstGeom prst="rect">
            <a:avLst/>
          </a:prstGeom>
        </p:spPr>
      </p:pic>
      <p:pic>
        <p:nvPicPr>
          <p:cNvPr id="12" name="그림 11">
            <a:extLst>
              <a:ext uri="{FF2B5EF4-FFF2-40B4-BE49-F238E27FC236}">
                <a16:creationId xmlns:a16="http://schemas.microsoft.com/office/drawing/2014/main" id="{58AB0417-6A7B-45A9-A10B-129FD11C9A8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16200000" flipV="1">
            <a:off x="-476078" y="476078"/>
            <a:ext cx="3164238" cy="2212082"/>
          </a:xfrm>
          <a:prstGeom prst="rect">
            <a:avLst/>
          </a:prstGeom>
        </p:spPr>
      </p:pic>
      <p:pic>
        <p:nvPicPr>
          <p:cNvPr id="7" name="Graphic 3">
            <a:hlinkClick r:id="rId5"/>
            <a:extLst>
              <a:ext uri="{FF2B5EF4-FFF2-40B4-BE49-F238E27FC236}">
                <a16:creationId xmlns:a16="http://schemas.microsoft.com/office/drawing/2014/main" id="{0E2D43A1-2EC1-42E7-851C-943804816B48}"/>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29909"/>
          <a:stretch/>
        </p:blipFill>
        <p:spPr>
          <a:xfrm>
            <a:off x="5771192" y="6898137"/>
            <a:ext cx="2239204" cy="246221"/>
          </a:xfrm>
          <a:prstGeom prst="rect">
            <a:avLst/>
          </a:prstGeom>
        </p:spPr>
      </p:pic>
      <p:sp>
        <p:nvSpPr>
          <p:cNvPr id="8" name="TextBox 7">
            <a:hlinkClick r:id="rId8"/>
            <a:extLst>
              <a:ext uri="{FF2B5EF4-FFF2-40B4-BE49-F238E27FC236}">
                <a16:creationId xmlns:a16="http://schemas.microsoft.com/office/drawing/2014/main" id="{D8BB71EF-3973-4E44-9874-8275D1D3E7B9}"/>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9"/>
              </a:rPr>
              <a:t>Presentation template by</a:t>
            </a:r>
            <a:endParaRPr lang="ko-KR" altLang="en-US" sz="1000" u="none" dirty="0">
              <a:latin typeface="Arial" panose="020B0604020202020204" pitchFamily="34" charset="0"/>
              <a:cs typeface="Arial" panose="020B0604020202020204" pitchFamily="34" charset="0"/>
            </a:endParaRPr>
          </a:p>
        </p:txBody>
      </p:sp>
      <p:sp>
        <p:nvSpPr>
          <p:cNvPr id="32" name="그림 개체 틀 11">
            <a:extLst>
              <a:ext uri="{FF2B5EF4-FFF2-40B4-BE49-F238E27FC236}">
                <a16:creationId xmlns:a16="http://schemas.microsoft.com/office/drawing/2014/main" id="{28B8CF9A-1FA7-4605-8301-FC3994D09380}"/>
              </a:ext>
            </a:extLst>
          </p:cNvPr>
          <p:cNvSpPr>
            <a:spLocks noGrp="1"/>
          </p:cNvSpPr>
          <p:nvPr>
            <p:ph type="pic" sz="quarter" idx="10" hasCustomPrompt="1"/>
          </p:nvPr>
        </p:nvSpPr>
        <p:spPr>
          <a:xfrm>
            <a:off x="7791450" y="759883"/>
            <a:ext cx="2540000" cy="5583986"/>
          </a:xfrm>
          <a:prstGeom prst="roundRect">
            <a:avLst>
              <a:gd name="adj" fmla="val 21152"/>
            </a:avLst>
          </a:prstGeom>
          <a:pattFill prst="pct10">
            <a:fgClr>
              <a:schemeClr val="bg1">
                <a:lumMod val="75000"/>
              </a:schemeClr>
            </a:fgClr>
            <a:bgClr>
              <a:schemeClr val="bg1">
                <a:lumMod val="95000"/>
              </a:schemeClr>
            </a:bgClr>
          </a:pattFill>
        </p:spPr>
        <p:txBody>
          <a:bodyPr anchor="b" anchorCtr="1"/>
          <a:lstStyle>
            <a:lvl1pPr>
              <a:defRPr lang="ko-KR" altLang="en-US" sz="2000" dirty="0"/>
            </a:lvl1pPr>
          </a:lstStyle>
          <a:p>
            <a:pPr marR="0" lvl="0" fontAlgn="auto">
              <a:spcAft>
                <a:spcPts val="0"/>
              </a:spcAft>
              <a:buClrTx/>
              <a:buSzTx/>
              <a:tabLst/>
            </a:pPr>
            <a:r>
              <a:rPr lang="en-US" altLang="ko-KR" dirty="0"/>
              <a:t>Click icon to add picture</a:t>
            </a:r>
            <a:endParaRPr lang="ko-KR" altLang="en-US" dirty="0"/>
          </a:p>
        </p:txBody>
      </p:sp>
    </p:spTree>
    <p:extLst>
      <p:ext uri="{BB962C8B-B14F-4D97-AF65-F5344CB8AC3E}">
        <p14:creationId xmlns:p14="http://schemas.microsoft.com/office/powerpoint/2010/main" val="27053097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PPTMON slide">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51A6BABA-9176-41A4-9AEA-A5BF5B362C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그림 10">
            <a:extLst>
              <a:ext uri="{FF2B5EF4-FFF2-40B4-BE49-F238E27FC236}">
                <a16:creationId xmlns:a16="http://schemas.microsoft.com/office/drawing/2014/main" id="{5E020AFD-C610-4661-8D2F-497D4CA9874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V="1">
            <a:off x="0" y="0"/>
            <a:ext cx="2527204" cy="2450485"/>
          </a:xfrm>
          <a:prstGeom prst="rect">
            <a:avLst/>
          </a:prstGeom>
        </p:spPr>
      </p:pic>
      <p:pic>
        <p:nvPicPr>
          <p:cNvPr id="12" name="그림 11">
            <a:extLst>
              <a:ext uri="{FF2B5EF4-FFF2-40B4-BE49-F238E27FC236}">
                <a16:creationId xmlns:a16="http://schemas.microsoft.com/office/drawing/2014/main" id="{1D06A952-7E40-4292-B902-05CFE8952C6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flipH="1" flipV="1">
            <a:off x="8805292" y="4549741"/>
            <a:ext cx="3386708" cy="2308259"/>
          </a:xfrm>
          <a:prstGeom prst="rect">
            <a:avLst/>
          </a:prstGeom>
        </p:spPr>
      </p:pic>
      <p:pic>
        <p:nvPicPr>
          <p:cNvPr id="7" name="Graphic 3">
            <a:hlinkClick r:id="rId5"/>
            <a:extLst>
              <a:ext uri="{FF2B5EF4-FFF2-40B4-BE49-F238E27FC236}">
                <a16:creationId xmlns:a16="http://schemas.microsoft.com/office/drawing/2014/main" id="{794A92A2-6B8A-4CE0-9BB3-2A54C9292075}"/>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29909"/>
          <a:stretch/>
        </p:blipFill>
        <p:spPr>
          <a:xfrm>
            <a:off x="5771192" y="6898137"/>
            <a:ext cx="2239204" cy="246221"/>
          </a:xfrm>
          <a:prstGeom prst="rect">
            <a:avLst/>
          </a:prstGeom>
        </p:spPr>
      </p:pic>
      <p:sp>
        <p:nvSpPr>
          <p:cNvPr id="8" name="TextBox 7">
            <a:hlinkClick r:id="rId8"/>
            <a:extLst>
              <a:ext uri="{FF2B5EF4-FFF2-40B4-BE49-F238E27FC236}">
                <a16:creationId xmlns:a16="http://schemas.microsoft.com/office/drawing/2014/main" id="{0A73D754-B1A7-48FF-8E61-7C36ACAA4471}"/>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9"/>
              </a:rPr>
              <a:t>Presentation template by</a:t>
            </a:r>
            <a:endParaRPr lang="ko-KR" altLang="en-US" sz="1000" u="none" dirty="0">
              <a:latin typeface="Arial" panose="020B0604020202020204" pitchFamily="34" charset="0"/>
              <a:cs typeface="Arial" panose="020B0604020202020204" pitchFamily="34" charset="0"/>
            </a:endParaRPr>
          </a:p>
        </p:txBody>
      </p:sp>
      <p:sp>
        <p:nvSpPr>
          <p:cNvPr id="13" name="그림 개체 틀 5">
            <a:extLst>
              <a:ext uri="{FF2B5EF4-FFF2-40B4-BE49-F238E27FC236}">
                <a16:creationId xmlns:a16="http://schemas.microsoft.com/office/drawing/2014/main" id="{D3388129-81CB-4771-9753-9E42AF2C064C}"/>
              </a:ext>
            </a:extLst>
          </p:cNvPr>
          <p:cNvSpPr>
            <a:spLocks noGrp="1"/>
          </p:cNvSpPr>
          <p:nvPr>
            <p:ph type="pic" sz="quarter" idx="10" hasCustomPrompt="1"/>
          </p:nvPr>
        </p:nvSpPr>
        <p:spPr>
          <a:xfrm>
            <a:off x="1374273" y="1109778"/>
            <a:ext cx="6988017" cy="4556788"/>
          </a:xfrm>
          <a:prstGeom prst="roundRect">
            <a:avLst>
              <a:gd name="adj" fmla="val 3110"/>
            </a:avLst>
          </a:prstGeom>
          <a:pattFill prst="pct10">
            <a:fgClr>
              <a:schemeClr val="bg1">
                <a:lumMod val="75000"/>
              </a:schemeClr>
            </a:fgClr>
            <a:bgClr>
              <a:schemeClr val="bg1">
                <a:lumMod val="95000"/>
              </a:schemeClr>
            </a:bgClr>
          </a:pattFill>
        </p:spPr>
        <p:txBody>
          <a:bodyPr anchor="b" anchorCtr="1"/>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Tree>
    <p:extLst>
      <p:ext uri="{BB962C8B-B14F-4D97-AF65-F5344CB8AC3E}">
        <p14:creationId xmlns:p14="http://schemas.microsoft.com/office/powerpoint/2010/main" val="15756575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PPTMON slide">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5C7CFD3F-D461-4BD5-BFFC-1972F09E87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11" name="그림 10">
            <a:extLst>
              <a:ext uri="{FF2B5EF4-FFF2-40B4-BE49-F238E27FC236}">
                <a16:creationId xmlns:a16="http://schemas.microsoft.com/office/drawing/2014/main" id="{AAB88C67-5F07-4FD0-8A28-F36745A6FBB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flipV="1">
            <a:off x="10821471" y="0"/>
            <a:ext cx="1370529" cy="2308259"/>
          </a:xfrm>
          <a:prstGeom prst="rect">
            <a:avLst/>
          </a:prstGeom>
        </p:spPr>
      </p:pic>
      <p:pic>
        <p:nvPicPr>
          <p:cNvPr id="13" name="그림 12">
            <a:extLst>
              <a:ext uri="{FF2B5EF4-FFF2-40B4-BE49-F238E27FC236}">
                <a16:creationId xmlns:a16="http://schemas.microsoft.com/office/drawing/2014/main" id="{DDD36DFB-B8BC-4B7E-B07D-761EA11DA94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flipH="1">
            <a:off x="0" y="4958084"/>
            <a:ext cx="2603923" cy="1899916"/>
          </a:xfrm>
          <a:prstGeom prst="rect">
            <a:avLst/>
          </a:prstGeom>
        </p:spPr>
      </p:pic>
      <p:pic>
        <p:nvPicPr>
          <p:cNvPr id="7" name="Graphic 3">
            <a:hlinkClick r:id="rId5"/>
            <a:extLst>
              <a:ext uri="{FF2B5EF4-FFF2-40B4-BE49-F238E27FC236}">
                <a16:creationId xmlns:a16="http://schemas.microsoft.com/office/drawing/2014/main" id="{5F0E783B-5927-4C15-A58A-0D3589F189FA}"/>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29909"/>
          <a:stretch/>
        </p:blipFill>
        <p:spPr>
          <a:xfrm>
            <a:off x="5771192" y="6898137"/>
            <a:ext cx="2239204" cy="246221"/>
          </a:xfrm>
          <a:prstGeom prst="rect">
            <a:avLst/>
          </a:prstGeom>
        </p:spPr>
      </p:pic>
      <p:sp>
        <p:nvSpPr>
          <p:cNvPr id="8" name="TextBox 7">
            <a:hlinkClick r:id="rId8"/>
            <a:extLst>
              <a:ext uri="{FF2B5EF4-FFF2-40B4-BE49-F238E27FC236}">
                <a16:creationId xmlns:a16="http://schemas.microsoft.com/office/drawing/2014/main" id="{6A2FF26C-90CA-4137-A6BE-2CEFA675B073}"/>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9"/>
              </a:rPr>
              <a:t>Presentation template by</a:t>
            </a:r>
            <a:endParaRPr lang="ko-KR" altLang="en-US" sz="1000" u="none" dirty="0">
              <a:latin typeface="Arial" panose="020B0604020202020204" pitchFamily="34" charset="0"/>
              <a:cs typeface="Arial" panose="020B0604020202020204" pitchFamily="34" charset="0"/>
            </a:endParaRPr>
          </a:p>
        </p:txBody>
      </p:sp>
      <p:sp>
        <p:nvSpPr>
          <p:cNvPr id="12" name="그림 개체 틀 8">
            <a:extLst>
              <a:ext uri="{FF2B5EF4-FFF2-40B4-BE49-F238E27FC236}">
                <a16:creationId xmlns:a16="http://schemas.microsoft.com/office/drawing/2014/main" id="{7A7A329B-D2F2-4957-8801-5DCBD15E2640}"/>
              </a:ext>
            </a:extLst>
          </p:cNvPr>
          <p:cNvSpPr>
            <a:spLocks noGrp="1"/>
          </p:cNvSpPr>
          <p:nvPr userDrawn="1">
            <p:ph type="pic" sz="quarter" idx="10" hasCustomPrompt="1"/>
          </p:nvPr>
        </p:nvSpPr>
        <p:spPr>
          <a:xfrm>
            <a:off x="4839978" y="1856521"/>
            <a:ext cx="6740399" cy="3865781"/>
          </a:xfrm>
          <a:prstGeom prst="roundRect">
            <a:avLst>
              <a:gd name="adj" fmla="val 1816"/>
            </a:avLst>
          </a:prstGeom>
          <a:pattFill prst="pct10">
            <a:fgClr>
              <a:schemeClr val="bg1">
                <a:lumMod val="75000"/>
              </a:schemeClr>
            </a:fgClr>
            <a:bgClr>
              <a:schemeClr val="bg1">
                <a:lumMod val="95000"/>
              </a:schemeClr>
            </a:bgClr>
          </a:pattFill>
        </p:spPr>
        <p:txBody>
          <a:bodyPr anchor="b"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Tree>
    <p:extLst>
      <p:ext uri="{BB962C8B-B14F-4D97-AF65-F5344CB8AC3E}">
        <p14:creationId xmlns:p14="http://schemas.microsoft.com/office/powerpoint/2010/main" val="25766353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PTMON slide">
    <p:spTree>
      <p:nvGrpSpPr>
        <p:cNvPr id="1" name=""/>
        <p:cNvGrpSpPr/>
        <p:nvPr/>
      </p:nvGrpSpPr>
      <p:grpSpPr>
        <a:xfrm>
          <a:off x="0" y="0"/>
          <a:ext cx="0" cy="0"/>
          <a:chOff x="0" y="0"/>
          <a:chExt cx="0" cy="0"/>
        </a:xfrm>
      </p:grpSpPr>
      <p:pic>
        <p:nvPicPr>
          <p:cNvPr id="4" name="Graphic 3">
            <a:hlinkClick r:id="rId2"/>
            <a:extLst>
              <a:ext uri="{FF2B5EF4-FFF2-40B4-BE49-F238E27FC236}">
                <a16:creationId xmlns:a16="http://schemas.microsoft.com/office/drawing/2014/main" id="{CBF7FA6F-5A99-4806-9478-13A078CACAEA}"/>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p:blipFill>
        <p:spPr>
          <a:xfrm>
            <a:off x="5771192" y="6898137"/>
            <a:ext cx="2239204" cy="246221"/>
          </a:xfrm>
          <a:prstGeom prst="rect">
            <a:avLst/>
          </a:prstGeom>
        </p:spPr>
      </p:pic>
      <p:sp>
        <p:nvSpPr>
          <p:cNvPr id="7" name="TextBox 6">
            <a:hlinkClick r:id="rId5"/>
            <a:extLst>
              <a:ext uri="{FF2B5EF4-FFF2-40B4-BE49-F238E27FC236}">
                <a16:creationId xmlns:a16="http://schemas.microsoft.com/office/drawing/2014/main" id="{1055C112-2BB0-4F25-934E-ADB6FB62A51B}"/>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11658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PPTMON custom">
    <p:bg>
      <p:bgPr>
        <a:solidFill>
          <a:schemeClr val="bg1"/>
        </a:solidFill>
        <a:effectLst/>
      </p:bgPr>
    </p:bg>
    <p:spTree>
      <p:nvGrpSpPr>
        <p:cNvPr id="1" name=""/>
        <p:cNvGrpSpPr/>
        <p:nvPr/>
      </p:nvGrpSpPr>
      <p:grpSpPr>
        <a:xfrm>
          <a:off x="0" y="0"/>
          <a:ext cx="0" cy="0"/>
          <a:chOff x="0" y="0"/>
          <a:chExt cx="0" cy="0"/>
        </a:xfrm>
      </p:grpSpPr>
      <p:pic>
        <p:nvPicPr>
          <p:cNvPr id="4" name="Graphic 3">
            <a:hlinkClick r:id="rId2"/>
            <a:extLst>
              <a:ext uri="{FF2B5EF4-FFF2-40B4-BE49-F238E27FC236}">
                <a16:creationId xmlns:a16="http://schemas.microsoft.com/office/drawing/2014/main" id="{B3C4C6FE-B79F-44FE-B119-781882B89B40}"/>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p:blipFill>
        <p:spPr>
          <a:xfrm>
            <a:off x="5771192" y="6898137"/>
            <a:ext cx="2239204" cy="246221"/>
          </a:xfrm>
          <a:prstGeom prst="rect">
            <a:avLst/>
          </a:prstGeom>
        </p:spPr>
      </p:pic>
      <p:sp>
        <p:nvSpPr>
          <p:cNvPr id="5" name="TextBox 4">
            <a:hlinkClick r:id="rId5"/>
            <a:extLst>
              <a:ext uri="{FF2B5EF4-FFF2-40B4-BE49-F238E27FC236}">
                <a16:creationId xmlns:a16="http://schemas.microsoft.com/office/drawing/2014/main" id="{2247621A-5DF8-4541-B07E-17BF67B2B515}"/>
              </a:ext>
            </a:extLst>
          </p:cNvPr>
          <p:cNvSpPr txBox="1"/>
          <p:nvPr userDrawn="1"/>
        </p:nvSpPr>
        <p:spPr>
          <a:xfrm>
            <a:off x="4181605" y="6936924"/>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72780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43CB4-E61B-61F3-D5AD-7E8E84ABF34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1A7D026-8DDD-4B34-7501-776542C7B3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72A5190-5F72-6C45-AEAD-1EB7144D1CD9}"/>
              </a:ext>
            </a:extLst>
          </p:cNvPr>
          <p:cNvSpPr>
            <a:spLocks noGrp="1"/>
          </p:cNvSpPr>
          <p:nvPr>
            <p:ph type="dt" sz="half" idx="10"/>
          </p:nvPr>
        </p:nvSpPr>
        <p:spPr/>
        <p:txBody>
          <a:bodyPr/>
          <a:lstStyle/>
          <a:p>
            <a:fld id="{3D2C407A-297A-49E0-B4EC-735D8C01533B}" type="datetimeFigureOut">
              <a:rPr lang="zh-CN" altLang="en-US" smtClean="0"/>
              <a:t>2024/5/8</a:t>
            </a:fld>
            <a:endParaRPr lang="zh-CN" altLang="en-US"/>
          </a:p>
        </p:txBody>
      </p:sp>
      <p:sp>
        <p:nvSpPr>
          <p:cNvPr id="5" name="页脚占位符 4">
            <a:extLst>
              <a:ext uri="{FF2B5EF4-FFF2-40B4-BE49-F238E27FC236}">
                <a16:creationId xmlns:a16="http://schemas.microsoft.com/office/drawing/2014/main" id="{58AD41C7-1BCF-432C-308D-74D24C5F56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EABB8B-97A6-DBB0-751A-360EF5EC8FC4}"/>
              </a:ext>
            </a:extLst>
          </p:cNvPr>
          <p:cNvSpPr>
            <a:spLocks noGrp="1"/>
          </p:cNvSpPr>
          <p:nvPr>
            <p:ph type="sldNum" sz="quarter" idx="12"/>
          </p:nvPr>
        </p:nvSpPr>
        <p:spPr/>
        <p:txBody>
          <a:bodyPr/>
          <a:lstStyle/>
          <a:p>
            <a:fld id="{E789814C-B5FD-4D69-9920-FAB9D8D7BD70}" type="slidenum">
              <a:rPr lang="zh-CN" altLang="en-US" smtClean="0"/>
              <a:t>‹#›</a:t>
            </a:fld>
            <a:endParaRPr lang="zh-CN" altLang="en-US"/>
          </a:p>
        </p:txBody>
      </p:sp>
    </p:spTree>
    <p:extLst>
      <p:ext uri="{BB962C8B-B14F-4D97-AF65-F5344CB8AC3E}">
        <p14:creationId xmlns:p14="http://schemas.microsoft.com/office/powerpoint/2010/main" val="14905198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D97765-0C93-CAEE-855C-7126349DA28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0E4E303-0671-5FF9-C8A1-31C2E235FCC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050F6F4-E7FB-4D64-3514-6E317829CDC8}"/>
              </a:ext>
            </a:extLst>
          </p:cNvPr>
          <p:cNvSpPr>
            <a:spLocks noGrp="1"/>
          </p:cNvSpPr>
          <p:nvPr>
            <p:ph type="dt" sz="half" idx="10"/>
          </p:nvPr>
        </p:nvSpPr>
        <p:spPr/>
        <p:txBody>
          <a:bodyPr/>
          <a:lstStyle/>
          <a:p>
            <a:fld id="{3D2C407A-297A-49E0-B4EC-735D8C01533B}" type="datetimeFigureOut">
              <a:rPr lang="zh-CN" altLang="en-US" smtClean="0"/>
              <a:t>2024/5/8</a:t>
            </a:fld>
            <a:endParaRPr lang="zh-CN" altLang="en-US"/>
          </a:p>
        </p:txBody>
      </p:sp>
      <p:sp>
        <p:nvSpPr>
          <p:cNvPr id="5" name="页脚占位符 4">
            <a:extLst>
              <a:ext uri="{FF2B5EF4-FFF2-40B4-BE49-F238E27FC236}">
                <a16:creationId xmlns:a16="http://schemas.microsoft.com/office/drawing/2014/main" id="{8EC147F7-CECB-1F5F-8CF5-97582120F4F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3B3928A-7E18-3930-FE3B-0F93285DAE9B}"/>
              </a:ext>
            </a:extLst>
          </p:cNvPr>
          <p:cNvSpPr>
            <a:spLocks noGrp="1"/>
          </p:cNvSpPr>
          <p:nvPr>
            <p:ph type="sldNum" sz="quarter" idx="12"/>
          </p:nvPr>
        </p:nvSpPr>
        <p:spPr/>
        <p:txBody>
          <a:bodyPr/>
          <a:lstStyle/>
          <a:p>
            <a:fld id="{E789814C-B5FD-4D69-9920-FAB9D8D7BD70}" type="slidenum">
              <a:rPr lang="zh-CN" altLang="en-US" smtClean="0"/>
              <a:t>‹#›</a:t>
            </a:fld>
            <a:endParaRPr lang="zh-CN" altLang="en-US"/>
          </a:p>
        </p:txBody>
      </p:sp>
    </p:spTree>
    <p:extLst>
      <p:ext uri="{BB962C8B-B14F-4D97-AF65-F5344CB8AC3E}">
        <p14:creationId xmlns:p14="http://schemas.microsoft.com/office/powerpoint/2010/main" val="29832135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15AB73-D311-A4EF-9503-D6BE89E95CF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D6EF1CE-56A6-906B-C1CE-B3E03BDC5D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D7346A6-C34A-5C0C-ACBA-E9F35B87DB54}"/>
              </a:ext>
            </a:extLst>
          </p:cNvPr>
          <p:cNvSpPr>
            <a:spLocks noGrp="1"/>
          </p:cNvSpPr>
          <p:nvPr>
            <p:ph type="dt" sz="half" idx="10"/>
          </p:nvPr>
        </p:nvSpPr>
        <p:spPr/>
        <p:txBody>
          <a:bodyPr/>
          <a:lstStyle/>
          <a:p>
            <a:fld id="{3D2C407A-297A-49E0-B4EC-735D8C01533B}" type="datetimeFigureOut">
              <a:rPr lang="zh-CN" altLang="en-US" smtClean="0"/>
              <a:t>2024/5/8</a:t>
            </a:fld>
            <a:endParaRPr lang="zh-CN" altLang="en-US"/>
          </a:p>
        </p:txBody>
      </p:sp>
      <p:sp>
        <p:nvSpPr>
          <p:cNvPr id="5" name="页脚占位符 4">
            <a:extLst>
              <a:ext uri="{FF2B5EF4-FFF2-40B4-BE49-F238E27FC236}">
                <a16:creationId xmlns:a16="http://schemas.microsoft.com/office/drawing/2014/main" id="{0B64511F-88F8-39CC-E9A8-DF6CA69527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0AAAB3-8C54-681A-F614-789D71B72C13}"/>
              </a:ext>
            </a:extLst>
          </p:cNvPr>
          <p:cNvSpPr>
            <a:spLocks noGrp="1"/>
          </p:cNvSpPr>
          <p:nvPr>
            <p:ph type="sldNum" sz="quarter" idx="12"/>
          </p:nvPr>
        </p:nvSpPr>
        <p:spPr/>
        <p:txBody>
          <a:bodyPr/>
          <a:lstStyle/>
          <a:p>
            <a:fld id="{E789814C-B5FD-4D69-9920-FAB9D8D7BD70}" type="slidenum">
              <a:rPr lang="zh-CN" altLang="en-US" smtClean="0"/>
              <a:t>‹#›</a:t>
            </a:fld>
            <a:endParaRPr lang="zh-CN" altLang="en-US"/>
          </a:p>
        </p:txBody>
      </p:sp>
    </p:spTree>
    <p:extLst>
      <p:ext uri="{BB962C8B-B14F-4D97-AF65-F5344CB8AC3E}">
        <p14:creationId xmlns:p14="http://schemas.microsoft.com/office/powerpoint/2010/main" val="9543108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114680-1B6D-D061-2B12-1AC6A8D785E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F6532AD-78DE-CF80-F61E-8C5D66AB4CE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E3BA787-F991-48F3-7C88-CE4E5277881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4ACA16A-1277-FE8C-2256-06E06857C6E2}"/>
              </a:ext>
            </a:extLst>
          </p:cNvPr>
          <p:cNvSpPr>
            <a:spLocks noGrp="1"/>
          </p:cNvSpPr>
          <p:nvPr>
            <p:ph type="dt" sz="half" idx="10"/>
          </p:nvPr>
        </p:nvSpPr>
        <p:spPr/>
        <p:txBody>
          <a:bodyPr/>
          <a:lstStyle/>
          <a:p>
            <a:fld id="{3D2C407A-297A-49E0-B4EC-735D8C01533B}" type="datetimeFigureOut">
              <a:rPr lang="zh-CN" altLang="en-US" smtClean="0"/>
              <a:t>2024/5/8</a:t>
            </a:fld>
            <a:endParaRPr lang="zh-CN" altLang="en-US"/>
          </a:p>
        </p:txBody>
      </p:sp>
      <p:sp>
        <p:nvSpPr>
          <p:cNvPr id="6" name="页脚占位符 5">
            <a:extLst>
              <a:ext uri="{FF2B5EF4-FFF2-40B4-BE49-F238E27FC236}">
                <a16:creationId xmlns:a16="http://schemas.microsoft.com/office/drawing/2014/main" id="{CABCF680-34C6-9F45-EB0D-16E4B8985D8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11EDD65-A35B-5734-B94A-F3946F75F681}"/>
              </a:ext>
            </a:extLst>
          </p:cNvPr>
          <p:cNvSpPr>
            <a:spLocks noGrp="1"/>
          </p:cNvSpPr>
          <p:nvPr>
            <p:ph type="sldNum" sz="quarter" idx="12"/>
          </p:nvPr>
        </p:nvSpPr>
        <p:spPr/>
        <p:txBody>
          <a:bodyPr/>
          <a:lstStyle/>
          <a:p>
            <a:fld id="{E789814C-B5FD-4D69-9920-FAB9D8D7BD70}" type="slidenum">
              <a:rPr lang="zh-CN" altLang="en-US" smtClean="0"/>
              <a:t>‹#›</a:t>
            </a:fld>
            <a:endParaRPr lang="zh-CN" altLang="en-US"/>
          </a:p>
        </p:txBody>
      </p:sp>
    </p:spTree>
    <p:extLst>
      <p:ext uri="{BB962C8B-B14F-4D97-AF65-F5344CB8AC3E}">
        <p14:creationId xmlns:p14="http://schemas.microsoft.com/office/powerpoint/2010/main" val="29114293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4CE825-4A84-3A17-202A-D2CE83EFC09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9D7EC1B-A7FB-D4DD-4AB9-93DBF8AE2E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D8F7162-99EE-CC20-7C96-55B76D26142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B610E26-C996-CAC9-1C62-AF656CDE9E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5F2BF05-4801-8881-D42F-927BEE3CA13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4BCD60C-ECD8-4AE4-ADD6-1B364F4E03DC}"/>
              </a:ext>
            </a:extLst>
          </p:cNvPr>
          <p:cNvSpPr>
            <a:spLocks noGrp="1"/>
          </p:cNvSpPr>
          <p:nvPr>
            <p:ph type="dt" sz="half" idx="10"/>
          </p:nvPr>
        </p:nvSpPr>
        <p:spPr/>
        <p:txBody>
          <a:bodyPr/>
          <a:lstStyle/>
          <a:p>
            <a:fld id="{3D2C407A-297A-49E0-B4EC-735D8C01533B}" type="datetimeFigureOut">
              <a:rPr lang="zh-CN" altLang="en-US" smtClean="0"/>
              <a:t>2024/5/8</a:t>
            </a:fld>
            <a:endParaRPr lang="zh-CN" altLang="en-US"/>
          </a:p>
        </p:txBody>
      </p:sp>
      <p:sp>
        <p:nvSpPr>
          <p:cNvPr id="8" name="页脚占位符 7">
            <a:extLst>
              <a:ext uri="{FF2B5EF4-FFF2-40B4-BE49-F238E27FC236}">
                <a16:creationId xmlns:a16="http://schemas.microsoft.com/office/drawing/2014/main" id="{C2A708DA-0FF6-37B7-55DB-53B6B0B160C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7C78CD6-3DF9-997D-8A09-05ED3F11923C}"/>
              </a:ext>
            </a:extLst>
          </p:cNvPr>
          <p:cNvSpPr>
            <a:spLocks noGrp="1"/>
          </p:cNvSpPr>
          <p:nvPr>
            <p:ph type="sldNum" sz="quarter" idx="12"/>
          </p:nvPr>
        </p:nvSpPr>
        <p:spPr/>
        <p:txBody>
          <a:bodyPr/>
          <a:lstStyle/>
          <a:p>
            <a:fld id="{E789814C-B5FD-4D69-9920-FAB9D8D7BD70}" type="slidenum">
              <a:rPr lang="zh-CN" altLang="en-US" smtClean="0"/>
              <a:t>‹#›</a:t>
            </a:fld>
            <a:endParaRPr lang="zh-CN" altLang="en-US"/>
          </a:p>
        </p:txBody>
      </p:sp>
    </p:spTree>
    <p:extLst>
      <p:ext uri="{BB962C8B-B14F-4D97-AF65-F5344CB8AC3E}">
        <p14:creationId xmlns:p14="http://schemas.microsoft.com/office/powerpoint/2010/main" val="39154087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1C8B4D-DF3B-620C-6E01-1ABAB02C649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E85CF25-75E0-6763-7D98-BC90AC73F580}"/>
              </a:ext>
            </a:extLst>
          </p:cNvPr>
          <p:cNvSpPr>
            <a:spLocks noGrp="1"/>
          </p:cNvSpPr>
          <p:nvPr>
            <p:ph type="dt" sz="half" idx="10"/>
          </p:nvPr>
        </p:nvSpPr>
        <p:spPr/>
        <p:txBody>
          <a:bodyPr/>
          <a:lstStyle/>
          <a:p>
            <a:fld id="{3D2C407A-297A-49E0-B4EC-735D8C01533B}" type="datetimeFigureOut">
              <a:rPr lang="zh-CN" altLang="en-US" smtClean="0"/>
              <a:t>2024/5/8</a:t>
            </a:fld>
            <a:endParaRPr lang="zh-CN" altLang="en-US"/>
          </a:p>
        </p:txBody>
      </p:sp>
      <p:sp>
        <p:nvSpPr>
          <p:cNvPr id="4" name="页脚占位符 3">
            <a:extLst>
              <a:ext uri="{FF2B5EF4-FFF2-40B4-BE49-F238E27FC236}">
                <a16:creationId xmlns:a16="http://schemas.microsoft.com/office/drawing/2014/main" id="{455C61F1-DE41-D56B-337E-23C79D5A8E0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67CE5B2-AC89-6CF5-D06E-8911C95E4962}"/>
              </a:ext>
            </a:extLst>
          </p:cNvPr>
          <p:cNvSpPr>
            <a:spLocks noGrp="1"/>
          </p:cNvSpPr>
          <p:nvPr>
            <p:ph type="sldNum" sz="quarter" idx="12"/>
          </p:nvPr>
        </p:nvSpPr>
        <p:spPr/>
        <p:txBody>
          <a:bodyPr/>
          <a:lstStyle/>
          <a:p>
            <a:fld id="{E789814C-B5FD-4D69-9920-FAB9D8D7BD70}" type="slidenum">
              <a:rPr lang="zh-CN" altLang="en-US" smtClean="0"/>
              <a:t>‹#›</a:t>
            </a:fld>
            <a:endParaRPr lang="zh-CN" altLang="en-US"/>
          </a:p>
        </p:txBody>
      </p:sp>
    </p:spTree>
    <p:extLst>
      <p:ext uri="{BB962C8B-B14F-4D97-AF65-F5344CB8AC3E}">
        <p14:creationId xmlns:p14="http://schemas.microsoft.com/office/powerpoint/2010/main" val="22466661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1EE0BF7-FB73-D6E6-091A-10785B14227A}"/>
              </a:ext>
            </a:extLst>
          </p:cNvPr>
          <p:cNvSpPr>
            <a:spLocks noGrp="1"/>
          </p:cNvSpPr>
          <p:nvPr>
            <p:ph type="dt" sz="half" idx="10"/>
          </p:nvPr>
        </p:nvSpPr>
        <p:spPr/>
        <p:txBody>
          <a:bodyPr/>
          <a:lstStyle/>
          <a:p>
            <a:fld id="{3D2C407A-297A-49E0-B4EC-735D8C01533B}" type="datetimeFigureOut">
              <a:rPr lang="zh-CN" altLang="en-US" smtClean="0"/>
              <a:t>2024/5/8</a:t>
            </a:fld>
            <a:endParaRPr lang="zh-CN" altLang="en-US"/>
          </a:p>
        </p:txBody>
      </p:sp>
      <p:sp>
        <p:nvSpPr>
          <p:cNvPr id="3" name="页脚占位符 2">
            <a:extLst>
              <a:ext uri="{FF2B5EF4-FFF2-40B4-BE49-F238E27FC236}">
                <a16:creationId xmlns:a16="http://schemas.microsoft.com/office/drawing/2014/main" id="{3280B32B-A4B9-DDE0-E1FB-930C03C737B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80C31A-85ED-12D3-6259-68359872DC11}"/>
              </a:ext>
            </a:extLst>
          </p:cNvPr>
          <p:cNvSpPr>
            <a:spLocks noGrp="1"/>
          </p:cNvSpPr>
          <p:nvPr>
            <p:ph type="sldNum" sz="quarter" idx="12"/>
          </p:nvPr>
        </p:nvSpPr>
        <p:spPr/>
        <p:txBody>
          <a:bodyPr/>
          <a:lstStyle/>
          <a:p>
            <a:fld id="{E789814C-B5FD-4D69-9920-FAB9D8D7BD70}" type="slidenum">
              <a:rPr lang="zh-CN" altLang="en-US" smtClean="0"/>
              <a:t>‹#›</a:t>
            </a:fld>
            <a:endParaRPr lang="zh-CN" altLang="en-US"/>
          </a:p>
        </p:txBody>
      </p:sp>
    </p:spTree>
    <p:extLst>
      <p:ext uri="{BB962C8B-B14F-4D97-AF65-F5344CB8AC3E}">
        <p14:creationId xmlns:p14="http://schemas.microsoft.com/office/powerpoint/2010/main" val="9012857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6EFF30-EAAB-8BD0-8BAB-9C34A761492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2F33B75-BE98-251F-3F00-F6D00D736C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D1CDE5C-35EB-5A4D-451B-C3CBCC9385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8B31ADF-50B8-B026-818B-F502415781E9}"/>
              </a:ext>
            </a:extLst>
          </p:cNvPr>
          <p:cNvSpPr>
            <a:spLocks noGrp="1"/>
          </p:cNvSpPr>
          <p:nvPr>
            <p:ph type="dt" sz="half" idx="10"/>
          </p:nvPr>
        </p:nvSpPr>
        <p:spPr/>
        <p:txBody>
          <a:bodyPr/>
          <a:lstStyle/>
          <a:p>
            <a:fld id="{3D2C407A-297A-49E0-B4EC-735D8C01533B}" type="datetimeFigureOut">
              <a:rPr lang="zh-CN" altLang="en-US" smtClean="0"/>
              <a:t>2024/5/8</a:t>
            </a:fld>
            <a:endParaRPr lang="zh-CN" altLang="en-US"/>
          </a:p>
        </p:txBody>
      </p:sp>
      <p:sp>
        <p:nvSpPr>
          <p:cNvPr id="6" name="页脚占位符 5">
            <a:extLst>
              <a:ext uri="{FF2B5EF4-FFF2-40B4-BE49-F238E27FC236}">
                <a16:creationId xmlns:a16="http://schemas.microsoft.com/office/drawing/2014/main" id="{0811709D-D95C-0647-DE8A-1871D77989F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902C9CE-F2FA-2D2B-6071-73F08026AB7A}"/>
              </a:ext>
            </a:extLst>
          </p:cNvPr>
          <p:cNvSpPr>
            <a:spLocks noGrp="1"/>
          </p:cNvSpPr>
          <p:nvPr>
            <p:ph type="sldNum" sz="quarter" idx="12"/>
          </p:nvPr>
        </p:nvSpPr>
        <p:spPr/>
        <p:txBody>
          <a:bodyPr/>
          <a:lstStyle/>
          <a:p>
            <a:fld id="{E789814C-B5FD-4D69-9920-FAB9D8D7BD70}" type="slidenum">
              <a:rPr lang="zh-CN" altLang="en-US" smtClean="0"/>
              <a:t>‹#›</a:t>
            </a:fld>
            <a:endParaRPr lang="zh-CN" altLang="en-US"/>
          </a:p>
        </p:txBody>
      </p:sp>
    </p:spTree>
    <p:extLst>
      <p:ext uri="{BB962C8B-B14F-4D97-AF65-F5344CB8AC3E}">
        <p14:creationId xmlns:p14="http://schemas.microsoft.com/office/powerpoint/2010/main" val="4735064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1D2EE6-24FE-F297-588F-8236426B06A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CF13A58-6AC1-998C-571B-AB0C94C045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CAB47C2-4DF2-C10E-F287-6BBFEF3963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6299257-54B6-44F2-7FBC-B0CA28DF666A}"/>
              </a:ext>
            </a:extLst>
          </p:cNvPr>
          <p:cNvSpPr>
            <a:spLocks noGrp="1"/>
          </p:cNvSpPr>
          <p:nvPr>
            <p:ph type="dt" sz="half" idx="10"/>
          </p:nvPr>
        </p:nvSpPr>
        <p:spPr/>
        <p:txBody>
          <a:bodyPr/>
          <a:lstStyle/>
          <a:p>
            <a:fld id="{3D2C407A-297A-49E0-B4EC-735D8C01533B}" type="datetimeFigureOut">
              <a:rPr lang="zh-CN" altLang="en-US" smtClean="0"/>
              <a:t>2024/5/8</a:t>
            </a:fld>
            <a:endParaRPr lang="zh-CN" altLang="en-US"/>
          </a:p>
        </p:txBody>
      </p:sp>
      <p:sp>
        <p:nvSpPr>
          <p:cNvPr id="6" name="页脚占位符 5">
            <a:extLst>
              <a:ext uri="{FF2B5EF4-FFF2-40B4-BE49-F238E27FC236}">
                <a16:creationId xmlns:a16="http://schemas.microsoft.com/office/drawing/2014/main" id="{0AF0AF58-7096-9182-4B8C-80CF0CEE376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81D27E9-CD4F-C032-EEFC-D2D44BA3D122}"/>
              </a:ext>
            </a:extLst>
          </p:cNvPr>
          <p:cNvSpPr>
            <a:spLocks noGrp="1"/>
          </p:cNvSpPr>
          <p:nvPr>
            <p:ph type="sldNum" sz="quarter" idx="12"/>
          </p:nvPr>
        </p:nvSpPr>
        <p:spPr/>
        <p:txBody>
          <a:bodyPr/>
          <a:lstStyle/>
          <a:p>
            <a:fld id="{E789814C-B5FD-4D69-9920-FAB9D8D7BD70}" type="slidenum">
              <a:rPr lang="zh-CN" altLang="en-US" smtClean="0"/>
              <a:t>‹#›</a:t>
            </a:fld>
            <a:endParaRPr lang="zh-CN" altLang="en-US"/>
          </a:p>
        </p:txBody>
      </p:sp>
    </p:spTree>
    <p:extLst>
      <p:ext uri="{BB962C8B-B14F-4D97-AF65-F5344CB8AC3E}">
        <p14:creationId xmlns:p14="http://schemas.microsoft.com/office/powerpoint/2010/main" val="4487673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6837B3-9E6A-0236-3BD6-7CF07D88CA2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2D29A6B-0C2C-1B3A-B128-AFA2F6EE8D3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58481BF-2F50-0108-0F60-5832045922D5}"/>
              </a:ext>
            </a:extLst>
          </p:cNvPr>
          <p:cNvSpPr>
            <a:spLocks noGrp="1"/>
          </p:cNvSpPr>
          <p:nvPr>
            <p:ph type="dt" sz="half" idx="10"/>
          </p:nvPr>
        </p:nvSpPr>
        <p:spPr/>
        <p:txBody>
          <a:bodyPr/>
          <a:lstStyle/>
          <a:p>
            <a:fld id="{3D2C407A-297A-49E0-B4EC-735D8C01533B}" type="datetimeFigureOut">
              <a:rPr lang="zh-CN" altLang="en-US" smtClean="0"/>
              <a:t>2024/5/8</a:t>
            </a:fld>
            <a:endParaRPr lang="zh-CN" altLang="en-US"/>
          </a:p>
        </p:txBody>
      </p:sp>
      <p:sp>
        <p:nvSpPr>
          <p:cNvPr id="5" name="页脚占位符 4">
            <a:extLst>
              <a:ext uri="{FF2B5EF4-FFF2-40B4-BE49-F238E27FC236}">
                <a16:creationId xmlns:a16="http://schemas.microsoft.com/office/drawing/2014/main" id="{141B71EC-C10C-0CE9-9845-6B538C9C999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4433B8-B345-6341-7A2C-87B57BF074BE}"/>
              </a:ext>
            </a:extLst>
          </p:cNvPr>
          <p:cNvSpPr>
            <a:spLocks noGrp="1"/>
          </p:cNvSpPr>
          <p:nvPr>
            <p:ph type="sldNum" sz="quarter" idx="12"/>
          </p:nvPr>
        </p:nvSpPr>
        <p:spPr/>
        <p:txBody>
          <a:bodyPr/>
          <a:lstStyle/>
          <a:p>
            <a:fld id="{E789814C-B5FD-4D69-9920-FAB9D8D7BD70}" type="slidenum">
              <a:rPr lang="zh-CN" altLang="en-US" smtClean="0"/>
              <a:t>‹#›</a:t>
            </a:fld>
            <a:endParaRPr lang="zh-CN" altLang="en-US"/>
          </a:p>
        </p:txBody>
      </p:sp>
    </p:spTree>
    <p:extLst>
      <p:ext uri="{BB962C8B-B14F-4D97-AF65-F5344CB8AC3E}">
        <p14:creationId xmlns:p14="http://schemas.microsoft.com/office/powerpoint/2010/main" val="10028351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635248E-6800-D4CB-325B-16DE63AFC03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67D7BC1-1F65-E962-74A2-AF0822B1DD7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FB04991-7653-6409-4770-6DB40EF75565}"/>
              </a:ext>
            </a:extLst>
          </p:cNvPr>
          <p:cNvSpPr>
            <a:spLocks noGrp="1"/>
          </p:cNvSpPr>
          <p:nvPr>
            <p:ph type="dt" sz="half" idx="10"/>
          </p:nvPr>
        </p:nvSpPr>
        <p:spPr/>
        <p:txBody>
          <a:bodyPr/>
          <a:lstStyle/>
          <a:p>
            <a:fld id="{3D2C407A-297A-49E0-B4EC-735D8C01533B}" type="datetimeFigureOut">
              <a:rPr lang="zh-CN" altLang="en-US" smtClean="0"/>
              <a:t>2024/5/8</a:t>
            </a:fld>
            <a:endParaRPr lang="zh-CN" altLang="en-US"/>
          </a:p>
        </p:txBody>
      </p:sp>
      <p:sp>
        <p:nvSpPr>
          <p:cNvPr id="5" name="页脚占位符 4">
            <a:extLst>
              <a:ext uri="{FF2B5EF4-FFF2-40B4-BE49-F238E27FC236}">
                <a16:creationId xmlns:a16="http://schemas.microsoft.com/office/drawing/2014/main" id="{0277243E-88D0-8BE0-9D23-44049BD3C6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4DF519-F669-B89E-4EC5-FB5C3CACB8B2}"/>
              </a:ext>
            </a:extLst>
          </p:cNvPr>
          <p:cNvSpPr>
            <a:spLocks noGrp="1"/>
          </p:cNvSpPr>
          <p:nvPr>
            <p:ph type="sldNum" sz="quarter" idx="12"/>
          </p:nvPr>
        </p:nvSpPr>
        <p:spPr/>
        <p:txBody>
          <a:bodyPr/>
          <a:lstStyle/>
          <a:p>
            <a:fld id="{E789814C-B5FD-4D69-9920-FAB9D8D7BD70}" type="slidenum">
              <a:rPr lang="zh-CN" altLang="en-US" smtClean="0"/>
              <a:t>‹#›</a:t>
            </a:fld>
            <a:endParaRPr lang="zh-CN" altLang="en-US"/>
          </a:p>
        </p:txBody>
      </p:sp>
    </p:spTree>
    <p:extLst>
      <p:ext uri="{BB962C8B-B14F-4D97-AF65-F5344CB8AC3E}">
        <p14:creationId xmlns:p14="http://schemas.microsoft.com/office/powerpoint/2010/main" val="3044079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319713"/>
      </p:ext>
    </p:extLst>
  </p:cSld>
  <p:clrMap bg1="lt1" tx1="dk1" bg2="lt2" tx2="dk2" accent1="accent1" accent2="accent2" accent3="accent3" accent4="accent4" accent5="accent5" accent6="accent6" hlink="hlink" folHlink="folHlink"/>
  <p:sldLayoutIdLst>
    <p:sldLayoutId id="2147483653"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687" r:id="rId17"/>
    <p:sldLayoutId id="2147483664" r:id="rId18"/>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4917854-7378-3C8A-1F48-8E279B6F2F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F52FBCE0-C0A2-84C7-2EA8-5A0BD8F5D9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52072A46-4E56-C242-263E-FD9116FF0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2C407A-297A-49E0-B4EC-735D8C01533B}" type="datetimeFigureOut">
              <a:rPr lang="zh-CN" altLang="en-US" smtClean="0"/>
              <a:t>2024/5/8</a:t>
            </a:fld>
            <a:endParaRPr lang="zh-CN" altLang="en-US"/>
          </a:p>
        </p:txBody>
      </p:sp>
      <p:sp>
        <p:nvSpPr>
          <p:cNvPr id="5" name="页脚占位符 4">
            <a:extLst>
              <a:ext uri="{FF2B5EF4-FFF2-40B4-BE49-F238E27FC236}">
                <a16:creationId xmlns:a16="http://schemas.microsoft.com/office/drawing/2014/main" id="{BC8AD331-142F-70D0-4916-8754459120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B888518-04FC-3707-4E83-D229ADC5A8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89814C-B5FD-4D69-9920-FAB9D8D7BD70}" type="slidenum">
              <a:rPr lang="zh-CN" altLang="en-US" smtClean="0"/>
              <a:t>‹#›</a:t>
            </a:fld>
            <a:endParaRPr lang="zh-CN" altLang="en-US"/>
          </a:p>
        </p:txBody>
      </p:sp>
    </p:spTree>
    <p:extLst>
      <p:ext uri="{BB962C8B-B14F-4D97-AF65-F5344CB8AC3E}">
        <p14:creationId xmlns:p14="http://schemas.microsoft.com/office/powerpoint/2010/main" val="3715057696"/>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32.jpe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6.xml"/><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60.png"/><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2F4EECF-F122-4315-8E6D-0301A5823827}"/>
              </a:ext>
            </a:extLst>
          </p:cNvPr>
          <p:cNvSpPr txBox="1"/>
          <p:nvPr userDrawn="1"/>
        </p:nvSpPr>
        <p:spPr>
          <a:xfrm>
            <a:off x="5864992" y="1227946"/>
            <a:ext cx="6327007" cy="3046988"/>
          </a:xfrm>
          <a:prstGeom prst="rect">
            <a:avLst/>
          </a:prstGeom>
          <a:noFill/>
          <a:effectLst/>
        </p:spPr>
        <p:txBody>
          <a:bodyPr wrap="square" rtlCol="0" anchor="ctr" anchorCtr="0">
            <a:spAutoFit/>
          </a:bodyPr>
          <a:lstStyle/>
          <a:p>
            <a:pPr algn="ctr"/>
            <a:r>
              <a:rPr lang="en-US" altLang="ko-KR" sz="4800" dirty="0">
                <a:solidFill>
                  <a:srgbClr val="AD9485"/>
                </a:solidFill>
                <a:latin typeface="Times New Roman" panose="02020603050405020304" pitchFamily="18" charset="0"/>
                <a:ea typeface="宋体" panose="02010600030101010101" pitchFamily="2" charset="-122"/>
                <a:cs typeface="Arial" panose="020B0604020202020204" pitchFamily="34" charset="0"/>
              </a:rPr>
              <a:t>Ancient poetry generation system based on pre-trained BERT model </a:t>
            </a:r>
            <a:endParaRPr lang="ko-KR" altLang="en-US" sz="5400" dirty="0">
              <a:solidFill>
                <a:schemeClr val="tx1">
                  <a:lumMod val="75000"/>
                  <a:lumOff val="25000"/>
                </a:schemeClr>
              </a:solidFill>
              <a:latin typeface="Times New Roman" panose="02020603050405020304" pitchFamily="18" charset="0"/>
              <a:cs typeface="Arial" panose="020B0604020202020204" pitchFamily="34" charset="0"/>
            </a:endParaRPr>
          </a:p>
        </p:txBody>
      </p:sp>
      <p:sp>
        <p:nvSpPr>
          <p:cNvPr id="7" name="TextBox 6">
            <a:extLst>
              <a:ext uri="{FF2B5EF4-FFF2-40B4-BE49-F238E27FC236}">
                <a16:creationId xmlns:a16="http://schemas.microsoft.com/office/drawing/2014/main" id="{C400A266-F5BB-48B4-A8A8-A5B5212C1932}"/>
              </a:ext>
            </a:extLst>
          </p:cNvPr>
          <p:cNvSpPr txBox="1"/>
          <p:nvPr userDrawn="1"/>
        </p:nvSpPr>
        <p:spPr>
          <a:xfrm>
            <a:off x="5864992" y="4392087"/>
            <a:ext cx="6327006" cy="1015663"/>
          </a:xfrm>
          <a:prstGeom prst="rect">
            <a:avLst/>
          </a:prstGeom>
          <a:noFill/>
        </p:spPr>
        <p:txBody>
          <a:bodyPr wrap="square" rtlCol="0" anchor="ctr" anchorCtr="0">
            <a:spAutoFit/>
          </a:bodyPr>
          <a:lstStyle/>
          <a:p>
            <a:pPr algn="ctr"/>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cs typeface="Arial" panose="020B0604020202020204" pitchFamily="34" charset="0"/>
              </a:rPr>
              <a:t>Student Name : ZHU YANYAN</a:t>
            </a:r>
          </a:p>
          <a:p>
            <a:pPr algn="ctr"/>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cs typeface="Arial" panose="020B0604020202020204" pitchFamily="34" charset="0"/>
              </a:rPr>
              <a:t>Student No : 20098533-I011-0031</a:t>
            </a:r>
          </a:p>
          <a:p>
            <a:pPr algn="ctr"/>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cs typeface="Arial" panose="020B0604020202020204" pitchFamily="34" charset="0"/>
              </a:rPr>
              <a:t>Supervisor : LIANG ZHIYAO </a:t>
            </a:r>
          </a:p>
        </p:txBody>
      </p:sp>
      <p:sp>
        <p:nvSpPr>
          <p:cNvPr id="8" name="사각형: 둥근 모서리 7">
            <a:extLst>
              <a:ext uri="{FF2B5EF4-FFF2-40B4-BE49-F238E27FC236}">
                <a16:creationId xmlns:a16="http://schemas.microsoft.com/office/drawing/2014/main" id="{90F6DDED-E88C-4902-9FFE-CD257A282FDD}"/>
              </a:ext>
            </a:extLst>
          </p:cNvPr>
          <p:cNvSpPr/>
          <p:nvPr userDrawn="1"/>
        </p:nvSpPr>
        <p:spPr>
          <a:xfrm>
            <a:off x="7263195" y="5578523"/>
            <a:ext cx="3530600" cy="504368"/>
          </a:xfrm>
          <a:prstGeom prst="roundRect">
            <a:avLst>
              <a:gd name="adj" fmla="val 50000"/>
            </a:avLst>
          </a:prstGeom>
          <a:solidFill>
            <a:srgbClr val="AD94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altLang="ko-KR" dirty="0">
                <a:solidFill>
                  <a:schemeClr val="bg1"/>
                </a:solidFill>
                <a:latin typeface="Times New Roman" panose="02020603050405020304" pitchFamily="18" charset="0"/>
                <a:ea typeface="宋体" panose="02010600030101010101" pitchFamily="2" charset="-122"/>
              </a:rPr>
              <a:t>2024.05. 08 </a:t>
            </a:r>
            <a:endParaRPr lang="ko-KR" altLang="en-US" dirty="0">
              <a:solidFill>
                <a:schemeClr val="bg1"/>
              </a:solidFill>
              <a:latin typeface="Times New Roman" panose="02020603050405020304" pitchFamily="18" charset="0"/>
            </a:endParaRPr>
          </a:p>
        </p:txBody>
      </p:sp>
      <p:pic>
        <p:nvPicPr>
          <p:cNvPr id="1026" name="Picture 2" descr="中国古诗词插画配图_小猪君-站酷ZCOOL">
            <a:extLst>
              <a:ext uri="{FF2B5EF4-FFF2-40B4-BE49-F238E27FC236}">
                <a16:creationId xmlns:a16="http://schemas.microsoft.com/office/drawing/2014/main" id="{FD4D1BF9-1286-C1E0-B10A-F119D53F89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38" y="1"/>
            <a:ext cx="6083198" cy="7402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5140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a:extLst>
              <a:ext uri="{FF2B5EF4-FFF2-40B4-BE49-F238E27FC236}">
                <a16:creationId xmlns:a16="http://schemas.microsoft.com/office/drawing/2014/main" id="{E8B016C1-9BBE-434E-A37A-597D99A33AD4}"/>
              </a:ext>
            </a:extLst>
          </p:cNvPr>
          <p:cNvSpPr txBox="1"/>
          <p:nvPr/>
        </p:nvSpPr>
        <p:spPr>
          <a:xfrm>
            <a:off x="2006599" y="1502929"/>
            <a:ext cx="8178802" cy="646331"/>
          </a:xfrm>
          <a:prstGeom prst="rect">
            <a:avLst/>
          </a:prstGeom>
          <a:noFill/>
          <a:effectLst/>
        </p:spPr>
        <p:txBody>
          <a:bodyPr wrap="square" rtlCol="0">
            <a:spAutoFit/>
          </a:bodyPr>
          <a:lstStyle>
            <a:defPPr>
              <a:defRPr lang="ko-KR"/>
            </a:defPPr>
            <a:lvl1pPr>
              <a:defRPr sz="3200" b="1">
                <a:latin typeface="Arial Black" panose="020B0A04020102020204" pitchFamily="34" charset="0"/>
                <a:cs typeface="Arial" panose="020B0604020202020204" pitchFamily="34" charset="0"/>
              </a:defRPr>
            </a:lvl1pPr>
          </a:lstStyle>
          <a:p>
            <a:pPr algn="ctr"/>
            <a:r>
              <a:rPr lang="en-US" altLang="ko-KR" sz="3600" b="0" dirty="0">
                <a:solidFill>
                  <a:srgbClr val="AD9485"/>
                </a:solidFill>
                <a:latin typeface="Times New Roman" panose="02020603050405020304" pitchFamily="18" charset="0"/>
                <a:ea typeface="宋体" panose="02010600030101010101" pitchFamily="2" charset="-122"/>
              </a:rPr>
              <a:t>Contents</a:t>
            </a:r>
            <a:endParaRPr lang="ko-KR" altLang="en-US" sz="3600" b="0" dirty="0">
              <a:solidFill>
                <a:srgbClr val="AD9485"/>
              </a:solidFill>
              <a:latin typeface="Times New Roman" panose="02020603050405020304" pitchFamily="18" charset="0"/>
            </a:endParaRPr>
          </a:p>
        </p:txBody>
      </p:sp>
      <p:sp>
        <p:nvSpPr>
          <p:cNvPr id="17" name="직사각형 16">
            <a:extLst>
              <a:ext uri="{FF2B5EF4-FFF2-40B4-BE49-F238E27FC236}">
                <a16:creationId xmlns:a16="http://schemas.microsoft.com/office/drawing/2014/main" id="{217B29B1-D077-49B6-9F97-DC59FC5463EB}"/>
              </a:ext>
            </a:extLst>
          </p:cNvPr>
          <p:cNvSpPr/>
          <p:nvPr/>
        </p:nvSpPr>
        <p:spPr>
          <a:xfrm>
            <a:off x="845024" y="3154018"/>
            <a:ext cx="2153310" cy="707886"/>
          </a:xfrm>
          <a:prstGeom prst="rect">
            <a:avLst/>
          </a:prstGeom>
        </p:spPr>
        <p:txBody>
          <a:bodyPr wrap="square">
            <a:spAutoFit/>
          </a:bodyPr>
          <a:lstStyle/>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Background and motivation</a:t>
            </a:r>
            <a:endParaRPr lang="ko-KR" altLang="en-US" sz="2000" dirty="0">
              <a:solidFill>
                <a:schemeClr val="tx1">
                  <a:lumMod val="75000"/>
                  <a:lumOff val="25000"/>
                </a:schemeClr>
              </a:solidFill>
              <a:latin typeface="Times New Roman" panose="02020603050405020304" pitchFamily="18" charset="0"/>
            </a:endParaRPr>
          </a:p>
        </p:txBody>
      </p:sp>
      <p:sp>
        <p:nvSpPr>
          <p:cNvPr id="18" name="직사각형 17">
            <a:extLst>
              <a:ext uri="{FF2B5EF4-FFF2-40B4-BE49-F238E27FC236}">
                <a16:creationId xmlns:a16="http://schemas.microsoft.com/office/drawing/2014/main" id="{09E7235B-042F-4875-AEEE-9A034EC03A2E}"/>
              </a:ext>
            </a:extLst>
          </p:cNvPr>
          <p:cNvSpPr/>
          <p:nvPr/>
        </p:nvSpPr>
        <p:spPr>
          <a:xfrm>
            <a:off x="906704" y="2698382"/>
            <a:ext cx="1099895" cy="400110"/>
          </a:xfrm>
          <a:prstGeom prst="rect">
            <a:avLst/>
          </a:prstGeom>
        </p:spPr>
        <p:txBody>
          <a:bodyPr wrap="square">
            <a:spAutoFit/>
          </a:bodyPr>
          <a:lstStyle/>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01</a:t>
            </a:r>
            <a:endParaRPr lang="ko-KR" altLang="en-US" sz="2000" dirty="0">
              <a:solidFill>
                <a:schemeClr val="tx1">
                  <a:lumMod val="75000"/>
                  <a:lumOff val="25000"/>
                </a:schemeClr>
              </a:solidFill>
              <a:latin typeface="Times New Roman" panose="02020603050405020304" pitchFamily="18" charset="0"/>
            </a:endParaRPr>
          </a:p>
        </p:txBody>
      </p:sp>
      <p:sp>
        <p:nvSpPr>
          <p:cNvPr id="20" name="직사각형 19">
            <a:extLst>
              <a:ext uri="{FF2B5EF4-FFF2-40B4-BE49-F238E27FC236}">
                <a16:creationId xmlns:a16="http://schemas.microsoft.com/office/drawing/2014/main" id="{4C6F5F0A-5DC6-4A6F-AC0A-3AD9638155CF}"/>
              </a:ext>
            </a:extLst>
          </p:cNvPr>
          <p:cNvSpPr/>
          <p:nvPr/>
        </p:nvSpPr>
        <p:spPr>
          <a:xfrm>
            <a:off x="3174560" y="3124396"/>
            <a:ext cx="2153309" cy="1323439"/>
          </a:xfrm>
          <a:prstGeom prst="rect">
            <a:avLst/>
          </a:prstGeom>
        </p:spPr>
        <p:txBody>
          <a:bodyPr wrap="square">
            <a:spAutoFit/>
          </a:bodyPr>
          <a:lstStyle/>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Introduction to operating conditions and architecture</a:t>
            </a:r>
            <a:endParaRPr lang="ko-KR" altLang="en-US" sz="2000" dirty="0">
              <a:solidFill>
                <a:schemeClr val="tx1">
                  <a:lumMod val="75000"/>
                  <a:lumOff val="25000"/>
                </a:schemeClr>
              </a:solidFill>
              <a:latin typeface="Times New Roman" panose="02020603050405020304" pitchFamily="18" charset="0"/>
            </a:endParaRPr>
          </a:p>
        </p:txBody>
      </p:sp>
      <p:sp>
        <p:nvSpPr>
          <p:cNvPr id="21" name="직사각형 20">
            <a:extLst>
              <a:ext uri="{FF2B5EF4-FFF2-40B4-BE49-F238E27FC236}">
                <a16:creationId xmlns:a16="http://schemas.microsoft.com/office/drawing/2014/main" id="{EEE9D1B3-5D46-430F-8BA8-0437596CE474}"/>
              </a:ext>
            </a:extLst>
          </p:cNvPr>
          <p:cNvSpPr/>
          <p:nvPr/>
        </p:nvSpPr>
        <p:spPr>
          <a:xfrm>
            <a:off x="3174560" y="2699283"/>
            <a:ext cx="1099895" cy="400110"/>
          </a:xfrm>
          <a:prstGeom prst="rect">
            <a:avLst/>
          </a:prstGeom>
        </p:spPr>
        <p:txBody>
          <a:bodyPr wrap="square">
            <a:spAutoFit/>
          </a:bodyPr>
          <a:lstStyle/>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02</a:t>
            </a:r>
            <a:endParaRPr lang="ko-KR" altLang="en-US" sz="2000" dirty="0">
              <a:solidFill>
                <a:schemeClr val="tx1">
                  <a:lumMod val="75000"/>
                  <a:lumOff val="25000"/>
                </a:schemeClr>
              </a:solidFill>
              <a:latin typeface="Times New Roman" panose="02020603050405020304" pitchFamily="18" charset="0"/>
            </a:endParaRPr>
          </a:p>
        </p:txBody>
      </p:sp>
      <p:sp>
        <p:nvSpPr>
          <p:cNvPr id="22" name="TextBox 21">
            <a:extLst>
              <a:ext uri="{FF2B5EF4-FFF2-40B4-BE49-F238E27FC236}">
                <a16:creationId xmlns:a16="http://schemas.microsoft.com/office/drawing/2014/main" id="{081016EC-6E27-4FE7-A2F5-ED5D8C65AECD}"/>
              </a:ext>
            </a:extLst>
          </p:cNvPr>
          <p:cNvSpPr txBox="1"/>
          <p:nvPr/>
        </p:nvSpPr>
        <p:spPr>
          <a:xfrm>
            <a:off x="5995902" y="4598367"/>
            <a:ext cx="2394763" cy="738664"/>
          </a:xfrm>
          <a:prstGeom prst="rect">
            <a:avLst/>
          </a:prstGeom>
          <a:noFill/>
        </p:spPr>
        <p:txBody>
          <a:bodyPr wrap="square" rtlCol="0">
            <a:spAutoFit/>
          </a:bodyPr>
          <a:lstStyle/>
          <a:p>
            <a:pPr marL="171450" indent="-171450">
              <a:buFont typeface="Wingdings" panose="05000000000000000000" pitchFamily="2" charset="2"/>
              <a:buChar char="§"/>
            </a:pPr>
            <a:r>
              <a:rPr lang="en-US" altLang="ko-KR" sz="1400" dirty="0">
                <a:solidFill>
                  <a:schemeClr val="tx1">
                    <a:lumMod val="75000"/>
                    <a:lumOff val="25000"/>
                  </a:schemeClr>
                </a:solidFill>
                <a:latin typeface="Times New Roman" panose="02020603050405020304" pitchFamily="18" charset="0"/>
                <a:ea typeface="宋体" panose="02010600030101010101" pitchFamily="2" charset="-122"/>
              </a:rPr>
              <a:t>Implementation principle and necessary steps</a:t>
            </a:r>
          </a:p>
          <a:p>
            <a:pPr marL="171450" indent="-171450">
              <a:buFont typeface="Wingdings" panose="05000000000000000000" pitchFamily="2" charset="2"/>
              <a:buChar char="§"/>
            </a:pPr>
            <a:r>
              <a:rPr lang="en-US" altLang="ko-KR" sz="1400" dirty="0">
                <a:solidFill>
                  <a:schemeClr val="tx1">
                    <a:lumMod val="75000"/>
                    <a:lumOff val="25000"/>
                  </a:schemeClr>
                </a:solidFill>
                <a:latin typeface="Times New Roman" panose="02020603050405020304" pitchFamily="18" charset="0"/>
                <a:ea typeface="宋体" panose="02010600030101010101" pitchFamily="2" charset="-122"/>
              </a:rPr>
              <a:t>Error analysis</a:t>
            </a:r>
            <a:endParaRPr lang="ko-KR" altLang="en-US" sz="1400" dirty="0">
              <a:solidFill>
                <a:schemeClr val="tx1">
                  <a:lumMod val="75000"/>
                  <a:lumOff val="25000"/>
                </a:schemeClr>
              </a:solidFill>
              <a:latin typeface="Times New Roman" panose="02020603050405020304" pitchFamily="18" charset="0"/>
            </a:endParaRPr>
          </a:p>
        </p:txBody>
      </p:sp>
      <p:sp>
        <p:nvSpPr>
          <p:cNvPr id="23" name="직사각형 22">
            <a:extLst>
              <a:ext uri="{FF2B5EF4-FFF2-40B4-BE49-F238E27FC236}">
                <a16:creationId xmlns:a16="http://schemas.microsoft.com/office/drawing/2014/main" id="{516FA922-9D9A-49E2-AAC8-2EC7F9641CB2}"/>
              </a:ext>
            </a:extLst>
          </p:cNvPr>
          <p:cNvSpPr/>
          <p:nvPr/>
        </p:nvSpPr>
        <p:spPr>
          <a:xfrm>
            <a:off x="5995903" y="3124396"/>
            <a:ext cx="2394763" cy="1015663"/>
          </a:xfrm>
          <a:prstGeom prst="rect">
            <a:avLst/>
          </a:prstGeom>
        </p:spPr>
        <p:txBody>
          <a:bodyPr wrap="square">
            <a:spAutoFit/>
          </a:bodyPr>
          <a:lstStyle/>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The use of </a:t>
            </a:r>
            <a:r>
              <a:rPr lang="en-US" altLang="ko-KR" sz="2000" dirty="0" err="1">
                <a:solidFill>
                  <a:schemeClr val="tx1">
                    <a:lumMod val="75000"/>
                    <a:lumOff val="25000"/>
                  </a:schemeClr>
                </a:solidFill>
                <a:latin typeface="Times New Roman" panose="02020603050405020304" pitchFamily="18" charset="0"/>
                <a:ea typeface="宋体" panose="02010600030101010101" pitchFamily="2" charset="-122"/>
              </a:rPr>
              <a:t>bert</a:t>
            </a:r>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-base-Chinese attempts to generate poetry</a:t>
            </a:r>
            <a:endParaRPr lang="ko-KR" altLang="en-US" sz="2000" dirty="0">
              <a:solidFill>
                <a:schemeClr val="tx1">
                  <a:lumMod val="75000"/>
                  <a:lumOff val="25000"/>
                </a:schemeClr>
              </a:solidFill>
              <a:latin typeface="Times New Roman" panose="02020603050405020304" pitchFamily="18" charset="0"/>
            </a:endParaRPr>
          </a:p>
        </p:txBody>
      </p:sp>
      <p:sp>
        <p:nvSpPr>
          <p:cNvPr id="24" name="직사각형 23">
            <a:extLst>
              <a:ext uri="{FF2B5EF4-FFF2-40B4-BE49-F238E27FC236}">
                <a16:creationId xmlns:a16="http://schemas.microsoft.com/office/drawing/2014/main" id="{5777A08B-D1F3-405D-9B70-FEEA35AFD846}"/>
              </a:ext>
            </a:extLst>
          </p:cNvPr>
          <p:cNvSpPr/>
          <p:nvPr/>
        </p:nvSpPr>
        <p:spPr>
          <a:xfrm>
            <a:off x="5995903" y="2699283"/>
            <a:ext cx="1099895" cy="400110"/>
          </a:xfrm>
          <a:prstGeom prst="rect">
            <a:avLst/>
          </a:prstGeom>
        </p:spPr>
        <p:txBody>
          <a:bodyPr wrap="square">
            <a:spAutoFit/>
          </a:bodyPr>
          <a:lstStyle/>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03</a:t>
            </a:r>
            <a:endParaRPr lang="ko-KR" altLang="en-US" sz="2000" dirty="0">
              <a:solidFill>
                <a:schemeClr val="tx1">
                  <a:lumMod val="75000"/>
                  <a:lumOff val="25000"/>
                </a:schemeClr>
              </a:solidFill>
              <a:latin typeface="Times New Roman" panose="02020603050405020304" pitchFamily="18" charset="0"/>
            </a:endParaRPr>
          </a:p>
        </p:txBody>
      </p:sp>
      <p:sp>
        <p:nvSpPr>
          <p:cNvPr id="4" name="TextBox 21">
            <a:extLst>
              <a:ext uri="{FF2B5EF4-FFF2-40B4-BE49-F238E27FC236}">
                <a16:creationId xmlns:a16="http://schemas.microsoft.com/office/drawing/2014/main" id="{745B4320-2B81-3039-8FD9-24848A61862D}"/>
              </a:ext>
            </a:extLst>
          </p:cNvPr>
          <p:cNvSpPr txBox="1"/>
          <p:nvPr/>
        </p:nvSpPr>
        <p:spPr>
          <a:xfrm>
            <a:off x="8464605" y="4447835"/>
            <a:ext cx="3206151" cy="738664"/>
          </a:xfrm>
          <a:prstGeom prst="rect">
            <a:avLst/>
          </a:prstGeom>
          <a:noFill/>
        </p:spPr>
        <p:txBody>
          <a:bodyPr wrap="square" rtlCol="0">
            <a:spAutoFit/>
          </a:bodyPr>
          <a:lstStyle/>
          <a:p>
            <a:pPr marL="171450" indent="-171450">
              <a:buFont typeface="Wingdings" panose="05000000000000000000" pitchFamily="2" charset="2"/>
              <a:buChar char="§"/>
            </a:pPr>
            <a:r>
              <a:rPr lang="en-US" altLang="ko-KR" sz="1400" dirty="0">
                <a:solidFill>
                  <a:schemeClr val="tx1">
                    <a:lumMod val="75000"/>
                    <a:lumOff val="25000"/>
                  </a:schemeClr>
                </a:solidFill>
                <a:latin typeface="Times New Roman" panose="02020603050405020304" pitchFamily="18" charset="0"/>
                <a:ea typeface="宋体" panose="02010600030101010101" pitchFamily="2" charset="-122"/>
              </a:rPr>
              <a:t>Code </a:t>
            </a:r>
            <a:r>
              <a:rPr lang="en-US" altLang="ko-KR" sz="1400" dirty="0" err="1">
                <a:solidFill>
                  <a:schemeClr val="tx1">
                    <a:lumMod val="75000"/>
                    <a:lumOff val="25000"/>
                  </a:schemeClr>
                </a:solidFill>
                <a:latin typeface="Times New Roman" panose="02020603050405020304" pitchFamily="18" charset="0"/>
                <a:ea typeface="宋体" panose="02010600030101010101" pitchFamily="2" charset="-122"/>
              </a:rPr>
              <a:t>explaination</a:t>
            </a:r>
            <a:endParaRPr lang="en-US" altLang="ko-KR" sz="1400" dirty="0">
              <a:solidFill>
                <a:schemeClr val="tx1">
                  <a:lumMod val="75000"/>
                  <a:lumOff val="25000"/>
                </a:schemeClr>
              </a:solidFill>
              <a:latin typeface="Times New Roman" panose="02020603050405020304" pitchFamily="18" charset="0"/>
              <a:ea typeface="宋体" panose="02010600030101010101" pitchFamily="2" charset="-122"/>
            </a:endParaRPr>
          </a:p>
          <a:p>
            <a:pPr marL="171450" indent="-171450">
              <a:buFont typeface="Wingdings" panose="05000000000000000000" pitchFamily="2" charset="2"/>
              <a:buChar char="§"/>
            </a:pPr>
            <a:r>
              <a:rPr lang="en-US" altLang="ko-KR" sz="1400" dirty="0">
                <a:solidFill>
                  <a:schemeClr val="tx1">
                    <a:lumMod val="75000"/>
                    <a:lumOff val="25000"/>
                  </a:schemeClr>
                </a:solidFill>
                <a:latin typeface="Times New Roman" panose="02020603050405020304" pitchFamily="18" charset="0"/>
                <a:ea typeface="宋体" panose="02010600030101010101" pitchFamily="2" charset="-122"/>
              </a:rPr>
              <a:t>Results</a:t>
            </a:r>
          </a:p>
          <a:p>
            <a:pPr marL="171450" indent="-171450">
              <a:buFont typeface="Wingdings" panose="05000000000000000000" pitchFamily="2" charset="2"/>
              <a:buChar char="§"/>
            </a:pPr>
            <a:r>
              <a:rPr lang="en-US" altLang="ko-KR" sz="1400" dirty="0">
                <a:solidFill>
                  <a:schemeClr val="tx1">
                    <a:lumMod val="75000"/>
                    <a:lumOff val="25000"/>
                  </a:schemeClr>
                </a:solidFill>
                <a:latin typeface="Times New Roman" panose="02020603050405020304" pitchFamily="18" charset="0"/>
                <a:ea typeface="宋体" panose="02010600030101010101" pitchFamily="2" charset="-122"/>
              </a:rPr>
              <a:t>Q&amp;A</a:t>
            </a:r>
            <a:endParaRPr lang="ko-KR" altLang="en-US" sz="1400" dirty="0">
              <a:solidFill>
                <a:schemeClr val="tx1">
                  <a:lumMod val="75000"/>
                  <a:lumOff val="25000"/>
                </a:schemeClr>
              </a:solidFill>
              <a:latin typeface="Times New Roman" panose="02020603050405020304" pitchFamily="18" charset="0"/>
            </a:endParaRPr>
          </a:p>
        </p:txBody>
      </p:sp>
      <p:sp>
        <p:nvSpPr>
          <p:cNvPr id="5" name="직사각형 22">
            <a:extLst>
              <a:ext uri="{FF2B5EF4-FFF2-40B4-BE49-F238E27FC236}">
                <a16:creationId xmlns:a16="http://schemas.microsoft.com/office/drawing/2014/main" id="{D14963A8-E1B6-29F8-6F9F-0CB906344258}"/>
              </a:ext>
            </a:extLst>
          </p:cNvPr>
          <p:cNvSpPr/>
          <p:nvPr/>
        </p:nvSpPr>
        <p:spPr>
          <a:xfrm>
            <a:off x="8464605" y="3124396"/>
            <a:ext cx="3206151" cy="707886"/>
          </a:xfrm>
          <a:prstGeom prst="rect">
            <a:avLst/>
          </a:prstGeom>
        </p:spPr>
        <p:txBody>
          <a:bodyPr wrap="square">
            <a:spAutoFit/>
          </a:bodyPr>
          <a:lstStyle/>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Poetry generation using paddle framework</a:t>
            </a:r>
            <a:endParaRPr lang="ko-KR" altLang="en-US" sz="2000" dirty="0">
              <a:solidFill>
                <a:schemeClr val="tx1">
                  <a:lumMod val="75000"/>
                  <a:lumOff val="25000"/>
                </a:schemeClr>
              </a:solidFill>
              <a:latin typeface="Times New Roman" panose="02020603050405020304" pitchFamily="18" charset="0"/>
            </a:endParaRPr>
          </a:p>
        </p:txBody>
      </p:sp>
      <p:sp>
        <p:nvSpPr>
          <p:cNvPr id="6" name="직사각형 23">
            <a:extLst>
              <a:ext uri="{FF2B5EF4-FFF2-40B4-BE49-F238E27FC236}">
                <a16:creationId xmlns:a16="http://schemas.microsoft.com/office/drawing/2014/main" id="{DCD0F08F-9925-7E6F-A524-98E4FFC0DD88}"/>
              </a:ext>
            </a:extLst>
          </p:cNvPr>
          <p:cNvSpPr/>
          <p:nvPr/>
        </p:nvSpPr>
        <p:spPr>
          <a:xfrm>
            <a:off x="8464605" y="2699283"/>
            <a:ext cx="1099895" cy="400110"/>
          </a:xfrm>
          <a:prstGeom prst="rect">
            <a:avLst/>
          </a:prstGeom>
        </p:spPr>
        <p:txBody>
          <a:bodyPr wrap="square">
            <a:spAutoFit/>
          </a:bodyPr>
          <a:lstStyle/>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03</a:t>
            </a:r>
            <a:endParaRPr lang="ko-KR" altLang="en-US" sz="2000" dirty="0">
              <a:solidFill>
                <a:schemeClr val="tx1">
                  <a:lumMod val="75000"/>
                  <a:lumOff val="25000"/>
                </a:schemeClr>
              </a:solidFill>
              <a:latin typeface="Times New Roman" panose="02020603050405020304" pitchFamily="18" charset="0"/>
            </a:endParaRPr>
          </a:p>
        </p:txBody>
      </p:sp>
    </p:spTree>
    <p:extLst>
      <p:ext uri="{BB962C8B-B14F-4D97-AF65-F5344CB8AC3E}">
        <p14:creationId xmlns:p14="http://schemas.microsoft.com/office/powerpoint/2010/main" val="1309280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9EF7D3-E137-469A-9D77-6611B6F39593}"/>
              </a:ext>
            </a:extLst>
          </p:cNvPr>
          <p:cNvSpPr txBox="1"/>
          <p:nvPr/>
        </p:nvSpPr>
        <p:spPr>
          <a:xfrm>
            <a:off x="4440569" y="2705725"/>
            <a:ext cx="3619214" cy="1446550"/>
          </a:xfrm>
          <a:prstGeom prst="rect">
            <a:avLst/>
          </a:prstGeom>
          <a:noFill/>
        </p:spPr>
        <p:txBody>
          <a:bodyPr wrap="square" rtlCol="0" anchor="ctr" anchorCtr="0">
            <a:spAutoFit/>
          </a:bodyPr>
          <a:lstStyle/>
          <a:p>
            <a:r>
              <a:rPr lang="en-US" altLang="ko-KR" sz="4400" dirty="0">
                <a:solidFill>
                  <a:schemeClr val="tx1">
                    <a:lumMod val="75000"/>
                    <a:lumOff val="25000"/>
                  </a:schemeClr>
                </a:solidFill>
                <a:latin typeface="Times New Roman" panose="02020603050405020304" pitchFamily="18" charset="0"/>
                <a:ea typeface="宋体" panose="02010600030101010101" pitchFamily="2" charset="-122"/>
              </a:rPr>
              <a:t>Background and motivation</a:t>
            </a:r>
            <a:endParaRPr lang="ko-KR" altLang="en-US" sz="4400" dirty="0">
              <a:solidFill>
                <a:schemeClr val="tx1">
                  <a:lumMod val="75000"/>
                  <a:lumOff val="25000"/>
                </a:schemeClr>
              </a:solidFill>
              <a:latin typeface="Times New Roman" panose="02020603050405020304" pitchFamily="18" charset="0"/>
            </a:endParaRPr>
          </a:p>
        </p:txBody>
      </p:sp>
    </p:spTree>
    <p:extLst>
      <p:ext uri="{BB962C8B-B14F-4D97-AF65-F5344CB8AC3E}">
        <p14:creationId xmlns:p14="http://schemas.microsoft.com/office/powerpoint/2010/main" val="1198794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290A4A-3225-4A9F-BC64-9BD7AAD00539}"/>
              </a:ext>
            </a:extLst>
          </p:cNvPr>
          <p:cNvSpPr txBox="1"/>
          <p:nvPr/>
        </p:nvSpPr>
        <p:spPr>
          <a:xfrm>
            <a:off x="2766660" y="590521"/>
            <a:ext cx="7222548" cy="523220"/>
          </a:xfrm>
          <a:prstGeom prst="rect">
            <a:avLst/>
          </a:prstGeom>
          <a:noFill/>
        </p:spPr>
        <p:txBody>
          <a:bodyPr wrap="square" rtlCol="0">
            <a:spAutoFit/>
          </a:bodyPr>
          <a:lstStyle/>
          <a:p>
            <a:pPr algn="ctr"/>
            <a:r>
              <a:rPr lang="en-US" altLang="zh-CN" sz="2800" dirty="0">
                <a:solidFill>
                  <a:srgbClr val="AD9485"/>
                </a:solidFill>
                <a:latin typeface="Times New Roman" panose="02020603050405020304" pitchFamily="18" charset="0"/>
                <a:ea typeface="宋体" panose="02010600030101010101" pitchFamily="2" charset="-122"/>
                <a:cs typeface="Arial" panose="020B0604020202020204" pitchFamily="34" charset="0"/>
              </a:rPr>
              <a:t>History</a:t>
            </a:r>
            <a:endParaRPr lang="ko-KR" altLang="en-US" sz="2800" dirty="0">
              <a:solidFill>
                <a:srgbClr val="AD9485"/>
              </a:solidFill>
              <a:latin typeface="Times New Roman" panose="02020603050405020304" pitchFamily="18" charset="0"/>
              <a:cs typeface="Arial" panose="020B0604020202020204" pitchFamily="34" charset="0"/>
            </a:endParaRPr>
          </a:p>
        </p:txBody>
      </p:sp>
      <p:sp>
        <p:nvSpPr>
          <p:cNvPr id="36" name="자유형: 도형 35">
            <a:extLst>
              <a:ext uri="{FF2B5EF4-FFF2-40B4-BE49-F238E27FC236}">
                <a16:creationId xmlns:a16="http://schemas.microsoft.com/office/drawing/2014/main" id="{E9EC91B3-F29F-480E-B7D2-DCD8C3F93924}"/>
              </a:ext>
            </a:extLst>
          </p:cNvPr>
          <p:cNvSpPr/>
          <p:nvPr/>
        </p:nvSpPr>
        <p:spPr>
          <a:xfrm>
            <a:off x="1071370" y="2982456"/>
            <a:ext cx="3234155" cy="952967"/>
          </a:xfrm>
          <a:custGeom>
            <a:avLst/>
            <a:gdLst>
              <a:gd name="connsiteX0" fmla="*/ 0 w 2612573"/>
              <a:gd name="connsiteY0" fmla="*/ 555170 h 832757"/>
              <a:gd name="connsiteX1" fmla="*/ 0 w 2612573"/>
              <a:gd name="connsiteY1" fmla="*/ 555171 h 832757"/>
              <a:gd name="connsiteX2" fmla="*/ 0 w 2612573"/>
              <a:gd name="connsiteY2" fmla="*/ 555171 h 832757"/>
              <a:gd name="connsiteX3" fmla="*/ 522674 w 2612573"/>
              <a:gd name="connsiteY3" fmla="*/ 0 h 832757"/>
              <a:gd name="connsiteX4" fmla="*/ 683673 w 2612573"/>
              <a:gd name="connsiteY4" fmla="*/ 277585 h 832757"/>
              <a:gd name="connsiteX5" fmla="*/ 2334987 w 2612573"/>
              <a:gd name="connsiteY5" fmla="*/ 277585 h 832757"/>
              <a:gd name="connsiteX6" fmla="*/ 2612573 w 2612573"/>
              <a:gd name="connsiteY6" fmla="*/ 555171 h 832757"/>
              <a:gd name="connsiteX7" fmla="*/ 2612572 w 2612573"/>
              <a:gd name="connsiteY7" fmla="*/ 555171 h 832757"/>
              <a:gd name="connsiteX8" fmla="*/ 2334986 w 2612573"/>
              <a:gd name="connsiteY8" fmla="*/ 832757 h 832757"/>
              <a:gd name="connsiteX9" fmla="*/ 277586 w 2612573"/>
              <a:gd name="connsiteY9" fmla="*/ 832756 h 832757"/>
              <a:gd name="connsiteX10" fmla="*/ 21814 w 2612573"/>
              <a:gd name="connsiteY10" fmla="*/ 663219 h 832757"/>
              <a:gd name="connsiteX11" fmla="*/ 0 w 2612573"/>
              <a:gd name="connsiteY11" fmla="*/ 555171 h 832757"/>
              <a:gd name="connsiteX12" fmla="*/ 21814 w 2612573"/>
              <a:gd name="connsiteY12" fmla="*/ 447122 h 832757"/>
              <a:gd name="connsiteX13" fmla="*/ 277586 w 2612573"/>
              <a:gd name="connsiteY13" fmla="*/ 277585 h 832757"/>
              <a:gd name="connsiteX14" fmla="*/ 361674 w 2612573"/>
              <a:gd name="connsiteY14" fmla="*/ 277585 h 832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12573" h="832757">
                <a:moveTo>
                  <a:pt x="0" y="555170"/>
                </a:moveTo>
                <a:lnTo>
                  <a:pt x="0" y="555171"/>
                </a:lnTo>
                <a:lnTo>
                  <a:pt x="0" y="555171"/>
                </a:lnTo>
                <a:close/>
                <a:moveTo>
                  <a:pt x="522674" y="0"/>
                </a:moveTo>
                <a:lnTo>
                  <a:pt x="683673" y="277585"/>
                </a:lnTo>
                <a:lnTo>
                  <a:pt x="2334987" y="277585"/>
                </a:lnTo>
                <a:cubicBezTo>
                  <a:pt x="2488294" y="277585"/>
                  <a:pt x="2612573" y="401864"/>
                  <a:pt x="2612573" y="555171"/>
                </a:cubicBezTo>
                <a:lnTo>
                  <a:pt x="2612572" y="555171"/>
                </a:lnTo>
                <a:cubicBezTo>
                  <a:pt x="2612572" y="708478"/>
                  <a:pt x="2488293" y="832757"/>
                  <a:pt x="2334986" y="832757"/>
                </a:cubicBezTo>
                <a:lnTo>
                  <a:pt x="277586" y="832756"/>
                </a:lnTo>
                <a:cubicBezTo>
                  <a:pt x="162606" y="832756"/>
                  <a:pt x="63954" y="762849"/>
                  <a:pt x="21814" y="663219"/>
                </a:cubicBezTo>
                <a:lnTo>
                  <a:pt x="0" y="555171"/>
                </a:lnTo>
                <a:lnTo>
                  <a:pt x="21814" y="447122"/>
                </a:lnTo>
                <a:cubicBezTo>
                  <a:pt x="63954" y="347492"/>
                  <a:pt x="162606" y="277585"/>
                  <a:pt x="277586" y="277585"/>
                </a:cubicBezTo>
                <a:lnTo>
                  <a:pt x="361674" y="277585"/>
                </a:lnTo>
                <a:close/>
              </a:path>
            </a:pathLst>
          </a:custGeom>
          <a:solidFill>
            <a:srgbClr val="AD9485"/>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bIns="144000" rtlCol="0" anchor="b" anchorCtr="0"/>
          <a:lstStyle/>
          <a:p>
            <a:r>
              <a:rPr lang="en-US" altLang="ko-KR" dirty="0">
                <a:solidFill>
                  <a:schemeClr val="bg1"/>
                </a:solidFill>
                <a:latin typeface="Times New Roman" panose="02020603050405020304" pitchFamily="18" charset="0"/>
                <a:ea typeface="宋体" panose="02010600030101010101" pitchFamily="2" charset="-122"/>
              </a:rPr>
              <a:t>1980s and early 1990s</a:t>
            </a:r>
            <a:endParaRPr lang="ko-KR" altLang="en-US" dirty="0">
              <a:solidFill>
                <a:schemeClr val="bg1"/>
              </a:solidFill>
              <a:latin typeface="Times New Roman" panose="02020603050405020304" pitchFamily="18" charset="0"/>
            </a:endParaRPr>
          </a:p>
        </p:txBody>
      </p:sp>
      <p:sp>
        <p:nvSpPr>
          <p:cNvPr id="37" name="자유형: 도형 36">
            <a:extLst>
              <a:ext uri="{FF2B5EF4-FFF2-40B4-BE49-F238E27FC236}">
                <a16:creationId xmlns:a16="http://schemas.microsoft.com/office/drawing/2014/main" id="{F981DD04-93BF-46B0-BB8E-CB93711802E2}"/>
              </a:ext>
            </a:extLst>
          </p:cNvPr>
          <p:cNvSpPr/>
          <p:nvPr/>
        </p:nvSpPr>
        <p:spPr>
          <a:xfrm>
            <a:off x="3933466" y="3260040"/>
            <a:ext cx="2901894" cy="1026562"/>
          </a:xfrm>
          <a:custGeom>
            <a:avLst/>
            <a:gdLst>
              <a:gd name="connsiteX0" fmla="*/ 0 w 2901894"/>
              <a:gd name="connsiteY0" fmla="*/ 277585 h 832756"/>
              <a:gd name="connsiteX1" fmla="*/ 0 w 2901894"/>
              <a:gd name="connsiteY1" fmla="*/ 277586 h 832756"/>
              <a:gd name="connsiteX2" fmla="*/ 0 w 2901894"/>
              <a:gd name="connsiteY2" fmla="*/ 277586 h 832756"/>
              <a:gd name="connsiteX3" fmla="*/ 277586 w 2901894"/>
              <a:gd name="connsiteY3" fmla="*/ 0 h 832756"/>
              <a:gd name="connsiteX4" fmla="*/ 2624308 w 2901894"/>
              <a:gd name="connsiteY4" fmla="*/ 0 h 832756"/>
              <a:gd name="connsiteX5" fmla="*/ 2901894 w 2901894"/>
              <a:gd name="connsiteY5" fmla="*/ 277586 h 832756"/>
              <a:gd name="connsiteX6" fmla="*/ 2901893 w 2901894"/>
              <a:gd name="connsiteY6" fmla="*/ 277586 h 832756"/>
              <a:gd name="connsiteX7" fmla="*/ 2624307 w 2901894"/>
              <a:gd name="connsiteY7" fmla="*/ 555172 h 832756"/>
              <a:gd name="connsiteX8" fmla="*/ 683673 w 2901894"/>
              <a:gd name="connsiteY8" fmla="*/ 555171 h 832756"/>
              <a:gd name="connsiteX9" fmla="*/ 522674 w 2901894"/>
              <a:gd name="connsiteY9" fmla="*/ 832756 h 832756"/>
              <a:gd name="connsiteX10" fmla="*/ 361674 w 2901894"/>
              <a:gd name="connsiteY10" fmla="*/ 555171 h 832756"/>
              <a:gd name="connsiteX11" fmla="*/ 277586 w 2901894"/>
              <a:gd name="connsiteY11" fmla="*/ 555171 h 832756"/>
              <a:gd name="connsiteX12" fmla="*/ 21814 w 2901894"/>
              <a:gd name="connsiteY12" fmla="*/ 385634 h 832756"/>
              <a:gd name="connsiteX13" fmla="*/ 0 w 2901894"/>
              <a:gd name="connsiteY13" fmla="*/ 277586 h 832756"/>
              <a:gd name="connsiteX14" fmla="*/ 21814 w 2901894"/>
              <a:gd name="connsiteY14" fmla="*/ 169537 h 832756"/>
              <a:gd name="connsiteX15" fmla="*/ 277586 w 2901894"/>
              <a:gd name="connsiteY15" fmla="*/ 0 h 832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01894" h="832756">
                <a:moveTo>
                  <a:pt x="0" y="277585"/>
                </a:moveTo>
                <a:lnTo>
                  <a:pt x="0" y="277586"/>
                </a:lnTo>
                <a:lnTo>
                  <a:pt x="0" y="277586"/>
                </a:lnTo>
                <a:close/>
                <a:moveTo>
                  <a:pt x="277586" y="0"/>
                </a:moveTo>
                <a:lnTo>
                  <a:pt x="2624308" y="0"/>
                </a:lnTo>
                <a:cubicBezTo>
                  <a:pt x="2777615" y="0"/>
                  <a:pt x="2901894" y="124279"/>
                  <a:pt x="2901894" y="277586"/>
                </a:cubicBezTo>
                <a:lnTo>
                  <a:pt x="2901893" y="277586"/>
                </a:lnTo>
                <a:cubicBezTo>
                  <a:pt x="2901893" y="430893"/>
                  <a:pt x="2777614" y="555172"/>
                  <a:pt x="2624307" y="555172"/>
                </a:cubicBezTo>
                <a:lnTo>
                  <a:pt x="683673" y="555171"/>
                </a:lnTo>
                <a:lnTo>
                  <a:pt x="522674" y="832756"/>
                </a:lnTo>
                <a:lnTo>
                  <a:pt x="361674" y="555171"/>
                </a:lnTo>
                <a:lnTo>
                  <a:pt x="277586" y="555171"/>
                </a:lnTo>
                <a:cubicBezTo>
                  <a:pt x="162606" y="555171"/>
                  <a:pt x="63954" y="485264"/>
                  <a:pt x="21814" y="385634"/>
                </a:cubicBezTo>
                <a:lnTo>
                  <a:pt x="0" y="277586"/>
                </a:lnTo>
                <a:lnTo>
                  <a:pt x="21814" y="169537"/>
                </a:lnTo>
                <a:cubicBezTo>
                  <a:pt x="63954" y="69907"/>
                  <a:pt x="162606" y="0"/>
                  <a:pt x="27758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tIns="144000" rtlCol="0" anchor="t" anchorCtr="0"/>
          <a:lstStyle/>
          <a:p>
            <a:r>
              <a:rPr lang="en-US" altLang="ko-KR" dirty="0">
                <a:solidFill>
                  <a:schemeClr val="bg1"/>
                </a:solidFill>
                <a:latin typeface="Times New Roman" panose="02020603050405020304" pitchFamily="18" charset="0"/>
                <a:ea typeface="宋体" panose="02010600030101010101" pitchFamily="2" charset="-122"/>
              </a:rPr>
              <a:t>1990-2000</a:t>
            </a:r>
            <a:endParaRPr lang="ko-KR" altLang="en-US" dirty="0">
              <a:solidFill>
                <a:schemeClr val="bg1"/>
              </a:solidFill>
              <a:latin typeface="Times New Roman" panose="02020603050405020304" pitchFamily="18" charset="0"/>
            </a:endParaRPr>
          </a:p>
        </p:txBody>
      </p:sp>
      <p:sp>
        <p:nvSpPr>
          <p:cNvPr id="38" name="자유형: 도형 37">
            <a:extLst>
              <a:ext uri="{FF2B5EF4-FFF2-40B4-BE49-F238E27FC236}">
                <a16:creationId xmlns:a16="http://schemas.microsoft.com/office/drawing/2014/main" id="{3213E1B4-6A48-40B2-8D36-01FCB0FEF60F}"/>
              </a:ext>
            </a:extLst>
          </p:cNvPr>
          <p:cNvSpPr/>
          <p:nvPr/>
        </p:nvSpPr>
        <p:spPr>
          <a:xfrm>
            <a:off x="6089478" y="2942858"/>
            <a:ext cx="2901894" cy="992566"/>
          </a:xfrm>
          <a:custGeom>
            <a:avLst/>
            <a:gdLst>
              <a:gd name="connsiteX0" fmla="*/ 0 w 2901894"/>
              <a:gd name="connsiteY0" fmla="*/ 555170 h 832757"/>
              <a:gd name="connsiteX1" fmla="*/ 0 w 2901894"/>
              <a:gd name="connsiteY1" fmla="*/ 555171 h 832757"/>
              <a:gd name="connsiteX2" fmla="*/ 0 w 2901894"/>
              <a:gd name="connsiteY2" fmla="*/ 555171 h 832757"/>
              <a:gd name="connsiteX3" fmla="*/ 558970 w 2901894"/>
              <a:gd name="connsiteY3" fmla="*/ 0 h 832757"/>
              <a:gd name="connsiteX4" fmla="*/ 719969 w 2901894"/>
              <a:gd name="connsiteY4" fmla="*/ 277585 h 832757"/>
              <a:gd name="connsiteX5" fmla="*/ 2624308 w 2901894"/>
              <a:gd name="connsiteY5" fmla="*/ 277585 h 832757"/>
              <a:gd name="connsiteX6" fmla="*/ 2901894 w 2901894"/>
              <a:gd name="connsiteY6" fmla="*/ 555171 h 832757"/>
              <a:gd name="connsiteX7" fmla="*/ 2901893 w 2901894"/>
              <a:gd name="connsiteY7" fmla="*/ 555171 h 832757"/>
              <a:gd name="connsiteX8" fmla="*/ 2624307 w 2901894"/>
              <a:gd name="connsiteY8" fmla="*/ 832757 h 832757"/>
              <a:gd name="connsiteX9" fmla="*/ 277586 w 2901894"/>
              <a:gd name="connsiteY9" fmla="*/ 832756 h 832757"/>
              <a:gd name="connsiteX10" fmla="*/ 21814 w 2901894"/>
              <a:gd name="connsiteY10" fmla="*/ 663219 h 832757"/>
              <a:gd name="connsiteX11" fmla="*/ 0 w 2901894"/>
              <a:gd name="connsiteY11" fmla="*/ 555171 h 832757"/>
              <a:gd name="connsiteX12" fmla="*/ 21814 w 2901894"/>
              <a:gd name="connsiteY12" fmla="*/ 447122 h 832757"/>
              <a:gd name="connsiteX13" fmla="*/ 277586 w 2901894"/>
              <a:gd name="connsiteY13" fmla="*/ 277585 h 832757"/>
              <a:gd name="connsiteX14" fmla="*/ 397970 w 2901894"/>
              <a:gd name="connsiteY14" fmla="*/ 277585 h 832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01894" h="832757">
                <a:moveTo>
                  <a:pt x="0" y="555170"/>
                </a:moveTo>
                <a:lnTo>
                  <a:pt x="0" y="555171"/>
                </a:lnTo>
                <a:lnTo>
                  <a:pt x="0" y="555171"/>
                </a:lnTo>
                <a:close/>
                <a:moveTo>
                  <a:pt x="558970" y="0"/>
                </a:moveTo>
                <a:lnTo>
                  <a:pt x="719969" y="277585"/>
                </a:lnTo>
                <a:lnTo>
                  <a:pt x="2624308" y="277585"/>
                </a:lnTo>
                <a:cubicBezTo>
                  <a:pt x="2777615" y="277585"/>
                  <a:pt x="2901894" y="401864"/>
                  <a:pt x="2901894" y="555171"/>
                </a:cubicBezTo>
                <a:lnTo>
                  <a:pt x="2901893" y="555171"/>
                </a:lnTo>
                <a:cubicBezTo>
                  <a:pt x="2901893" y="708478"/>
                  <a:pt x="2777614" y="832757"/>
                  <a:pt x="2624307" y="832757"/>
                </a:cubicBezTo>
                <a:lnTo>
                  <a:pt x="277586" y="832756"/>
                </a:lnTo>
                <a:cubicBezTo>
                  <a:pt x="162606" y="832756"/>
                  <a:pt x="63954" y="762849"/>
                  <a:pt x="21814" y="663219"/>
                </a:cubicBezTo>
                <a:lnTo>
                  <a:pt x="0" y="555171"/>
                </a:lnTo>
                <a:lnTo>
                  <a:pt x="21814" y="447122"/>
                </a:lnTo>
                <a:cubicBezTo>
                  <a:pt x="63954" y="347492"/>
                  <a:pt x="162606" y="277585"/>
                  <a:pt x="277586" y="277585"/>
                </a:cubicBezTo>
                <a:lnTo>
                  <a:pt x="397970" y="277585"/>
                </a:lnTo>
                <a:close/>
              </a:path>
            </a:pathLst>
          </a:custGeom>
          <a:solidFill>
            <a:srgbClr val="AD9485"/>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bIns="144000" rtlCol="0" anchor="b" anchorCtr="0"/>
          <a:lstStyle/>
          <a:p>
            <a:r>
              <a:rPr lang="en-US" altLang="ko-KR" dirty="0">
                <a:solidFill>
                  <a:schemeClr val="bg1"/>
                </a:solidFill>
                <a:latin typeface="Times New Roman" panose="02020603050405020304" pitchFamily="18" charset="0"/>
                <a:ea typeface="宋体" panose="02010600030101010101" pitchFamily="2" charset="-122"/>
              </a:rPr>
              <a:t>early twenty-first century</a:t>
            </a:r>
            <a:endParaRPr lang="ko-KR" altLang="en-US" dirty="0">
              <a:solidFill>
                <a:schemeClr val="bg1"/>
              </a:solidFill>
              <a:latin typeface="Times New Roman" panose="02020603050405020304" pitchFamily="18" charset="0"/>
            </a:endParaRPr>
          </a:p>
        </p:txBody>
      </p:sp>
      <p:sp>
        <p:nvSpPr>
          <p:cNvPr id="39" name="자유형: 도형 38">
            <a:extLst>
              <a:ext uri="{FF2B5EF4-FFF2-40B4-BE49-F238E27FC236}">
                <a16:creationId xmlns:a16="http://schemas.microsoft.com/office/drawing/2014/main" id="{0ECD1FFF-7A93-430C-AD37-A6CE8F9D976C}"/>
              </a:ext>
            </a:extLst>
          </p:cNvPr>
          <p:cNvSpPr/>
          <p:nvPr/>
        </p:nvSpPr>
        <p:spPr>
          <a:xfrm>
            <a:off x="8638211" y="3265492"/>
            <a:ext cx="2612573" cy="1021109"/>
          </a:xfrm>
          <a:custGeom>
            <a:avLst/>
            <a:gdLst>
              <a:gd name="connsiteX0" fmla="*/ 0 w 2612573"/>
              <a:gd name="connsiteY0" fmla="*/ 277585 h 832756"/>
              <a:gd name="connsiteX1" fmla="*/ 0 w 2612573"/>
              <a:gd name="connsiteY1" fmla="*/ 277586 h 832756"/>
              <a:gd name="connsiteX2" fmla="*/ 0 w 2612573"/>
              <a:gd name="connsiteY2" fmla="*/ 277586 h 832756"/>
              <a:gd name="connsiteX3" fmla="*/ 277586 w 2612573"/>
              <a:gd name="connsiteY3" fmla="*/ 0 h 832756"/>
              <a:gd name="connsiteX4" fmla="*/ 2334987 w 2612573"/>
              <a:gd name="connsiteY4" fmla="*/ 0 h 832756"/>
              <a:gd name="connsiteX5" fmla="*/ 2612573 w 2612573"/>
              <a:gd name="connsiteY5" fmla="*/ 277586 h 832756"/>
              <a:gd name="connsiteX6" fmla="*/ 2612572 w 2612573"/>
              <a:gd name="connsiteY6" fmla="*/ 277586 h 832756"/>
              <a:gd name="connsiteX7" fmla="*/ 2334986 w 2612573"/>
              <a:gd name="connsiteY7" fmla="*/ 555172 h 832756"/>
              <a:gd name="connsiteX8" fmla="*/ 719968 w 2612573"/>
              <a:gd name="connsiteY8" fmla="*/ 555171 h 832756"/>
              <a:gd name="connsiteX9" fmla="*/ 558969 w 2612573"/>
              <a:gd name="connsiteY9" fmla="*/ 832756 h 832756"/>
              <a:gd name="connsiteX10" fmla="*/ 397969 w 2612573"/>
              <a:gd name="connsiteY10" fmla="*/ 555171 h 832756"/>
              <a:gd name="connsiteX11" fmla="*/ 277586 w 2612573"/>
              <a:gd name="connsiteY11" fmla="*/ 555171 h 832756"/>
              <a:gd name="connsiteX12" fmla="*/ 21814 w 2612573"/>
              <a:gd name="connsiteY12" fmla="*/ 385634 h 832756"/>
              <a:gd name="connsiteX13" fmla="*/ 0 w 2612573"/>
              <a:gd name="connsiteY13" fmla="*/ 277586 h 832756"/>
              <a:gd name="connsiteX14" fmla="*/ 21814 w 2612573"/>
              <a:gd name="connsiteY14" fmla="*/ 169537 h 832756"/>
              <a:gd name="connsiteX15" fmla="*/ 277586 w 2612573"/>
              <a:gd name="connsiteY15" fmla="*/ 0 h 832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12573" h="832756">
                <a:moveTo>
                  <a:pt x="0" y="277585"/>
                </a:moveTo>
                <a:lnTo>
                  <a:pt x="0" y="277586"/>
                </a:lnTo>
                <a:lnTo>
                  <a:pt x="0" y="277586"/>
                </a:lnTo>
                <a:close/>
                <a:moveTo>
                  <a:pt x="277586" y="0"/>
                </a:moveTo>
                <a:lnTo>
                  <a:pt x="2334987" y="0"/>
                </a:lnTo>
                <a:cubicBezTo>
                  <a:pt x="2488294" y="0"/>
                  <a:pt x="2612573" y="124279"/>
                  <a:pt x="2612573" y="277586"/>
                </a:cubicBezTo>
                <a:lnTo>
                  <a:pt x="2612572" y="277586"/>
                </a:lnTo>
                <a:cubicBezTo>
                  <a:pt x="2612572" y="430893"/>
                  <a:pt x="2488293" y="555172"/>
                  <a:pt x="2334986" y="555172"/>
                </a:cubicBezTo>
                <a:lnTo>
                  <a:pt x="719968" y="555171"/>
                </a:lnTo>
                <a:lnTo>
                  <a:pt x="558969" y="832756"/>
                </a:lnTo>
                <a:lnTo>
                  <a:pt x="397969" y="555171"/>
                </a:lnTo>
                <a:lnTo>
                  <a:pt x="277586" y="555171"/>
                </a:lnTo>
                <a:cubicBezTo>
                  <a:pt x="162606" y="555171"/>
                  <a:pt x="63954" y="485264"/>
                  <a:pt x="21814" y="385634"/>
                </a:cubicBezTo>
                <a:lnTo>
                  <a:pt x="0" y="277586"/>
                </a:lnTo>
                <a:lnTo>
                  <a:pt x="21814" y="169537"/>
                </a:lnTo>
                <a:cubicBezTo>
                  <a:pt x="63954" y="69907"/>
                  <a:pt x="162606" y="0"/>
                  <a:pt x="27758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tIns="144000" rtlCol="0" anchor="t" anchorCtr="0"/>
          <a:lstStyle/>
          <a:p>
            <a:r>
              <a:rPr lang="en-US" altLang="ko-KR" dirty="0">
                <a:solidFill>
                  <a:schemeClr val="bg1"/>
                </a:solidFill>
                <a:latin typeface="Times New Roman" panose="02020603050405020304" pitchFamily="18" charset="0"/>
                <a:ea typeface="宋体" panose="02010600030101010101" pitchFamily="2" charset="-122"/>
              </a:rPr>
              <a:t>2018</a:t>
            </a:r>
            <a:endParaRPr lang="ko-KR" altLang="en-US" dirty="0">
              <a:solidFill>
                <a:schemeClr val="bg1"/>
              </a:solidFill>
              <a:latin typeface="Times New Roman" panose="02020603050405020304" pitchFamily="18" charset="0"/>
            </a:endParaRPr>
          </a:p>
        </p:txBody>
      </p:sp>
      <p:sp>
        <p:nvSpPr>
          <p:cNvPr id="40" name="직사각형 39">
            <a:extLst>
              <a:ext uri="{FF2B5EF4-FFF2-40B4-BE49-F238E27FC236}">
                <a16:creationId xmlns:a16="http://schemas.microsoft.com/office/drawing/2014/main" id="{5CF042D6-D6B2-49CC-A4F8-729931B63CE9}"/>
              </a:ext>
            </a:extLst>
          </p:cNvPr>
          <p:cNvSpPr/>
          <p:nvPr/>
        </p:nvSpPr>
        <p:spPr>
          <a:xfrm>
            <a:off x="2804823" y="1713499"/>
            <a:ext cx="2612573" cy="369332"/>
          </a:xfrm>
          <a:prstGeom prst="rect">
            <a:avLst/>
          </a:prstGeom>
        </p:spPr>
        <p:txBody>
          <a:bodyPr wrap="square">
            <a:spAutoFit/>
          </a:bodyPr>
          <a:lstStyle/>
          <a:p>
            <a:r>
              <a:rPr lang="de-DE" altLang="zh-CN" dirty="0">
                <a:latin typeface="Times New Roman" panose="02020603050405020304" pitchFamily="18" charset="0"/>
                <a:ea typeface="宋体" panose="02010600030101010101" pitchFamily="2" charset="-122"/>
              </a:rPr>
              <a:t>genetic algorithm</a:t>
            </a:r>
            <a:endParaRPr lang="zh-CN" altLang="en-US" dirty="0">
              <a:latin typeface="Times New Roman" panose="02020603050405020304" pitchFamily="18" charset="0"/>
              <a:ea typeface="宋体" panose="02010600030101010101" pitchFamily="2" charset="-122"/>
            </a:endParaRPr>
          </a:p>
        </p:txBody>
      </p:sp>
      <p:sp>
        <p:nvSpPr>
          <p:cNvPr id="41" name="직사각형 40">
            <a:extLst>
              <a:ext uri="{FF2B5EF4-FFF2-40B4-BE49-F238E27FC236}">
                <a16:creationId xmlns:a16="http://schemas.microsoft.com/office/drawing/2014/main" id="{0808D7CD-1CB5-4455-B61D-9D692AE840CB}"/>
              </a:ext>
            </a:extLst>
          </p:cNvPr>
          <p:cNvSpPr/>
          <p:nvPr/>
        </p:nvSpPr>
        <p:spPr>
          <a:xfrm>
            <a:off x="2804824" y="2093974"/>
            <a:ext cx="2612575" cy="738664"/>
          </a:xfrm>
          <a:prstGeom prst="rect">
            <a:avLst/>
          </a:prstGeom>
        </p:spPr>
        <p:txBody>
          <a:bodyPr wrap="square">
            <a:spAutoFit/>
          </a:bodyPr>
          <a:lstStyle/>
          <a:p>
            <a:r>
              <a:rPr lang="en-US" altLang="ko-KR" sz="1400" dirty="0">
                <a:solidFill>
                  <a:schemeClr val="tx1">
                    <a:lumMod val="75000"/>
                    <a:lumOff val="25000"/>
                  </a:schemeClr>
                </a:solidFill>
                <a:latin typeface="Times New Roman" panose="02020603050405020304" pitchFamily="18" charset="0"/>
                <a:ea typeface="宋体" panose="02010600030101010101" pitchFamily="2" charset="-122"/>
              </a:rPr>
              <a:t>Limitation of algorithm.</a:t>
            </a:r>
          </a:p>
          <a:p>
            <a:r>
              <a:rPr lang="en-US" altLang="ko-KR" sz="1400" dirty="0">
                <a:solidFill>
                  <a:schemeClr val="tx1">
                    <a:lumMod val="75000"/>
                    <a:lumOff val="25000"/>
                  </a:schemeClr>
                </a:solidFill>
                <a:latin typeface="Times New Roman" panose="02020603050405020304" pitchFamily="18" charset="0"/>
                <a:ea typeface="宋体" panose="02010600030101010101" pitchFamily="2" charset="-122"/>
              </a:rPr>
              <a:t>The poetry produced is of lower quality.</a:t>
            </a:r>
            <a:endParaRPr lang="ko-KR" altLang="en-US" sz="1400" dirty="0">
              <a:solidFill>
                <a:schemeClr val="tx1">
                  <a:lumMod val="75000"/>
                  <a:lumOff val="25000"/>
                </a:schemeClr>
              </a:solidFill>
              <a:latin typeface="Times New Roman" panose="02020603050405020304" pitchFamily="18" charset="0"/>
            </a:endParaRPr>
          </a:p>
        </p:txBody>
      </p:sp>
      <p:sp>
        <p:nvSpPr>
          <p:cNvPr id="42" name="타원 41">
            <a:extLst>
              <a:ext uri="{FF2B5EF4-FFF2-40B4-BE49-F238E27FC236}">
                <a16:creationId xmlns:a16="http://schemas.microsoft.com/office/drawing/2014/main" id="{7004E2EF-269E-47CA-A47C-18F04C22F538}"/>
              </a:ext>
            </a:extLst>
          </p:cNvPr>
          <p:cNvSpPr/>
          <p:nvPr/>
        </p:nvSpPr>
        <p:spPr>
          <a:xfrm>
            <a:off x="1748656" y="1699500"/>
            <a:ext cx="931780" cy="931777"/>
          </a:xfrm>
          <a:prstGeom prst="ellipse">
            <a:avLst/>
          </a:prstGeom>
          <a:solidFill>
            <a:srgbClr val="AD9485"/>
          </a:solidFill>
          <a:ln w="9525" cap="flat">
            <a:noFill/>
            <a:prstDash val="solid"/>
            <a:miter/>
          </a:ln>
        </p:spPr>
        <p:txBody>
          <a:bodyPr rtlCol="0" anchor="ctr"/>
          <a:lstStyle/>
          <a:p>
            <a:pPr algn="l"/>
            <a:endParaRPr lang="ko-KR" altLang="en-US">
              <a:solidFill>
                <a:schemeClr val="bg1"/>
              </a:solidFill>
            </a:endParaRPr>
          </a:p>
        </p:txBody>
      </p:sp>
      <p:sp>
        <p:nvSpPr>
          <p:cNvPr id="43" name="직사각형 42">
            <a:extLst>
              <a:ext uri="{FF2B5EF4-FFF2-40B4-BE49-F238E27FC236}">
                <a16:creationId xmlns:a16="http://schemas.microsoft.com/office/drawing/2014/main" id="{BC0997B6-9E12-46C7-8DAD-78268542E734}"/>
              </a:ext>
            </a:extLst>
          </p:cNvPr>
          <p:cNvSpPr/>
          <p:nvPr/>
        </p:nvSpPr>
        <p:spPr>
          <a:xfrm>
            <a:off x="4858179" y="4069092"/>
            <a:ext cx="2612573" cy="646331"/>
          </a:xfrm>
          <a:prstGeom prst="rect">
            <a:avLst/>
          </a:prstGeom>
        </p:spPr>
        <p:txBody>
          <a:bodyPr wrap="square">
            <a:spAutoFit/>
          </a:bodyPr>
          <a:lstStyle/>
          <a:p>
            <a:r>
              <a:rPr lang="en-US" altLang="ko-KR" dirty="0">
                <a:solidFill>
                  <a:schemeClr val="tx1">
                    <a:lumMod val="75000"/>
                    <a:lumOff val="25000"/>
                  </a:schemeClr>
                </a:solidFill>
                <a:latin typeface="Times New Roman" panose="02020603050405020304" pitchFamily="18" charset="0"/>
                <a:ea typeface="宋体" panose="02010600030101010101" pitchFamily="2" charset="-122"/>
              </a:rPr>
              <a:t>Statistical machine translation techniques</a:t>
            </a:r>
            <a:endParaRPr lang="ko-KR" altLang="en-US" dirty="0">
              <a:solidFill>
                <a:schemeClr val="tx1">
                  <a:lumMod val="75000"/>
                  <a:lumOff val="25000"/>
                </a:schemeClr>
              </a:solidFill>
              <a:latin typeface="Times New Roman" panose="02020603050405020304" pitchFamily="18" charset="0"/>
            </a:endParaRPr>
          </a:p>
        </p:txBody>
      </p:sp>
      <p:sp>
        <p:nvSpPr>
          <p:cNvPr id="44" name="직사각형 43">
            <a:extLst>
              <a:ext uri="{FF2B5EF4-FFF2-40B4-BE49-F238E27FC236}">
                <a16:creationId xmlns:a16="http://schemas.microsoft.com/office/drawing/2014/main" id="{E06D59E0-155B-4F4E-A14B-C538321B133B}"/>
              </a:ext>
            </a:extLst>
          </p:cNvPr>
          <p:cNvSpPr/>
          <p:nvPr/>
        </p:nvSpPr>
        <p:spPr>
          <a:xfrm>
            <a:off x="4858179" y="4900673"/>
            <a:ext cx="2612575" cy="523220"/>
          </a:xfrm>
          <a:prstGeom prst="rect">
            <a:avLst/>
          </a:prstGeom>
        </p:spPr>
        <p:txBody>
          <a:bodyPr wrap="square">
            <a:spAutoFit/>
          </a:bodyPr>
          <a:lstStyle/>
          <a:p>
            <a:r>
              <a:rPr lang="en-US" altLang="ko-KR" sz="1400" dirty="0">
                <a:solidFill>
                  <a:schemeClr val="tx1">
                    <a:lumMod val="75000"/>
                    <a:lumOff val="25000"/>
                  </a:schemeClr>
                </a:solidFill>
                <a:latin typeface="Times New Roman" panose="02020603050405020304" pitchFamily="18" charset="0"/>
                <a:ea typeface="宋体" panose="02010600030101010101" pitchFamily="2" charset="-122"/>
              </a:rPr>
              <a:t>Statistic model.</a:t>
            </a:r>
          </a:p>
          <a:p>
            <a:r>
              <a:rPr lang="en-US" altLang="ko-KR" sz="1400" dirty="0">
                <a:solidFill>
                  <a:schemeClr val="tx1">
                    <a:lumMod val="75000"/>
                    <a:lumOff val="25000"/>
                  </a:schemeClr>
                </a:solidFill>
                <a:latin typeface="Times New Roman" panose="02020603050405020304" pitchFamily="18" charset="0"/>
                <a:ea typeface="宋体" panose="02010600030101010101" pitchFamily="2" charset="-122"/>
              </a:rPr>
              <a:t>Lack of fluency and coherence.</a:t>
            </a:r>
            <a:endParaRPr lang="ko-KR" altLang="en-US" sz="1400" dirty="0">
              <a:solidFill>
                <a:schemeClr val="tx1">
                  <a:lumMod val="75000"/>
                  <a:lumOff val="25000"/>
                </a:schemeClr>
              </a:solidFill>
              <a:latin typeface="Times New Roman" panose="02020603050405020304" pitchFamily="18" charset="0"/>
            </a:endParaRPr>
          </a:p>
        </p:txBody>
      </p:sp>
      <p:sp>
        <p:nvSpPr>
          <p:cNvPr id="45" name="타원 44">
            <a:extLst>
              <a:ext uri="{FF2B5EF4-FFF2-40B4-BE49-F238E27FC236}">
                <a16:creationId xmlns:a16="http://schemas.microsoft.com/office/drawing/2014/main" id="{0D65F4F2-F779-4663-8B6F-5AC558C02626}"/>
              </a:ext>
            </a:extLst>
          </p:cNvPr>
          <p:cNvSpPr/>
          <p:nvPr/>
        </p:nvSpPr>
        <p:spPr>
          <a:xfrm>
            <a:off x="3802012" y="4506199"/>
            <a:ext cx="931780" cy="931777"/>
          </a:xfrm>
          <a:prstGeom prst="ellipse">
            <a:avLst/>
          </a:prstGeom>
          <a:solidFill>
            <a:schemeClr val="tx1">
              <a:lumMod val="75000"/>
              <a:lumOff val="25000"/>
            </a:schemeClr>
          </a:solidFill>
          <a:ln w="9525" cap="flat">
            <a:noFill/>
            <a:prstDash val="solid"/>
            <a:miter/>
          </a:ln>
        </p:spPr>
        <p:txBody>
          <a:bodyPr rtlCol="0" anchor="ctr"/>
          <a:lstStyle/>
          <a:p>
            <a:pPr algn="l"/>
            <a:endParaRPr lang="ko-KR" altLang="en-US">
              <a:solidFill>
                <a:schemeClr val="bg1"/>
              </a:solidFill>
            </a:endParaRPr>
          </a:p>
        </p:txBody>
      </p:sp>
      <p:sp>
        <p:nvSpPr>
          <p:cNvPr id="46" name="직사각형 45">
            <a:extLst>
              <a:ext uri="{FF2B5EF4-FFF2-40B4-BE49-F238E27FC236}">
                <a16:creationId xmlns:a16="http://schemas.microsoft.com/office/drawing/2014/main" id="{ABE010DD-5E8B-42A6-B16F-A4D42BC5E733}"/>
              </a:ext>
            </a:extLst>
          </p:cNvPr>
          <p:cNvSpPr/>
          <p:nvPr/>
        </p:nvSpPr>
        <p:spPr>
          <a:xfrm>
            <a:off x="7242371" y="1713499"/>
            <a:ext cx="2612573" cy="369332"/>
          </a:xfrm>
          <a:prstGeom prst="rect">
            <a:avLst/>
          </a:prstGeom>
        </p:spPr>
        <p:txBody>
          <a:bodyPr wrap="square">
            <a:spAutoFit/>
          </a:bodyPr>
          <a:lstStyle/>
          <a:p>
            <a:r>
              <a:rPr lang="en-US" altLang="ko-KR" dirty="0">
                <a:solidFill>
                  <a:schemeClr val="tx1">
                    <a:lumMod val="75000"/>
                    <a:lumOff val="25000"/>
                  </a:schemeClr>
                </a:solidFill>
                <a:latin typeface="Times New Roman" panose="02020603050405020304" pitchFamily="18" charset="0"/>
                <a:ea typeface="宋体" panose="02010600030101010101" pitchFamily="2" charset="-122"/>
              </a:rPr>
              <a:t>RNN/LSTM</a:t>
            </a:r>
            <a:endParaRPr lang="ko-KR" altLang="en-US" dirty="0">
              <a:solidFill>
                <a:schemeClr val="tx1">
                  <a:lumMod val="75000"/>
                  <a:lumOff val="25000"/>
                </a:schemeClr>
              </a:solidFill>
              <a:latin typeface="Times New Roman" panose="02020603050405020304" pitchFamily="18" charset="0"/>
            </a:endParaRPr>
          </a:p>
        </p:txBody>
      </p:sp>
      <p:sp>
        <p:nvSpPr>
          <p:cNvPr id="47" name="직사각형 46">
            <a:extLst>
              <a:ext uri="{FF2B5EF4-FFF2-40B4-BE49-F238E27FC236}">
                <a16:creationId xmlns:a16="http://schemas.microsoft.com/office/drawing/2014/main" id="{855DFED2-C8D0-4F8B-B2A7-F1E759039F2A}"/>
              </a:ext>
            </a:extLst>
          </p:cNvPr>
          <p:cNvSpPr/>
          <p:nvPr/>
        </p:nvSpPr>
        <p:spPr>
          <a:xfrm>
            <a:off x="7242372" y="2093974"/>
            <a:ext cx="2612575" cy="523220"/>
          </a:xfrm>
          <a:prstGeom prst="rect">
            <a:avLst/>
          </a:prstGeom>
        </p:spPr>
        <p:txBody>
          <a:bodyPr wrap="square">
            <a:spAutoFit/>
          </a:bodyPr>
          <a:lstStyle/>
          <a:p>
            <a:r>
              <a:rPr lang="en-US" altLang="ko-KR" sz="1400" dirty="0">
                <a:solidFill>
                  <a:schemeClr val="tx1">
                    <a:lumMod val="75000"/>
                    <a:lumOff val="25000"/>
                  </a:schemeClr>
                </a:solidFill>
                <a:latin typeface="Times New Roman" panose="02020603050405020304" pitchFamily="18" charset="0"/>
                <a:ea typeface="宋体" panose="02010600030101010101" pitchFamily="2" charset="-122"/>
              </a:rPr>
              <a:t>Better capture semantic and grammatical structures in poetry</a:t>
            </a:r>
            <a:endParaRPr lang="ko-KR" altLang="en-US" sz="1400" dirty="0">
              <a:solidFill>
                <a:schemeClr val="tx1">
                  <a:lumMod val="75000"/>
                  <a:lumOff val="25000"/>
                </a:schemeClr>
              </a:solidFill>
              <a:latin typeface="Times New Roman" panose="02020603050405020304" pitchFamily="18" charset="0"/>
            </a:endParaRPr>
          </a:p>
        </p:txBody>
      </p:sp>
      <p:sp>
        <p:nvSpPr>
          <p:cNvPr id="48" name="타원 47">
            <a:extLst>
              <a:ext uri="{FF2B5EF4-FFF2-40B4-BE49-F238E27FC236}">
                <a16:creationId xmlns:a16="http://schemas.microsoft.com/office/drawing/2014/main" id="{C954C737-208D-4E84-9AA9-7CF105100CE3}"/>
              </a:ext>
            </a:extLst>
          </p:cNvPr>
          <p:cNvSpPr/>
          <p:nvPr/>
        </p:nvSpPr>
        <p:spPr>
          <a:xfrm>
            <a:off x="6186204" y="1699500"/>
            <a:ext cx="931780" cy="931777"/>
          </a:xfrm>
          <a:prstGeom prst="ellipse">
            <a:avLst/>
          </a:prstGeom>
          <a:solidFill>
            <a:srgbClr val="AD9485"/>
          </a:solidFill>
          <a:ln w="9525" cap="flat">
            <a:noFill/>
            <a:prstDash val="solid"/>
            <a:miter/>
          </a:ln>
        </p:spPr>
        <p:txBody>
          <a:bodyPr rtlCol="0" anchor="ctr"/>
          <a:lstStyle/>
          <a:p>
            <a:pPr algn="l"/>
            <a:endParaRPr lang="ko-KR" altLang="en-US">
              <a:solidFill>
                <a:schemeClr val="bg1"/>
              </a:solidFill>
            </a:endParaRPr>
          </a:p>
        </p:txBody>
      </p:sp>
      <p:sp>
        <p:nvSpPr>
          <p:cNvPr id="49" name="직사각형 48">
            <a:extLst>
              <a:ext uri="{FF2B5EF4-FFF2-40B4-BE49-F238E27FC236}">
                <a16:creationId xmlns:a16="http://schemas.microsoft.com/office/drawing/2014/main" id="{3D4AA491-AA92-4947-935A-95EF6D77F83B}"/>
              </a:ext>
            </a:extLst>
          </p:cNvPr>
          <p:cNvSpPr/>
          <p:nvPr/>
        </p:nvSpPr>
        <p:spPr>
          <a:xfrm>
            <a:off x="9579424" y="4520198"/>
            <a:ext cx="2612573" cy="369332"/>
          </a:xfrm>
          <a:prstGeom prst="rect">
            <a:avLst/>
          </a:prstGeom>
        </p:spPr>
        <p:txBody>
          <a:bodyPr wrap="square">
            <a:spAutoFit/>
          </a:bodyPr>
          <a:lstStyle/>
          <a:p>
            <a:r>
              <a:rPr lang="en-US" altLang="ko-KR" dirty="0">
                <a:solidFill>
                  <a:schemeClr val="tx1">
                    <a:lumMod val="75000"/>
                    <a:lumOff val="25000"/>
                  </a:schemeClr>
                </a:solidFill>
                <a:latin typeface="Times New Roman" panose="02020603050405020304" pitchFamily="18" charset="0"/>
                <a:ea typeface="宋体" panose="02010600030101010101" pitchFamily="2" charset="-122"/>
              </a:rPr>
              <a:t>BERT</a:t>
            </a:r>
            <a:endParaRPr lang="ko-KR" altLang="en-US" dirty="0">
              <a:solidFill>
                <a:schemeClr val="tx1">
                  <a:lumMod val="75000"/>
                  <a:lumOff val="25000"/>
                </a:schemeClr>
              </a:solidFill>
              <a:latin typeface="Times New Roman" panose="02020603050405020304" pitchFamily="18" charset="0"/>
            </a:endParaRPr>
          </a:p>
        </p:txBody>
      </p:sp>
      <p:sp>
        <p:nvSpPr>
          <p:cNvPr id="50" name="직사각형 49">
            <a:extLst>
              <a:ext uri="{FF2B5EF4-FFF2-40B4-BE49-F238E27FC236}">
                <a16:creationId xmlns:a16="http://schemas.microsoft.com/office/drawing/2014/main" id="{8A9311D6-23E9-4B85-A510-33EE8AEE8F96}"/>
              </a:ext>
            </a:extLst>
          </p:cNvPr>
          <p:cNvSpPr/>
          <p:nvPr/>
        </p:nvSpPr>
        <p:spPr>
          <a:xfrm>
            <a:off x="9579425" y="4900673"/>
            <a:ext cx="2612575" cy="1169551"/>
          </a:xfrm>
          <a:prstGeom prst="rect">
            <a:avLst/>
          </a:prstGeom>
        </p:spPr>
        <p:txBody>
          <a:bodyPr wrap="square">
            <a:spAutoFit/>
          </a:bodyPr>
          <a:lstStyle/>
          <a:p>
            <a:r>
              <a:rPr lang="en-US" altLang="ko-KR" sz="1400" dirty="0">
                <a:solidFill>
                  <a:schemeClr val="tx1">
                    <a:lumMod val="75000"/>
                    <a:lumOff val="25000"/>
                  </a:schemeClr>
                </a:solidFill>
                <a:latin typeface="Times New Roman" panose="02020603050405020304" pitchFamily="18" charset="0"/>
                <a:ea typeface="宋体" panose="02010600030101010101" pitchFamily="2" charset="-122"/>
              </a:rPr>
              <a:t>Bidirectional Encoder Representations from Transformers.</a:t>
            </a:r>
          </a:p>
          <a:p>
            <a:r>
              <a:rPr lang="en-US" altLang="ko-KR" sz="1400" dirty="0">
                <a:solidFill>
                  <a:schemeClr val="tx1">
                    <a:lumMod val="75000"/>
                    <a:lumOff val="25000"/>
                  </a:schemeClr>
                </a:solidFill>
                <a:latin typeface="Times New Roman" panose="02020603050405020304" pitchFamily="18" charset="0"/>
                <a:ea typeface="宋体" panose="02010600030101010101" pitchFamily="2" charset="-122"/>
              </a:rPr>
              <a:t>Bidirectional encoders and attention mechanisms.</a:t>
            </a:r>
            <a:endParaRPr lang="ko-KR" altLang="en-US" sz="1400" dirty="0">
              <a:solidFill>
                <a:schemeClr val="tx1">
                  <a:lumMod val="75000"/>
                  <a:lumOff val="25000"/>
                </a:schemeClr>
              </a:solidFill>
              <a:latin typeface="Times New Roman" panose="02020603050405020304" pitchFamily="18" charset="0"/>
            </a:endParaRPr>
          </a:p>
        </p:txBody>
      </p:sp>
      <p:sp>
        <p:nvSpPr>
          <p:cNvPr id="51" name="타원 50">
            <a:extLst>
              <a:ext uri="{FF2B5EF4-FFF2-40B4-BE49-F238E27FC236}">
                <a16:creationId xmlns:a16="http://schemas.microsoft.com/office/drawing/2014/main" id="{B75C7BC4-D4E2-4780-8839-A8E585077953}"/>
              </a:ext>
            </a:extLst>
          </p:cNvPr>
          <p:cNvSpPr/>
          <p:nvPr/>
        </p:nvSpPr>
        <p:spPr>
          <a:xfrm>
            <a:off x="8523257" y="4506199"/>
            <a:ext cx="931780" cy="931777"/>
          </a:xfrm>
          <a:prstGeom prst="ellipse">
            <a:avLst/>
          </a:prstGeom>
          <a:solidFill>
            <a:schemeClr val="tx1">
              <a:lumMod val="75000"/>
              <a:lumOff val="25000"/>
            </a:schemeClr>
          </a:solidFill>
          <a:ln w="9525" cap="flat">
            <a:noFill/>
            <a:prstDash val="solid"/>
            <a:miter/>
          </a:ln>
        </p:spPr>
        <p:txBody>
          <a:bodyPr rtlCol="0" anchor="ctr"/>
          <a:lstStyle/>
          <a:p>
            <a:pPr algn="l"/>
            <a:endParaRPr lang="ko-KR" altLang="en-US">
              <a:solidFill>
                <a:schemeClr val="bg1"/>
              </a:solidFill>
            </a:endParaRPr>
          </a:p>
        </p:txBody>
      </p:sp>
      <p:pic>
        <p:nvPicPr>
          <p:cNvPr id="52" name="그래픽 51">
            <a:extLst>
              <a:ext uri="{FF2B5EF4-FFF2-40B4-BE49-F238E27FC236}">
                <a16:creationId xmlns:a16="http://schemas.microsoft.com/office/drawing/2014/main" id="{2379EB75-5805-41BA-915D-12BA603ABE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88230" y="4788821"/>
            <a:ext cx="359344" cy="366532"/>
          </a:xfrm>
          <a:prstGeom prst="rect">
            <a:avLst/>
          </a:prstGeom>
        </p:spPr>
      </p:pic>
      <p:pic>
        <p:nvPicPr>
          <p:cNvPr id="53" name="그래픽 52">
            <a:extLst>
              <a:ext uri="{FF2B5EF4-FFF2-40B4-BE49-F238E27FC236}">
                <a16:creationId xmlns:a16="http://schemas.microsoft.com/office/drawing/2014/main" id="{C478B0FC-341B-4E67-89EA-680253C75AE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68828" y="1982122"/>
            <a:ext cx="366532" cy="366532"/>
          </a:xfrm>
          <a:prstGeom prst="rect">
            <a:avLst/>
          </a:prstGeom>
        </p:spPr>
      </p:pic>
      <p:pic>
        <p:nvPicPr>
          <p:cNvPr id="54" name="그래픽 53">
            <a:extLst>
              <a:ext uri="{FF2B5EF4-FFF2-40B4-BE49-F238E27FC236}">
                <a16:creationId xmlns:a16="http://schemas.microsoft.com/office/drawing/2014/main" id="{E4426C1A-533E-4357-892A-B18AA2F6E16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45654" y="2036024"/>
            <a:ext cx="337784" cy="258728"/>
          </a:xfrm>
          <a:prstGeom prst="rect">
            <a:avLst/>
          </a:prstGeom>
        </p:spPr>
      </p:pic>
      <p:pic>
        <p:nvPicPr>
          <p:cNvPr id="55" name="그래픽 54">
            <a:extLst>
              <a:ext uri="{FF2B5EF4-FFF2-40B4-BE49-F238E27FC236}">
                <a16:creationId xmlns:a16="http://schemas.microsoft.com/office/drawing/2014/main" id="{2FFB60F8-C267-459D-98B4-29FEA2D457D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02288" y="4785228"/>
            <a:ext cx="373718" cy="373718"/>
          </a:xfrm>
          <a:prstGeom prst="rect">
            <a:avLst/>
          </a:prstGeom>
        </p:spPr>
      </p:pic>
    </p:spTree>
    <p:extLst>
      <p:ext uri="{BB962C8B-B14F-4D97-AF65-F5344CB8AC3E}">
        <p14:creationId xmlns:p14="http://schemas.microsoft.com/office/powerpoint/2010/main" val="70373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34092135-5739-490A-B1FA-19E9C233F116}"/>
              </a:ext>
            </a:extLst>
          </p:cNvPr>
          <p:cNvSpPr txBox="1"/>
          <p:nvPr/>
        </p:nvSpPr>
        <p:spPr>
          <a:xfrm>
            <a:off x="6689272" y="418167"/>
            <a:ext cx="5502728" cy="523220"/>
          </a:xfrm>
          <a:prstGeom prst="rect">
            <a:avLst/>
          </a:prstGeom>
          <a:noFill/>
        </p:spPr>
        <p:txBody>
          <a:bodyPr wrap="square" rtlCol="0">
            <a:spAutoFit/>
          </a:bodyPr>
          <a:lstStyle>
            <a:defPPr>
              <a:defRPr lang="ko-KR"/>
            </a:defPPr>
            <a:lvl1pPr algn="ctr">
              <a:defRPr sz="3200">
                <a:solidFill>
                  <a:srgbClr val="827775"/>
                </a:solidFill>
                <a:latin typeface="+mj-lt"/>
                <a:cs typeface="Arial" panose="020B0604020202020204" pitchFamily="34" charset="0"/>
              </a:defRPr>
            </a:lvl1pPr>
          </a:lstStyle>
          <a:p>
            <a:pPr algn="l"/>
            <a:r>
              <a:rPr lang="en-US" altLang="ko-KR" sz="2800" dirty="0">
                <a:solidFill>
                  <a:srgbClr val="AD9485"/>
                </a:solidFill>
                <a:latin typeface="Times New Roman" panose="02020603050405020304" pitchFamily="18" charset="0"/>
                <a:ea typeface="宋体" panose="02010600030101010101" pitchFamily="2" charset="-122"/>
              </a:rPr>
              <a:t>Why choose BERT</a:t>
            </a:r>
            <a:endParaRPr lang="ko-KR" altLang="en-US" sz="2800" dirty="0">
              <a:solidFill>
                <a:srgbClr val="AD9485"/>
              </a:solidFill>
              <a:latin typeface="Times New Roman" panose="02020603050405020304" pitchFamily="18" charset="0"/>
            </a:endParaRPr>
          </a:p>
        </p:txBody>
      </p:sp>
      <p:sp>
        <p:nvSpPr>
          <p:cNvPr id="22" name="TextBox 21">
            <a:extLst>
              <a:ext uri="{FF2B5EF4-FFF2-40B4-BE49-F238E27FC236}">
                <a16:creationId xmlns:a16="http://schemas.microsoft.com/office/drawing/2014/main" id="{EE4F96BB-9222-4FEC-AC73-55296731FEBA}"/>
              </a:ext>
            </a:extLst>
          </p:cNvPr>
          <p:cNvSpPr txBox="1"/>
          <p:nvPr/>
        </p:nvSpPr>
        <p:spPr>
          <a:xfrm>
            <a:off x="6689272" y="1289071"/>
            <a:ext cx="5118223" cy="2554545"/>
          </a:xfrm>
          <a:prstGeom prst="rect">
            <a:avLst/>
          </a:prstGeom>
          <a:noFill/>
        </p:spPr>
        <p:txBody>
          <a:bodyPr wrap="square" rtlCol="0" anchor="ctr" anchorCtr="0">
            <a:spAutoFit/>
          </a:bodyPr>
          <a:lstStyle>
            <a:defPPr>
              <a:defRPr lang="ko-KR"/>
            </a:defPPr>
            <a:lvl1pPr>
              <a:defRPr sz="1100"/>
            </a:lvl1pPr>
          </a:lstStyle>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Compared to LSTM:</a:t>
            </a:r>
          </a:p>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Loss change</a:t>
            </a:r>
            <a:r>
              <a:rPr lang="zh-CN" altLang="en-US" sz="2000" dirty="0">
                <a:solidFill>
                  <a:schemeClr val="tx1">
                    <a:lumMod val="75000"/>
                    <a:lumOff val="25000"/>
                  </a:schemeClr>
                </a:solidFill>
                <a:latin typeface="Times New Roman" panose="02020603050405020304" pitchFamily="18" charset="0"/>
                <a:ea typeface="宋体" panose="02010600030101010101" pitchFamily="2" charset="-122"/>
              </a:rPr>
              <a:t>→</a:t>
            </a:r>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Better fitting reasoning ability.</a:t>
            </a:r>
          </a:p>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BLEURT</a:t>
            </a:r>
            <a:r>
              <a:rPr lang="zh-CN" altLang="en-US" sz="2000" dirty="0">
                <a:solidFill>
                  <a:schemeClr val="tx1">
                    <a:lumMod val="75000"/>
                    <a:lumOff val="25000"/>
                  </a:schemeClr>
                </a:solidFill>
                <a:latin typeface="Times New Roman" panose="02020603050405020304" pitchFamily="18" charset="0"/>
                <a:ea typeface="宋体" panose="02010600030101010101" pitchFamily="2" charset="-122"/>
              </a:rPr>
              <a:t>→</a:t>
            </a:r>
            <a:r>
              <a:rPr lang="en-US" altLang="zh-CN" sz="2000" dirty="0">
                <a:solidFill>
                  <a:schemeClr val="tx1">
                    <a:lumMod val="75000"/>
                    <a:lumOff val="25000"/>
                  </a:schemeClr>
                </a:solidFill>
                <a:latin typeface="Times New Roman" panose="02020603050405020304" pitchFamily="18" charset="0"/>
                <a:ea typeface="宋体" panose="02010600030101010101" pitchFamily="2" charset="-122"/>
              </a:rPr>
              <a:t>It can show the rhythmic characteristics in more depth.</a:t>
            </a:r>
            <a:endParaRPr lang="en-US" altLang="ko-KR" sz="2000" dirty="0">
              <a:solidFill>
                <a:schemeClr val="tx1">
                  <a:lumMod val="75000"/>
                  <a:lumOff val="25000"/>
                </a:schemeClr>
              </a:solidFill>
              <a:latin typeface="Times New Roman" panose="02020603050405020304" pitchFamily="18" charset="0"/>
              <a:ea typeface="宋体" panose="02010600030101010101" pitchFamily="2" charset="-122"/>
            </a:endParaRPr>
          </a:p>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Acrostic poetry</a:t>
            </a:r>
            <a:r>
              <a:rPr lang="zh-CN" altLang="en-US" sz="2000" dirty="0">
                <a:solidFill>
                  <a:schemeClr val="tx1">
                    <a:lumMod val="75000"/>
                    <a:lumOff val="25000"/>
                  </a:schemeClr>
                </a:solidFill>
                <a:latin typeface="Times New Roman" panose="02020603050405020304" pitchFamily="18" charset="0"/>
                <a:ea typeface="宋体" panose="02010600030101010101" pitchFamily="2" charset="-122"/>
              </a:rPr>
              <a:t>→</a:t>
            </a:r>
            <a:r>
              <a:rPr lang="en-US" altLang="zh-CN" sz="2000" dirty="0">
                <a:solidFill>
                  <a:schemeClr val="tx1">
                    <a:lumMod val="75000"/>
                    <a:lumOff val="25000"/>
                  </a:schemeClr>
                </a:solidFill>
                <a:latin typeface="Times New Roman" panose="02020603050405020304" pitchFamily="18" charset="0"/>
                <a:ea typeface="宋体" panose="02010600030101010101" pitchFamily="2" charset="-122"/>
              </a:rPr>
              <a:t>It can show the artistic conception of poetry</a:t>
            </a:r>
            <a:endParaRPr lang="en-US" altLang="ko-KR" sz="2000" dirty="0">
              <a:solidFill>
                <a:schemeClr val="tx1">
                  <a:lumMod val="75000"/>
                  <a:lumOff val="25000"/>
                </a:schemeClr>
              </a:solidFill>
              <a:latin typeface="Times New Roman" panose="02020603050405020304" pitchFamily="18" charset="0"/>
              <a:ea typeface="宋体" panose="02010600030101010101" pitchFamily="2" charset="-122"/>
            </a:endParaRPr>
          </a:p>
          <a:p>
            <a:endParaRPr lang="en-US" altLang="ko-KR" sz="2000" dirty="0">
              <a:solidFill>
                <a:schemeClr val="tx1">
                  <a:lumMod val="75000"/>
                  <a:lumOff val="25000"/>
                </a:schemeClr>
              </a:solidFill>
              <a:latin typeface="Times New Roman" panose="02020603050405020304" pitchFamily="18" charset="0"/>
              <a:ea typeface="宋体" panose="02010600030101010101" pitchFamily="2" charset="-122"/>
            </a:endParaRPr>
          </a:p>
          <a:p>
            <a:endParaRPr lang="ko-KR" altLang="en-US" sz="2000" dirty="0">
              <a:solidFill>
                <a:schemeClr val="tx1">
                  <a:lumMod val="75000"/>
                  <a:lumOff val="25000"/>
                </a:schemeClr>
              </a:solidFill>
              <a:latin typeface="Times New Roman" panose="02020603050405020304" pitchFamily="18" charset="0"/>
            </a:endParaRPr>
          </a:p>
        </p:txBody>
      </p:sp>
      <p:pic>
        <p:nvPicPr>
          <p:cNvPr id="9" name="그림 8">
            <a:extLst>
              <a:ext uri="{FF2B5EF4-FFF2-40B4-BE49-F238E27FC236}">
                <a16:creationId xmlns:a16="http://schemas.microsoft.com/office/drawing/2014/main" id="{48E076C0-7890-400F-98C7-EC092E04C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29000"/>
            <a:ext cx="2816891" cy="3421325"/>
          </a:xfrm>
          <a:prstGeom prst="rect">
            <a:avLst/>
          </a:prstGeom>
        </p:spPr>
      </p:pic>
      <p:pic>
        <p:nvPicPr>
          <p:cNvPr id="4" name="图片 3">
            <a:extLst>
              <a:ext uri="{FF2B5EF4-FFF2-40B4-BE49-F238E27FC236}">
                <a16:creationId xmlns:a16="http://schemas.microsoft.com/office/drawing/2014/main" id="{49DF060C-E187-7BF5-F562-35EBEA638056}"/>
              </a:ext>
            </a:extLst>
          </p:cNvPr>
          <p:cNvPicPr>
            <a:picLocks noChangeAspect="1"/>
          </p:cNvPicPr>
          <p:nvPr/>
        </p:nvPicPr>
        <p:blipFill>
          <a:blip r:embed="rId4"/>
          <a:stretch>
            <a:fillRect/>
          </a:stretch>
        </p:blipFill>
        <p:spPr>
          <a:xfrm>
            <a:off x="77034" y="119902"/>
            <a:ext cx="6612238" cy="2515610"/>
          </a:xfrm>
          <a:prstGeom prst="rect">
            <a:avLst/>
          </a:prstGeom>
        </p:spPr>
      </p:pic>
      <p:pic>
        <p:nvPicPr>
          <p:cNvPr id="6" name="图片 5">
            <a:extLst>
              <a:ext uri="{FF2B5EF4-FFF2-40B4-BE49-F238E27FC236}">
                <a16:creationId xmlns:a16="http://schemas.microsoft.com/office/drawing/2014/main" id="{7BD486A1-A445-C343-B42E-04719EEB2896}"/>
              </a:ext>
            </a:extLst>
          </p:cNvPr>
          <p:cNvPicPr>
            <a:picLocks noChangeAspect="1"/>
          </p:cNvPicPr>
          <p:nvPr/>
        </p:nvPicPr>
        <p:blipFill>
          <a:blip r:embed="rId5"/>
          <a:stretch>
            <a:fillRect/>
          </a:stretch>
        </p:blipFill>
        <p:spPr>
          <a:xfrm>
            <a:off x="172790" y="2986582"/>
            <a:ext cx="6751905" cy="3284505"/>
          </a:xfrm>
          <a:prstGeom prst="rect">
            <a:avLst/>
          </a:prstGeom>
        </p:spPr>
      </p:pic>
      <p:sp>
        <p:nvSpPr>
          <p:cNvPr id="7" name="文本框 6">
            <a:extLst>
              <a:ext uri="{FF2B5EF4-FFF2-40B4-BE49-F238E27FC236}">
                <a16:creationId xmlns:a16="http://schemas.microsoft.com/office/drawing/2014/main" id="{4A0DF990-3AFB-55BA-DBC9-E6150B085339}"/>
              </a:ext>
            </a:extLst>
          </p:cNvPr>
          <p:cNvSpPr txBox="1"/>
          <p:nvPr/>
        </p:nvSpPr>
        <p:spPr>
          <a:xfrm>
            <a:off x="7165589" y="5055170"/>
            <a:ext cx="4600587" cy="1754326"/>
          </a:xfrm>
          <a:prstGeom prst="rect">
            <a:avLst/>
          </a:prstGeom>
          <a:noFill/>
        </p:spPr>
        <p:txBody>
          <a:bodyPr wrap="square" rtlCol="0">
            <a:spAutoFit/>
          </a:bodyPr>
          <a:lstStyle/>
          <a:p>
            <a:r>
              <a:rPr lang="en-US" altLang="zh-CN" sz="1800" dirty="0">
                <a:effectLst/>
                <a:latin typeface="Times New Roman" panose="02020603050405020304" pitchFamily="18" charset="0"/>
                <a:ea typeface="宋体" panose="02010600030101010101" pitchFamily="2" charset="-122"/>
              </a:rPr>
              <a:t>He Z , You J , Lin S P ,et </a:t>
            </a:r>
            <a:r>
              <a:rPr lang="en-US" altLang="zh-CN" sz="1800" dirty="0" err="1">
                <a:effectLst/>
                <a:latin typeface="Times New Roman" panose="02020603050405020304" pitchFamily="18" charset="0"/>
                <a:ea typeface="宋体" panose="02010600030101010101" pitchFamily="2" charset="-122"/>
              </a:rPr>
              <a:t>al.Generation</a:t>
            </a:r>
            <a:r>
              <a:rPr lang="en-US" altLang="zh-CN" sz="1800" dirty="0">
                <a:effectLst/>
                <a:latin typeface="Times New Roman" panose="02020603050405020304" pitchFamily="18" charset="0"/>
                <a:ea typeface="宋体" panose="02010600030101010101" pitchFamily="2" charset="-122"/>
              </a:rPr>
              <a:t> of Chinese Tang Dynasty Poetry Based on BERT Model[J].Proceedings of the 2022 11th International Conference on Networks, Communication and Computing, 2022.DOI:10.1145/3579895.3579940.</a:t>
            </a:r>
            <a:endParaRPr lang="zh-CN" altLang="en-US"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800544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9EF7D3-E137-469A-9D77-6611B6F39593}"/>
              </a:ext>
            </a:extLst>
          </p:cNvPr>
          <p:cNvSpPr txBox="1"/>
          <p:nvPr/>
        </p:nvSpPr>
        <p:spPr>
          <a:xfrm>
            <a:off x="4225417" y="1782395"/>
            <a:ext cx="4664583" cy="3293209"/>
          </a:xfrm>
          <a:prstGeom prst="rect">
            <a:avLst/>
          </a:prstGeom>
          <a:noFill/>
        </p:spPr>
        <p:txBody>
          <a:bodyPr wrap="square" rtlCol="0" anchor="ctr"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4400" dirty="0">
                <a:solidFill>
                  <a:schemeClr val="tx1">
                    <a:lumMod val="75000"/>
                    <a:lumOff val="25000"/>
                  </a:schemeClr>
                </a:solidFill>
                <a:latin typeface="Times New Roman" panose="02020603050405020304" pitchFamily="18" charset="0"/>
                <a:ea typeface="宋体" panose="02010600030101010101" pitchFamily="2" charset="-122"/>
              </a:rPr>
              <a:t>Introduction to operating conditions and architecture</a:t>
            </a:r>
            <a:endParaRPr lang="ko-KR" altLang="en-US" sz="4400" dirty="0">
              <a:solidFill>
                <a:schemeClr val="tx1">
                  <a:lumMod val="75000"/>
                  <a:lumOff val="25000"/>
                </a:schemeClr>
              </a:solidFill>
              <a:latin typeface="Times New Roman" panose="02020603050405020304" pitchFamily="18" charset="0"/>
            </a:endParaRPr>
          </a:p>
          <a:p>
            <a:endParaRPr lang="zh-CN" altLang="en-US" sz="32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805222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2234CD60-32BF-4A50-9893-A36CD540F308}"/>
              </a:ext>
            </a:extLst>
          </p:cNvPr>
          <p:cNvSpPr txBox="1"/>
          <p:nvPr/>
        </p:nvSpPr>
        <p:spPr>
          <a:xfrm>
            <a:off x="2484726" y="253592"/>
            <a:ext cx="7222548" cy="523220"/>
          </a:xfrm>
          <a:prstGeom prst="rect">
            <a:avLst/>
          </a:prstGeom>
          <a:noFill/>
        </p:spPr>
        <p:txBody>
          <a:bodyPr wrap="square" rtlCol="0">
            <a:spAutoFit/>
          </a:bodyPr>
          <a:lstStyle>
            <a:defPPr>
              <a:defRPr lang="ko-KR"/>
            </a:defPPr>
            <a:lvl1pPr algn="ctr">
              <a:defRPr sz="2800">
                <a:solidFill>
                  <a:schemeClr val="bg1"/>
                </a:solidFill>
                <a:latin typeface="+mj-lt"/>
                <a:cs typeface="Arial" panose="020B0604020202020204" pitchFamily="34" charset="0"/>
              </a:defRPr>
            </a:lvl1pPr>
          </a:lstStyle>
          <a:p>
            <a:r>
              <a:rPr lang="en-US" altLang="ko-KR" dirty="0">
                <a:solidFill>
                  <a:srgbClr val="AD9485"/>
                </a:solidFill>
                <a:latin typeface="Times New Roman" panose="02020603050405020304" pitchFamily="18" charset="0"/>
                <a:ea typeface="宋体" panose="02010600030101010101" pitchFamily="2" charset="-122"/>
              </a:rPr>
              <a:t>Key knowledge that are used</a:t>
            </a:r>
            <a:endParaRPr lang="ko-KR" altLang="en-US" dirty="0">
              <a:solidFill>
                <a:srgbClr val="AD9485"/>
              </a:solidFill>
              <a:latin typeface="Times New Roman" panose="02020603050405020304" pitchFamily="18" charset="0"/>
            </a:endParaRPr>
          </a:p>
        </p:txBody>
      </p:sp>
      <p:sp>
        <p:nvSpPr>
          <p:cNvPr id="16" name="타원 15">
            <a:extLst>
              <a:ext uri="{FF2B5EF4-FFF2-40B4-BE49-F238E27FC236}">
                <a16:creationId xmlns:a16="http://schemas.microsoft.com/office/drawing/2014/main" id="{A04EC019-3282-435B-BFEF-40A9374E99FA}"/>
              </a:ext>
            </a:extLst>
          </p:cNvPr>
          <p:cNvSpPr/>
          <p:nvPr/>
        </p:nvSpPr>
        <p:spPr>
          <a:xfrm>
            <a:off x="1819637" y="1486960"/>
            <a:ext cx="1446078" cy="1446078"/>
          </a:xfrm>
          <a:prstGeom prst="ellipse">
            <a:avLst/>
          </a:prstGeom>
          <a:solidFill>
            <a:srgbClr val="AD94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2400">
              <a:solidFill>
                <a:schemeClr val="bg1"/>
              </a:solidFill>
              <a:latin typeface="+mj-lt"/>
            </a:endParaRPr>
          </a:p>
        </p:txBody>
      </p:sp>
      <p:sp>
        <p:nvSpPr>
          <p:cNvPr id="17" name="TextBox 16">
            <a:extLst>
              <a:ext uri="{FF2B5EF4-FFF2-40B4-BE49-F238E27FC236}">
                <a16:creationId xmlns:a16="http://schemas.microsoft.com/office/drawing/2014/main" id="{E1C1E9B4-D61E-4D83-B6F7-6B7AB636E1F9}"/>
              </a:ext>
            </a:extLst>
          </p:cNvPr>
          <p:cNvSpPr txBox="1"/>
          <p:nvPr/>
        </p:nvSpPr>
        <p:spPr>
          <a:xfrm>
            <a:off x="1110252" y="3763071"/>
            <a:ext cx="2864848" cy="646331"/>
          </a:xfrm>
          <a:prstGeom prst="rect">
            <a:avLst/>
          </a:prstGeom>
          <a:noFill/>
        </p:spPr>
        <p:txBody>
          <a:bodyPr wrap="square" rtlCol="0">
            <a:spAutoFit/>
          </a:bodyPr>
          <a:lstStyle>
            <a:defPPr>
              <a:defRPr lang="ko-KR"/>
            </a:defPPr>
            <a:lvl1pPr>
              <a:lnSpc>
                <a:spcPct val="100000"/>
              </a:lnSpc>
              <a:defRPr sz="1100">
                <a:solidFill>
                  <a:schemeClr val="tx1">
                    <a:lumMod val="75000"/>
                    <a:lumOff val="25000"/>
                  </a:schemeClr>
                </a:solidFill>
              </a:defRPr>
            </a:lvl1pPr>
          </a:lstStyle>
          <a:p>
            <a:pPr algn="ctr"/>
            <a:r>
              <a:rPr lang="en-US" altLang="ko-KR" sz="1800" dirty="0">
                <a:latin typeface="Times New Roman" panose="02020603050405020304" pitchFamily="18" charset="0"/>
                <a:ea typeface="宋体" panose="02010600030101010101" pitchFamily="2" charset="-122"/>
              </a:rPr>
              <a:t>A pretrained deep learning model</a:t>
            </a:r>
          </a:p>
        </p:txBody>
      </p:sp>
      <p:sp>
        <p:nvSpPr>
          <p:cNvPr id="18" name="직사각형 17">
            <a:extLst>
              <a:ext uri="{FF2B5EF4-FFF2-40B4-BE49-F238E27FC236}">
                <a16:creationId xmlns:a16="http://schemas.microsoft.com/office/drawing/2014/main" id="{BDEE30EB-0857-4409-A94E-6E35170357D6}"/>
              </a:ext>
            </a:extLst>
          </p:cNvPr>
          <p:cNvSpPr/>
          <p:nvPr/>
        </p:nvSpPr>
        <p:spPr>
          <a:xfrm>
            <a:off x="1110252" y="3205419"/>
            <a:ext cx="2864848" cy="400110"/>
          </a:xfrm>
          <a:prstGeom prst="rect">
            <a:avLst/>
          </a:prstGeom>
          <a:noFill/>
        </p:spPr>
        <p:txBody>
          <a:bodyPr wrap="square" rtlCol="0">
            <a:spAutoFit/>
          </a:bodyPr>
          <a:lstStyle/>
          <a:p>
            <a:pPr algn="ctr"/>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BERT</a:t>
            </a:r>
          </a:p>
        </p:txBody>
      </p:sp>
      <p:sp>
        <p:nvSpPr>
          <p:cNvPr id="26" name="타원 25">
            <a:extLst>
              <a:ext uri="{FF2B5EF4-FFF2-40B4-BE49-F238E27FC236}">
                <a16:creationId xmlns:a16="http://schemas.microsoft.com/office/drawing/2014/main" id="{EC9BF794-3CC1-40B9-9A1F-836E71B9D2D9}"/>
              </a:ext>
            </a:extLst>
          </p:cNvPr>
          <p:cNvSpPr/>
          <p:nvPr/>
        </p:nvSpPr>
        <p:spPr>
          <a:xfrm>
            <a:off x="8926285" y="1486960"/>
            <a:ext cx="1446078" cy="1446078"/>
          </a:xfrm>
          <a:prstGeom prst="ellipse">
            <a:avLst/>
          </a:prstGeom>
          <a:solidFill>
            <a:srgbClr val="AD94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2400">
              <a:solidFill>
                <a:schemeClr val="bg1"/>
              </a:solidFill>
              <a:latin typeface="+mj-lt"/>
            </a:endParaRPr>
          </a:p>
        </p:txBody>
      </p:sp>
      <p:sp>
        <p:nvSpPr>
          <p:cNvPr id="27" name="TextBox 26">
            <a:extLst>
              <a:ext uri="{FF2B5EF4-FFF2-40B4-BE49-F238E27FC236}">
                <a16:creationId xmlns:a16="http://schemas.microsoft.com/office/drawing/2014/main" id="{41D402C0-90DC-4D77-8FEF-519C1F8B104F}"/>
              </a:ext>
            </a:extLst>
          </p:cNvPr>
          <p:cNvSpPr txBox="1"/>
          <p:nvPr/>
        </p:nvSpPr>
        <p:spPr>
          <a:xfrm>
            <a:off x="8216900" y="3763071"/>
            <a:ext cx="2864848" cy="369332"/>
          </a:xfrm>
          <a:prstGeom prst="rect">
            <a:avLst/>
          </a:prstGeom>
          <a:noFill/>
        </p:spPr>
        <p:txBody>
          <a:bodyPr wrap="square" rtlCol="0">
            <a:spAutoFit/>
          </a:bodyPr>
          <a:lstStyle>
            <a:defPPr>
              <a:defRPr lang="ko-KR"/>
            </a:defPPr>
            <a:lvl1pPr>
              <a:lnSpc>
                <a:spcPct val="100000"/>
              </a:lnSpc>
              <a:defRPr sz="1100">
                <a:solidFill>
                  <a:schemeClr val="tx1">
                    <a:lumMod val="75000"/>
                    <a:lumOff val="25000"/>
                  </a:schemeClr>
                </a:solidFill>
              </a:defRPr>
            </a:lvl1pPr>
          </a:lstStyle>
          <a:p>
            <a:pPr algn="ctr"/>
            <a:r>
              <a:rPr lang="en-US" altLang="ko-KR" sz="1800" dirty="0">
                <a:latin typeface="Times New Roman" panose="02020603050405020304" pitchFamily="18" charset="0"/>
                <a:ea typeface="宋体" panose="02010600030101010101" pitchFamily="2" charset="-122"/>
              </a:rPr>
              <a:t>GUI library</a:t>
            </a:r>
          </a:p>
        </p:txBody>
      </p:sp>
      <p:sp>
        <p:nvSpPr>
          <p:cNvPr id="28" name="직사각형 27">
            <a:extLst>
              <a:ext uri="{FF2B5EF4-FFF2-40B4-BE49-F238E27FC236}">
                <a16:creationId xmlns:a16="http://schemas.microsoft.com/office/drawing/2014/main" id="{68069D9B-D742-4695-B9DF-E2C1B1F71961}"/>
              </a:ext>
            </a:extLst>
          </p:cNvPr>
          <p:cNvSpPr/>
          <p:nvPr/>
        </p:nvSpPr>
        <p:spPr>
          <a:xfrm>
            <a:off x="8216900" y="3205419"/>
            <a:ext cx="2864848" cy="400110"/>
          </a:xfrm>
          <a:prstGeom prst="rect">
            <a:avLst/>
          </a:prstGeom>
          <a:noFill/>
        </p:spPr>
        <p:txBody>
          <a:bodyPr wrap="square" rtlCol="0">
            <a:spAutoFit/>
          </a:bodyPr>
          <a:lstStyle/>
          <a:p>
            <a:pPr algn="ctr"/>
            <a:r>
              <a:rPr lang="en-US" altLang="ko-KR" sz="2000" dirty="0" err="1">
                <a:solidFill>
                  <a:schemeClr val="tx1">
                    <a:lumMod val="75000"/>
                    <a:lumOff val="25000"/>
                  </a:schemeClr>
                </a:solidFill>
                <a:latin typeface="Times New Roman" panose="02020603050405020304" pitchFamily="18" charset="0"/>
                <a:ea typeface="宋体" panose="02010600030101010101" pitchFamily="2" charset="-122"/>
              </a:rPr>
              <a:t>Tkinter</a:t>
            </a:r>
            <a:endParaRPr lang="en-US" altLang="ko-KR" sz="2000" dirty="0">
              <a:solidFill>
                <a:schemeClr val="tx1">
                  <a:lumMod val="75000"/>
                  <a:lumOff val="25000"/>
                </a:schemeClr>
              </a:solidFill>
              <a:latin typeface="Times New Roman" panose="02020603050405020304" pitchFamily="18" charset="0"/>
              <a:ea typeface="宋体" panose="02010600030101010101" pitchFamily="2" charset="-122"/>
            </a:endParaRPr>
          </a:p>
        </p:txBody>
      </p:sp>
      <p:sp>
        <p:nvSpPr>
          <p:cNvPr id="39" name="타원 38">
            <a:extLst>
              <a:ext uri="{FF2B5EF4-FFF2-40B4-BE49-F238E27FC236}">
                <a16:creationId xmlns:a16="http://schemas.microsoft.com/office/drawing/2014/main" id="{2A9B48A1-0110-44DF-8A3D-41E2116A414B}"/>
              </a:ext>
            </a:extLst>
          </p:cNvPr>
          <p:cNvSpPr/>
          <p:nvPr/>
        </p:nvSpPr>
        <p:spPr>
          <a:xfrm>
            <a:off x="5372961" y="1486960"/>
            <a:ext cx="1446078" cy="1446078"/>
          </a:xfrm>
          <a:prstGeom prst="ellipse">
            <a:avLst/>
          </a:prstGeom>
          <a:solidFill>
            <a:srgbClr val="AD94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2400">
              <a:solidFill>
                <a:schemeClr val="bg1"/>
              </a:solidFill>
              <a:latin typeface="+mj-lt"/>
            </a:endParaRPr>
          </a:p>
        </p:txBody>
      </p:sp>
      <p:sp>
        <p:nvSpPr>
          <p:cNvPr id="40" name="TextBox 39">
            <a:extLst>
              <a:ext uri="{FF2B5EF4-FFF2-40B4-BE49-F238E27FC236}">
                <a16:creationId xmlns:a16="http://schemas.microsoft.com/office/drawing/2014/main" id="{C5405C10-3D5D-4613-A7C1-8F6EAB5E7314}"/>
              </a:ext>
            </a:extLst>
          </p:cNvPr>
          <p:cNvSpPr txBox="1"/>
          <p:nvPr/>
        </p:nvSpPr>
        <p:spPr>
          <a:xfrm>
            <a:off x="4663576" y="3763071"/>
            <a:ext cx="2864848" cy="646331"/>
          </a:xfrm>
          <a:prstGeom prst="rect">
            <a:avLst/>
          </a:prstGeom>
          <a:noFill/>
        </p:spPr>
        <p:txBody>
          <a:bodyPr wrap="square" rtlCol="0">
            <a:spAutoFit/>
          </a:bodyPr>
          <a:lstStyle>
            <a:defPPr>
              <a:defRPr lang="ko-KR"/>
            </a:defPPr>
            <a:lvl1pPr>
              <a:lnSpc>
                <a:spcPct val="100000"/>
              </a:lnSpc>
              <a:defRPr sz="1100">
                <a:solidFill>
                  <a:schemeClr val="tx1">
                    <a:lumMod val="75000"/>
                    <a:lumOff val="25000"/>
                  </a:schemeClr>
                </a:solidFill>
              </a:defRPr>
            </a:lvl1pPr>
          </a:lstStyle>
          <a:p>
            <a:pPr algn="ctr"/>
            <a:r>
              <a:rPr lang="en-US" altLang="ko-KR" sz="1800" dirty="0">
                <a:latin typeface="Times New Roman" panose="02020603050405020304" pitchFamily="18" charset="0"/>
                <a:ea typeface="宋体" panose="02010600030101010101" pitchFamily="2" charset="-122"/>
              </a:rPr>
              <a:t>A deep learning platform developed by Baidu</a:t>
            </a:r>
          </a:p>
        </p:txBody>
      </p:sp>
      <p:sp>
        <p:nvSpPr>
          <p:cNvPr id="41" name="직사각형 40">
            <a:extLst>
              <a:ext uri="{FF2B5EF4-FFF2-40B4-BE49-F238E27FC236}">
                <a16:creationId xmlns:a16="http://schemas.microsoft.com/office/drawing/2014/main" id="{48B85E3D-9277-402F-BD72-15C7E0FA10B8}"/>
              </a:ext>
            </a:extLst>
          </p:cNvPr>
          <p:cNvSpPr/>
          <p:nvPr/>
        </p:nvSpPr>
        <p:spPr>
          <a:xfrm>
            <a:off x="4663576" y="3205419"/>
            <a:ext cx="2864848" cy="400110"/>
          </a:xfrm>
          <a:prstGeom prst="rect">
            <a:avLst/>
          </a:prstGeom>
          <a:noFill/>
        </p:spPr>
        <p:txBody>
          <a:bodyPr wrap="square" rtlCol="0">
            <a:spAutoFit/>
          </a:bodyPr>
          <a:lstStyle/>
          <a:p>
            <a:pPr algn="ctr"/>
            <a:r>
              <a:rPr lang="en-US" altLang="zh-CN" sz="2000" dirty="0">
                <a:solidFill>
                  <a:schemeClr val="tx1">
                    <a:lumMod val="75000"/>
                    <a:lumOff val="25000"/>
                  </a:schemeClr>
                </a:solidFill>
                <a:latin typeface="Times New Roman" panose="02020603050405020304" pitchFamily="18" charset="0"/>
                <a:ea typeface="宋体" panose="02010600030101010101" pitchFamily="2" charset="-122"/>
              </a:rPr>
              <a:t>paddle</a:t>
            </a:r>
            <a:endParaRPr lang="en-US" altLang="ko-KR" sz="2000" dirty="0">
              <a:solidFill>
                <a:schemeClr val="tx1">
                  <a:lumMod val="75000"/>
                  <a:lumOff val="25000"/>
                </a:schemeClr>
              </a:solidFill>
              <a:latin typeface="Times New Roman" panose="02020603050405020304" pitchFamily="18" charset="0"/>
              <a:ea typeface="宋体" panose="02010600030101010101" pitchFamily="2" charset="-122"/>
            </a:endParaRPr>
          </a:p>
        </p:txBody>
      </p:sp>
      <p:pic>
        <p:nvPicPr>
          <p:cNvPr id="46" name="그래픽 45">
            <a:extLst>
              <a:ext uri="{FF2B5EF4-FFF2-40B4-BE49-F238E27FC236}">
                <a16:creationId xmlns:a16="http://schemas.microsoft.com/office/drawing/2014/main" id="{C211FBB6-C271-4EB5-895E-F158F1956C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46309" y="1942472"/>
            <a:ext cx="499382" cy="535054"/>
          </a:xfrm>
          <a:prstGeom prst="rect">
            <a:avLst/>
          </a:prstGeom>
        </p:spPr>
      </p:pic>
      <p:pic>
        <p:nvPicPr>
          <p:cNvPr id="47" name="그래픽 46">
            <a:extLst>
              <a:ext uri="{FF2B5EF4-FFF2-40B4-BE49-F238E27FC236}">
                <a16:creationId xmlns:a16="http://schemas.microsoft.com/office/drawing/2014/main" id="{EF4C6D17-99E5-4C35-8A7B-B896930921C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46126" y="1906801"/>
            <a:ext cx="606396" cy="606396"/>
          </a:xfrm>
          <a:prstGeom prst="rect">
            <a:avLst/>
          </a:prstGeom>
        </p:spPr>
      </p:pic>
      <p:pic>
        <p:nvPicPr>
          <p:cNvPr id="48" name="그래픽 47">
            <a:extLst>
              <a:ext uri="{FF2B5EF4-FFF2-40B4-BE49-F238E27FC236}">
                <a16:creationId xmlns:a16="http://schemas.microsoft.com/office/drawing/2014/main" id="{22B68F1C-D2ED-410D-A42C-E613494B88F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51368" y="1936527"/>
            <a:ext cx="582616" cy="546944"/>
          </a:xfrm>
          <a:prstGeom prst="rect">
            <a:avLst/>
          </a:prstGeom>
        </p:spPr>
      </p:pic>
    </p:spTree>
    <p:extLst>
      <p:ext uri="{BB962C8B-B14F-4D97-AF65-F5344CB8AC3E}">
        <p14:creationId xmlns:p14="http://schemas.microsoft.com/office/powerpoint/2010/main" val="566444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9D57EA6A-37F8-43D0-9CDE-501359708E15}"/>
              </a:ext>
            </a:extLst>
          </p:cNvPr>
          <p:cNvSpPr/>
          <p:nvPr/>
        </p:nvSpPr>
        <p:spPr>
          <a:xfrm>
            <a:off x="6958146" y="1067890"/>
            <a:ext cx="3446418" cy="4722220"/>
          </a:xfrm>
          <a:prstGeom prst="rect">
            <a:avLst/>
          </a:prstGeom>
          <a:solidFill>
            <a:srgbClr val="AD94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2400" dirty="0">
              <a:solidFill>
                <a:schemeClr val="bg1"/>
              </a:solidFill>
              <a:latin typeface="+mj-lt"/>
            </a:endParaRPr>
          </a:p>
        </p:txBody>
      </p:sp>
      <p:sp>
        <p:nvSpPr>
          <p:cNvPr id="10" name="직사각형 9">
            <a:extLst>
              <a:ext uri="{FF2B5EF4-FFF2-40B4-BE49-F238E27FC236}">
                <a16:creationId xmlns:a16="http://schemas.microsoft.com/office/drawing/2014/main" id="{971FA836-EC1D-48E9-A948-8DC7A775664E}"/>
              </a:ext>
            </a:extLst>
          </p:cNvPr>
          <p:cNvSpPr/>
          <p:nvPr/>
        </p:nvSpPr>
        <p:spPr>
          <a:xfrm>
            <a:off x="1787434" y="1067890"/>
            <a:ext cx="3446418" cy="4722220"/>
          </a:xfrm>
          <a:prstGeom prst="rect">
            <a:avLst/>
          </a:prstGeom>
          <a:solidFill>
            <a:srgbClr val="AD94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2400" dirty="0">
              <a:solidFill>
                <a:schemeClr val="bg1"/>
              </a:solidFill>
              <a:latin typeface="+mj-lt"/>
            </a:endParaRPr>
          </a:p>
        </p:txBody>
      </p:sp>
      <p:sp>
        <p:nvSpPr>
          <p:cNvPr id="12" name="직사각형 11">
            <a:extLst>
              <a:ext uri="{FF2B5EF4-FFF2-40B4-BE49-F238E27FC236}">
                <a16:creationId xmlns:a16="http://schemas.microsoft.com/office/drawing/2014/main" id="{98EAA272-5B38-4C80-98CD-EAB04D63B46E}"/>
              </a:ext>
            </a:extLst>
          </p:cNvPr>
          <p:cNvSpPr/>
          <p:nvPr/>
        </p:nvSpPr>
        <p:spPr>
          <a:xfrm>
            <a:off x="1909532" y="1213347"/>
            <a:ext cx="3202218" cy="523220"/>
          </a:xfrm>
          <a:prstGeom prst="rect">
            <a:avLst/>
          </a:prstGeom>
        </p:spPr>
        <p:txBody>
          <a:bodyPr wrap="square">
            <a:spAutoFit/>
          </a:bodyPr>
          <a:lstStyle/>
          <a:p>
            <a:r>
              <a:rPr lang="en-US" altLang="ko-KR" sz="2800" dirty="0">
                <a:solidFill>
                  <a:schemeClr val="bg1"/>
                </a:solidFill>
                <a:latin typeface="Times New Roman" panose="02020603050405020304" pitchFamily="18" charset="0"/>
                <a:ea typeface="宋体" panose="02010600030101010101" pitchFamily="2" charset="-122"/>
              </a:rPr>
              <a:t>structure</a:t>
            </a:r>
            <a:endParaRPr lang="ko-KR" altLang="en-US" sz="2800" dirty="0">
              <a:solidFill>
                <a:schemeClr val="bg1"/>
              </a:solidFill>
              <a:latin typeface="Times New Roman" panose="02020603050405020304" pitchFamily="18" charset="0"/>
            </a:endParaRPr>
          </a:p>
        </p:txBody>
      </p:sp>
      <p:sp>
        <p:nvSpPr>
          <p:cNvPr id="13" name="TextBox 12">
            <a:extLst>
              <a:ext uri="{FF2B5EF4-FFF2-40B4-BE49-F238E27FC236}">
                <a16:creationId xmlns:a16="http://schemas.microsoft.com/office/drawing/2014/main" id="{1759296A-6814-4020-8CF3-13FF5EEA2EC4}"/>
              </a:ext>
            </a:extLst>
          </p:cNvPr>
          <p:cNvSpPr txBox="1"/>
          <p:nvPr/>
        </p:nvSpPr>
        <p:spPr>
          <a:xfrm>
            <a:off x="7019195" y="1881516"/>
            <a:ext cx="3202218" cy="338554"/>
          </a:xfrm>
          <a:prstGeom prst="rect">
            <a:avLst/>
          </a:prstGeom>
          <a:noFill/>
        </p:spPr>
        <p:txBody>
          <a:bodyPr wrap="square" rtlCol="0">
            <a:spAutoFit/>
          </a:bodyPr>
          <a:lstStyle/>
          <a:p>
            <a:r>
              <a:rPr lang="en-US" altLang="ko-KR" sz="1600" dirty="0">
                <a:solidFill>
                  <a:schemeClr val="bg1"/>
                </a:solidFill>
                <a:latin typeface="Times New Roman" panose="02020603050405020304" pitchFamily="18" charset="0"/>
                <a:ea typeface="宋体" panose="02010600030101010101" pitchFamily="2" charset="-122"/>
              </a:rPr>
              <a:t>Could be used in paddle</a:t>
            </a:r>
            <a:endParaRPr lang="ko-KR" altLang="en-US" sz="1600" dirty="0">
              <a:solidFill>
                <a:schemeClr val="bg1"/>
              </a:solidFill>
              <a:latin typeface="Times New Roman" panose="02020603050405020304" pitchFamily="18" charset="0"/>
            </a:endParaRPr>
          </a:p>
        </p:txBody>
      </p:sp>
      <p:sp>
        <p:nvSpPr>
          <p:cNvPr id="14" name="직사각형 13">
            <a:extLst>
              <a:ext uri="{FF2B5EF4-FFF2-40B4-BE49-F238E27FC236}">
                <a16:creationId xmlns:a16="http://schemas.microsoft.com/office/drawing/2014/main" id="{D6EC8EBC-06D3-40DE-9AFC-CB4762F6EA8D}"/>
              </a:ext>
            </a:extLst>
          </p:cNvPr>
          <p:cNvSpPr/>
          <p:nvPr/>
        </p:nvSpPr>
        <p:spPr>
          <a:xfrm>
            <a:off x="7080244" y="1213347"/>
            <a:ext cx="3446418" cy="523220"/>
          </a:xfrm>
          <a:prstGeom prst="rect">
            <a:avLst/>
          </a:prstGeom>
        </p:spPr>
        <p:txBody>
          <a:bodyPr wrap="square">
            <a:spAutoFit/>
          </a:bodyPr>
          <a:lstStyle/>
          <a:p>
            <a:r>
              <a:rPr lang="en-US" altLang="zh-CN" sz="2800" dirty="0">
                <a:solidFill>
                  <a:schemeClr val="bg1"/>
                </a:solidFill>
                <a:latin typeface="Times New Roman" panose="02020603050405020304" pitchFamily="18" charset="0"/>
                <a:ea typeface="宋体" panose="02010600030101010101" pitchFamily="2" charset="-122"/>
              </a:rPr>
              <a:t>Bert-base-</a:t>
            </a:r>
            <a:r>
              <a:rPr lang="en-US" altLang="zh-CN" sz="2800" dirty="0" err="1">
                <a:solidFill>
                  <a:schemeClr val="bg1"/>
                </a:solidFill>
                <a:latin typeface="Times New Roman" panose="02020603050405020304" pitchFamily="18" charset="0"/>
                <a:ea typeface="宋体" panose="02010600030101010101" pitchFamily="2" charset="-122"/>
              </a:rPr>
              <a:t>chinese</a:t>
            </a:r>
            <a:endParaRPr lang="ko-KR" altLang="en-US" sz="2800" dirty="0">
              <a:solidFill>
                <a:schemeClr val="bg1"/>
              </a:solidFill>
              <a:latin typeface="Times New Roman" panose="02020603050405020304" pitchFamily="18" charset="0"/>
            </a:endParaRPr>
          </a:p>
        </p:txBody>
      </p:sp>
      <p:pic>
        <p:nvPicPr>
          <p:cNvPr id="8" name="图片 7">
            <a:extLst>
              <a:ext uri="{FF2B5EF4-FFF2-40B4-BE49-F238E27FC236}">
                <a16:creationId xmlns:a16="http://schemas.microsoft.com/office/drawing/2014/main" id="{C8165841-CD0D-D0AA-A1E8-427D86BE8E40}"/>
              </a:ext>
            </a:extLst>
          </p:cNvPr>
          <p:cNvPicPr>
            <a:picLocks noChangeAspect="1"/>
          </p:cNvPicPr>
          <p:nvPr/>
        </p:nvPicPr>
        <p:blipFill>
          <a:blip r:embed="rId3"/>
          <a:stretch>
            <a:fillRect/>
          </a:stretch>
        </p:blipFill>
        <p:spPr>
          <a:xfrm>
            <a:off x="1716910" y="2983159"/>
            <a:ext cx="3516943" cy="2806951"/>
          </a:xfrm>
          <a:prstGeom prst="rect">
            <a:avLst/>
          </a:prstGeom>
        </p:spPr>
      </p:pic>
      <p:pic>
        <p:nvPicPr>
          <p:cNvPr id="2050" name="Picture 2">
            <a:extLst>
              <a:ext uri="{FF2B5EF4-FFF2-40B4-BE49-F238E27FC236}">
                <a16:creationId xmlns:a16="http://schemas.microsoft.com/office/drawing/2014/main" id="{45DD3DF5-8E3A-3CE2-9F3C-6CAC37B47854}"/>
              </a:ext>
            </a:extLst>
          </p:cNvPr>
          <p:cNvPicPr>
            <a:picLocks noGrp="1" noChangeAspect="1" noChangeArrowheads="1"/>
          </p:cNvPicPr>
          <p:nvPr>
            <p:ph type="pic" sz="quarter" idx="12"/>
          </p:nvPr>
        </p:nvPicPr>
        <p:blipFill rotWithShape="1">
          <a:blip r:embed="rId4">
            <a:extLst>
              <a:ext uri="{28A0092B-C50C-407E-A947-70E740481C1C}">
                <a14:useLocalDpi xmlns:a14="http://schemas.microsoft.com/office/drawing/2010/main" val="0"/>
              </a:ext>
            </a:extLst>
          </a:blip>
          <a:srcRect l="-1035" t="231" r="71811" b="-7279"/>
          <a:stretch/>
        </p:blipFill>
        <p:spPr bwMode="auto">
          <a:xfrm>
            <a:off x="6836044" y="2983159"/>
            <a:ext cx="3568520" cy="3568516"/>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3">
            <a:extLst>
              <a:ext uri="{FF2B5EF4-FFF2-40B4-BE49-F238E27FC236}">
                <a16:creationId xmlns:a16="http://schemas.microsoft.com/office/drawing/2014/main" id="{D0C8F5E9-4D84-D6A4-95A2-6DA80C195487}"/>
              </a:ext>
            </a:extLst>
          </p:cNvPr>
          <p:cNvSpPr>
            <a:spLocks noChangeArrowheads="1"/>
          </p:cNvSpPr>
          <p:nvPr/>
        </p:nvSpPr>
        <p:spPr bwMode="auto">
          <a:xfrm>
            <a:off x="0" y="-461665"/>
            <a:ext cx="180049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bert-base-chinese</a:t>
            </a: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b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8" name="TextBox 18">
            <a:extLst>
              <a:ext uri="{FF2B5EF4-FFF2-40B4-BE49-F238E27FC236}">
                <a16:creationId xmlns:a16="http://schemas.microsoft.com/office/drawing/2014/main" id="{F64E0219-DA6E-A734-DE08-D01D574DB234}"/>
              </a:ext>
            </a:extLst>
          </p:cNvPr>
          <p:cNvSpPr txBox="1"/>
          <p:nvPr/>
        </p:nvSpPr>
        <p:spPr>
          <a:xfrm>
            <a:off x="-3268134" y="283956"/>
            <a:ext cx="8666936" cy="646331"/>
          </a:xfrm>
          <a:prstGeom prst="rect">
            <a:avLst/>
          </a:prstGeom>
          <a:noFill/>
        </p:spPr>
        <p:txBody>
          <a:bodyPr wrap="square" rtlCol="0">
            <a:spAutoFit/>
          </a:bodyPr>
          <a:lstStyle/>
          <a:p>
            <a:pPr algn="ctr"/>
            <a:r>
              <a:rPr lang="en-US" altLang="zh-CN" sz="3600" dirty="0">
                <a:solidFill>
                  <a:srgbClr val="AD9485"/>
                </a:solidFill>
                <a:latin typeface="Times New Roman" panose="02020603050405020304" pitchFamily="18" charset="0"/>
                <a:ea typeface="宋体" panose="02010600030101010101" pitchFamily="2" charset="-122"/>
                <a:cs typeface="Arial" panose="020B0604020202020204" pitchFamily="34" charset="0"/>
              </a:rPr>
              <a:t>BERT</a:t>
            </a:r>
            <a:endParaRPr lang="ko-KR" altLang="en-US" sz="3600" dirty="0">
              <a:solidFill>
                <a:srgbClr val="AD9485"/>
              </a:solidFill>
              <a:latin typeface="Times New Roman" panose="02020603050405020304" pitchFamily="18" charset="0"/>
              <a:cs typeface="Arial" panose="020B0604020202020204" pitchFamily="34" charset="0"/>
            </a:endParaRPr>
          </a:p>
        </p:txBody>
      </p:sp>
      <p:sp>
        <p:nvSpPr>
          <p:cNvPr id="2" name="TextBox 12">
            <a:extLst>
              <a:ext uri="{FF2B5EF4-FFF2-40B4-BE49-F238E27FC236}">
                <a16:creationId xmlns:a16="http://schemas.microsoft.com/office/drawing/2014/main" id="{BB81E954-BC56-E22E-DC1C-CD91A88AD6F2}"/>
              </a:ext>
            </a:extLst>
          </p:cNvPr>
          <p:cNvSpPr txBox="1"/>
          <p:nvPr/>
        </p:nvSpPr>
        <p:spPr>
          <a:xfrm>
            <a:off x="1970587" y="1838325"/>
            <a:ext cx="3202218" cy="830997"/>
          </a:xfrm>
          <a:prstGeom prst="rect">
            <a:avLst/>
          </a:prstGeom>
          <a:noFill/>
        </p:spPr>
        <p:txBody>
          <a:bodyPr wrap="square" rtlCol="0">
            <a:spAutoFit/>
          </a:bodyPr>
          <a:lstStyle/>
          <a:p>
            <a:r>
              <a:rPr lang="en-US" altLang="ko-KR" sz="1600" dirty="0">
                <a:solidFill>
                  <a:schemeClr val="bg1"/>
                </a:solidFill>
                <a:latin typeface="Times New Roman" panose="02020603050405020304" pitchFamily="18" charset="0"/>
                <a:ea typeface="宋体" panose="02010600030101010101" pitchFamily="2" charset="-122"/>
              </a:rPr>
              <a:t>Pre-trained by Google AI</a:t>
            </a:r>
          </a:p>
          <a:p>
            <a:r>
              <a:rPr lang="en-US" altLang="ko-KR" sz="1600" dirty="0">
                <a:solidFill>
                  <a:schemeClr val="bg1"/>
                </a:solidFill>
                <a:latin typeface="Times New Roman" panose="02020603050405020304" pitchFamily="18" charset="0"/>
                <a:ea typeface="宋体" panose="02010600030101010101" pitchFamily="2" charset="-122"/>
              </a:rPr>
              <a:t>Difficult to train</a:t>
            </a:r>
          </a:p>
          <a:p>
            <a:r>
              <a:rPr lang="en-US" altLang="ko-KR" sz="1600" dirty="0">
                <a:solidFill>
                  <a:schemeClr val="bg1"/>
                </a:solidFill>
                <a:latin typeface="Times New Roman" panose="02020603050405020304" pitchFamily="18" charset="0"/>
                <a:ea typeface="宋体" panose="02010600030101010101" pitchFamily="2" charset="-122"/>
              </a:rPr>
              <a:t>Open sourced version</a:t>
            </a:r>
            <a:endParaRPr lang="ko-KR" altLang="en-US" sz="1600" dirty="0">
              <a:solidFill>
                <a:schemeClr val="bg1"/>
              </a:solidFill>
              <a:latin typeface="Times New Roman" panose="02020603050405020304" pitchFamily="18" charset="0"/>
            </a:endParaRPr>
          </a:p>
        </p:txBody>
      </p:sp>
    </p:spTree>
    <p:extLst>
      <p:ext uri="{BB962C8B-B14F-4D97-AF65-F5344CB8AC3E}">
        <p14:creationId xmlns:p14="http://schemas.microsoft.com/office/powerpoint/2010/main" val="3331611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72FD28-8D1C-48C4-B64D-F050E59ADADD}"/>
              </a:ext>
            </a:extLst>
          </p:cNvPr>
          <p:cNvSpPr txBox="1"/>
          <p:nvPr/>
        </p:nvSpPr>
        <p:spPr>
          <a:xfrm>
            <a:off x="611622" y="1490007"/>
            <a:ext cx="4310333" cy="2062103"/>
          </a:xfrm>
          <a:prstGeom prst="rect">
            <a:avLst/>
          </a:prstGeom>
          <a:noFill/>
        </p:spPr>
        <p:txBody>
          <a:bodyPr wrap="square" rtlCol="0">
            <a:spAutoFit/>
          </a:bodyPr>
          <a:lstStyle/>
          <a:p>
            <a:pPr latinLnBrk="0"/>
            <a:r>
              <a:rPr lang="en-US" altLang="ko-KR" sz="1600" dirty="0" err="1">
                <a:solidFill>
                  <a:schemeClr val="tx1">
                    <a:lumMod val="75000"/>
                    <a:lumOff val="25000"/>
                  </a:schemeClr>
                </a:solidFill>
                <a:latin typeface="Times New Roman" panose="02020603050405020304" pitchFamily="18" charset="0"/>
                <a:ea typeface="宋体" panose="02010600030101010101" pitchFamily="2" charset="-122"/>
              </a:rPr>
              <a:t>PaddlePaddle</a:t>
            </a:r>
            <a:r>
              <a:rPr lang="en-US" altLang="ko-KR" sz="1600" dirty="0">
                <a:solidFill>
                  <a:schemeClr val="tx1">
                    <a:lumMod val="75000"/>
                    <a:lumOff val="25000"/>
                  </a:schemeClr>
                </a:solidFill>
                <a:latin typeface="Times New Roman" panose="02020603050405020304" pitchFamily="18" charset="0"/>
                <a:ea typeface="宋体" panose="02010600030101010101" pitchFamily="2" charset="-122"/>
              </a:rPr>
              <a:t> (or fly paddle) is a deep learning framework proposed by Baidu. It is easy to use, efficient, flexible, scalable, and designed to provide modelers with a convenient deep learning development experience. </a:t>
            </a:r>
            <a:r>
              <a:rPr lang="en-US" altLang="ko-KR" sz="1600" dirty="0" err="1">
                <a:solidFill>
                  <a:schemeClr val="tx1">
                    <a:lumMod val="75000"/>
                    <a:lumOff val="25000"/>
                  </a:schemeClr>
                </a:solidFill>
                <a:latin typeface="Times New Roman" panose="02020603050405020304" pitchFamily="18" charset="0"/>
                <a:ea typeface="宋体" panose="02010600030101010101" pitchFamily="2" charset="-122"/>
              </a:rPr>
              <a:t>PaddlePaddle</a:t>
            </a:r>
            <a:r>
              <a:rPr lang="en-US" altLang="ko-KR" sz="1600" dirty="0">
                <a:solidFill>
                  <a:schemeClr val="tx1">
                    <a:lumMod val="75000"/>
                    <a:lumOff val="25000"/>
                  </a:schemeClr>
                </a:solidFill>
                <a:latin typeface="Times New Roman" panose="02020603050405020304" pitchFamily="18" charset="0"/>
                <a:ea typeface="宋体" panose="02010600030101010101" pitchFamily="2" charset="-122"/>
              </a:rPr>
              <a:t> can be used to build, train, and deploy deep learning models. </a:t>
            </a:r>
            <a:r>
              <a:rPr lang="en-US" altLang="ko-KR" sz="1600" dirty="0" err="1">
                <a:solidFill>
                  <a:schemeClr val="tx1">
                    <a:lumMod val="75000"/>
                    <a:lumOff val="25000"/>
                  </a:schemeClr>
                </a:solidFill>
                <a:latin typeface="Times New Roman" panose="02020603050405020304" pitchFamily="18" charset="0"/>
                <a:ea typeface="宋体" panose="02010600030101010101" pitchFamily="2" charset="-122"/>
              </a:rPr>
              <a:t>PaddlePaddle</a:t>
            </a:r>
            <a:r>
              <a:rPr lang="en-US" altLang="ko-KR" sz="1600" dirty="0">
                <a:solidFill>
                  <a:schemeClr val="tx1">
                    <a:lumMod val="75000"/>
                    <a:lumOff val="25000"/>
                  </a:schemeClr>
                </a:solidFill>
                <a:latin typeface="Times New Roman" panose="02020603050405020304" pitchFamily="18" charset="0"/>
                <a:ea typeface="宋体" panose="02010600030101010101" pitchFamily="2" charset="-122"/>
              </a:rPr>
              <a:t> supports both CPU and GPU, and provides a rich API and model library.</a:t>
            </a:r>
          </a:p>
        </p:txBody>
      </p:sp>
      <p:pic>
        <p:nvPicPr>
          <p:cNvPr id="8" name="그림 7">
            <a:extLst>
              <a:ext uri="{FF2B5EF4-FFF2-40B4-BE49-F238E27FC236}">
                <a16:creationId xmlns:a16="http://schemas.microsoft.com/office/drawing/2014/main" id="{2E8FB1EB-70C5-43B8-8E5A-267C2D1F0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3125" y="976312"/>
            <a:ext cx="7058204" cy="4905375"/>
          </a:xfrm>
          <a:prstGeom prst="rect">
            <a:avLst/>
          </a:prstGeom>
        </p:spPr>
      </p:pic>
      <p:pic>
        <p:nvPicPr>
          <p:cNvPr id="6" name="图片占位符 5">
            <a:extLst>
              <a:ext uri="{FF2B5EF4-FFF2-40B4-BE49-F238E27FC236}">
                <a16:creationId xmlns:a16="http://schemas.microsoft.com/office/drawing/2014/main" id="{C8656833-BFBF-36E3-9822-38F8A852BD09}"/>
              </a:ext>
            </a:extLst>
          </p:cNvPr>
          <p:cNvPicPr>
            <a:picLocks noGrp="1" noChangeAspect="1"/>
          </p:cNvPicPr>
          <p:nvPr>
            <p:ph type="pic" sz="quarter" idx="10"/>
          </p:nvPr>
        </p:nvPicPr>
        <p:blipFill>
          <a:blip r:embed="rId4"/>
          <a:srcRect t="12636" b="12636"/>
          <a:stretch/>
        </p:blipFill>
        <p:spPr/>
      </p:pic>
      <p:pic>
        <p:nvPicPr>
          <p:cNvPr id="9" name="图片 8">
            <a:extLst>
              <a:ext uri="{FF2B5EF4-FFF2-40B4-BE49-F238E27FC236}">
                <a16:creationId xmlns:a16="http://schemas.microsoft.com/office/drawing/2014/main" id="{66BCCCBB-3DFE-0319-C494-84EBC6BC6E8D}"/>
              </a:ext>
            </a:extLst>
          </p:cNvPr>
          <p:cNvPicPr>
            <a:picLocks noChangeAspect="1"/>
          </p:cNvPicPr>
          <p:nvPr/>
        </p:nvPicPr>
        <p:blipFill>
          <a:blip r:embed="rId5"/>
          <a:stretch>
            <a:fillRect/>
          </a:stretch>
        </p:blipFill>
        <p:spPr>
          <a:xfrm>
            <a:off x="611622" y="3728240"/>
            <a:ext cx="3982025" cy="1994062"/>
          </a:xfrm>
          <a:prstGeom prst="rect">
            <a:avLst/>
          </a:prstGeom>
        </p:spPr>
      </p:pic>
      <p:sp>
        <p:nvSpPr>
          <p:cNvPr id="10" name="文本框 9">
            <a:extLst>
              <a:ext uri="{FF2B5EF4-FFF2-40B4-BE49-F238E27FC236}">
                <a16:creationId xmlns:a16="http://schemas.microsoft.com/office/drawing/2014/main" id="{F8AF2340-3B34-BA8F-E99D-30D88488AA58}"/>
              </a:ext>
            </a:extLst>
          </p:cNvPr>
          <p:cNvSpPr txBox="1"/>
          <p:nvPr/>
        </p:nvSpPr>
        <p:spPr>
          <a:xfrm>
            <a:off x="3644494" y="5881687"/>
            <a:ext cx="6615914" cy="369332"/>
          </a:xfrm>
          <a:prstGeom prst="rect">
            <a:avLst/>
          </a:prstGeom>
          <a:noFill/>
        </p:spPr>
        <p:txBody>
          <a:bodyPr wrap="none" rtlCol="0">
            <a:spAutoFit/>
          </a:bodyPr>
          <a:lstStyle/>
          <a:p>
            <a:r>
              <a:rPr lang="de-DE" altLang="zh-CN" dirty="0">
                <a:latin typeface="Times New Roman" panose="02020603050405020304" pitchFamily="18" charset="0"/>
                <a:ea typeface="宋体" panose="02010600030101010101" pitchFamily="2" charset="-122"/>
              </a:rPr>
              <a:t>https://paddlenlp.readthedocs.io/zh/latest/get_started/installation.html</a:t>
            </a:r>
            <a:endParaRPr lang="zh-CN" altLang="en-US" dirty="0">
              <a:latin typeface="Times New Roman" panose="02020603050405020304" pitchFamily="18" charset="0"/>
              <a:ea typeface="宋体" panose="02010600030101010101" pitchFamily="2" charset="-122"/>
            </a:endParaRPr>
          </a:p>
        </p:txBody>
      </p:sp>
      <p:sp>
        <p:nvSpPr>
          <p:cNvPr id="11" name="TextBox 18">
            <a:extLst>
              <a:ext uri="{FF2B5EF4-FFF2-40B4-BE49-F238E27FC236}">
                <a16:creationId xmlns:a16="http://schemas.microsoft.com/office/drawing/2014/main" id="{CB42040E-44C3-0EC5-FA9E-80A50B0B100A}"/>
              </a:ext>
            </a:extLst>
          </p:cNvPr>
          <p:cNvSpPr txBox="1"/>
          <p:nvPr/>
        </p:nvSpPr>
        <p:spPr>
          <a:xfrm>
            <a:off x="-2427463" y="213042"/>
            <a:ext cx="8666936" cy="646331"/>
          </a:xfrm>
          <a:prstGeom prst="rect">
            <a:avLst/>
          </a:prstGeom>
          <a:noFill/>
        </p:spPr>
        <p:txBody>
          <a:bodyPr wrap="square" rtlCol="0">
            <a:spAutoFit/>
          </a:bodyPr>
          <a:lstStyle/>
          <a:p>
            <a:pPr algn="ctr"/>
            <a:r>
              <a:rPr lang="en-US" altLang="zh-CN" sz="3600" dirty="0" err="1">
                <a:solidFill>
                  <a:srgbClr val="AD9485"/>
                </a:solidFill>
                <a:latin typeface="Times New Roman" panose="02020603050405020304" pitchFamily="18" charset="0"/>
                <a:ea typeface="宋体" panose="02010600030101010101" pitchFamily="2" charset="-122"/>
                <a:cs typeface="Arial" panose="020B0604020202020204" pitchFamily="34" charset="0"/>
              </a:rPr>
              <a:t>paddlepaddle</a:t>
            </a:r>
            <a:endParaRPr lang="ko-KR" altLang="en-US" sz="3600" dirty="0">
              <a:solidFill>
                <a:srgbClr val="AD9485"/>
              </a:solidFill>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207832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72FD28-8D1C-48C4-B64D-F050E59ADADD}"/>
              </a:ext>
            </a:extLst>
          </p:cNvPr>
          <p:cNvSpPr txBox="1"/>
          <p:nvPr/>
        </p:nvSpPr>
        <p:spPr>
          <a:xfrm>
            <a:off x="611623" y="2216216"/>
            <a:ext cx="3712542" cy="2585323"/>
          </a:xfrm>
          <a:prstGeom prst="rect">
            <a:avLst/>
          </a:prstGeom>
          <a:noFill/>
        </p:spPr>
        <p:txBody>
          <a:bodyPr wrap="square" rtlCol="0">
            <a:spAutoFit/>
          </a:bodyPr>
          <a:lstStyle/>
          <a:p>
            <a:pPr latinLnBrk="0"/>
            <a:r>
              <a:rPr lang="en-US" altLang="ko-KR" dirty="0" err="1">
                <a:solidFill>
                  <a:schemeClr val="tx1">
                    <a:lumMod val="75000"/>
                    <a:lumOff val="25000"/>
                  </a:schemeClr>
                </a:solidFill>
                <a:latin typeface="Times New Roman" panose="02020603050405020304" pitchFamily="18" charset="0"/>
                <a:ea typeface="宋体" panose="02010600030101010101" pitchFamily="2" charset="-122"/>
              </a:rPr>
              <a:t>Tkinter</a:t>
            </a:r>
            <a:r>
              <a:rPr lang="en-US" altLang="ko-KR" dirty="0">
                <a:solidFill>
                  <a:schemeClr val="tx1">
                    <a:lumMod val="75000"/>
                    <a:lumOff val="25000"/>
                  </a:schemeClr>
                </a:solidFill>
                <a:latin typeface="Times New Roman" panose="02020603050405020304" pitchFamily="18" charset="0"/>
                <a:ea typeface="宋体" panose="02010600030101010101" pitchFamily="2" charset="-122"/>
              </a:rPr>
              <a:t> is an interface to Python's standard Tk GUI toolkit. It is used to create graphical window interfaces, including buttons, text boxes, labels, and so on. </a:t>
            </a:r>
            <a:r>
              <a:rPr lang="en-US" altLang="ko-KR" dirty="0" err="1">
                <a:solidFill>
                  <a:schemeClr val="tx1">
                    <a:lumMod val="75000"/>
                    <a:lumOff val="25000"/>
                  </a:schemeClr>
                </a:solidFill>
                <a:latin typeface="Times New Roman" panose="02020603050405020304" pitchFamily="18" charset="0"/>
                <a:ea typeface="宋体" panose="02010600030101010101" pitchFamily="2" charset="-122"/>
              </a:rPr>
              <a:t>Tkinter</a:t>
            </a:r>
            <a:r>
              <a:rPr lang="en-US" altLang="ko-KR" dirty="0">
                <a:solidFill>
                  <a:schemeClr val="tx1">
                    <a:lumMod val="75000"/>
                    <a:lumOff val="25000"/>
                  </a:schemeClr>
                </a:solidFill>
                <a:latin typeface="Times New Roman" panose="02020603050405020304" pitchFamily="18" charset="0"/>
                <a:ea typeface="宋体" panose="02010600030101010101" pitchFamily="2" charset="-122"/>
              </a:rPr>
              <a:t> is a GUI interface that comes with Python and can be edited. I use this interface when working with the poems generated by the final display.</a:t>
            </a:r>
          </a:p>
        </p:txBody>
      </p:sp>
      <p:pic>
        <p:nvPicPr>
          <p:cNvPr id="8" name="그림 7">
            <a:extLst>
              <a:ext uri="{FF2B5EF4-FFF2-40B4-BE49-F238E27FC236}">
                <a16:creationId xmlns:a16="http://schemas.microsoft.com/office/drawing/2014/main" id="{2E8FB1EB-70C5-43B8-8E5A-267C2D1F0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3125" y="976312"/>
            <a:ext cx="7058204" cy="4905375"/>
          </a:xfrm>
          <a:prstGeom prst="rect">
            <a:avLst/>
          </a:prstGeom>
        </p:spPr>
      </p:pic>
      <p:pic>
        <p:nvPicPr>
          <p:cNvPr id="6" name="图片占位符 5">
            <a:extLst>
              <a:ext uri="{FF2B5EF4-FFF2-40B4-BE49-F238E27FC236}">
                <a16:creationId xmlns:a16="http://schemas.microsoft.com/office/drawing/2014/main" id="{C8656833-BFBF-36E3-9822-38F8A852BD09}"/>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9479" b="9479"/>
          <a:stretch/>
        </p:blipFill>
        <p:spPr/>
      </p:pic>
      <p:sp>
        <p:nvSpPr>
          <p:cNvPr id="7" name="TextBox 18">
            <a:extLst>
              <a:ext uri="{FF2B5EF4-FFF2-40B4-BE49-F238E27FC236}">
                <a16:creationId xmlns:a16="http://schemas.microsoft.com/office/drawing/2014/main" id="{917FFF37-CA00-4FF5-B170-0A18EA25864A}"/>
              </a:ext>
            </a:extLst>
          </p:cNvPr>
          <p:cNvSpPr txBox="1"/>
          <p:nvPr/>
        </p:nvSpPr>
        <p:spPr>
          <a:xfrm>
            <a:off x="-2933647" y="329981"/>
            <a:ext cx="8666936" cy="646331"/>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3600" dirty="0" err="1">
                <a:solidFill>
                  <a:srgbClr val="AD9485"/>
                </a:solidFill>
                <a:latin typeface="Times New Roman" panose="02020603050405020304" pitchFamily="18" charset="0"/>
                <a:ea typeface="宋体" panose="02010600030101010101" pitchFamily="2" charset="-122"/>
                <a:cs typeface="Arial" panose="020B0604020202020204" pitchFamily="34" charset="0"/>
              </a:rPr>
              <a:t>Tkinter</a:t>
            </a:r>
            <a:endParaRPr lang="ko-KR" altLang="en-US" sz="3600" dirty="0">
              <a:solidFill>
                <a:srgbClr val="AD9485"/>
              </a:solidFill>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314875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9EF7D3-E137-469A-9D77-6611B6F39593}"/>
              </a:ext>
            </a:extLst>
          </p:cNvPr>
          <p:cNvSpPr txBox="1"/>
          <p:nvPr/>
        </p:nvSpPr>
        <p:spPr>
          <a:xfrm>
            <a:off x="3927148" y="2367170"/>
            <a:ext cx="5138474" cy="2123658"/>
          </a:xfrm>
          <a:prstGeom prst="rect">
            <a:avLst/>
          </a:prstGeom>
          <a:noFill/>
        </p:spPr>
        <p:txBody>
          <a:bodyPr wrap="square" rtlCol="0" anchor="ctr" anchorCtr="0">
            <a:spAutoFit/>
          </a:bodyPr>
          <a:lstStyle/>
          <a:p>
            <a:r>
              <a:rPr lang="en-US" altLang="ko-KR" sz="4400" dirty="0">
                <a:solidFill>
                  <a:schemeClr val="tx1">
                    <a:lumMod val="75000"/>
                    <a:lumOff val="25000"/>
                  </a:schemeClr>
                </a:solidFill>
                <a:latin typeface="Times New Roman" panose="02020603050405020304" pitchFamily="18" charset="0"/>
                <a:ea typeface="宋体" panose="02010600030101010101" pitchFamily="2" charset="-122"/>
              </a:rPr>
              <a:t>The use of </a:t>
            </a:r>
            <a:r>
              <a:rPr lang="en-US" altLang="ko-KR" sz="4400" dirty="0" err="1">
                <a:solidFill>
                  <a:schemeClr val="tx1">
                    <a:lumMod val="75000"/>
                    <a:lumOff val="25000"/>
                  </a:schemeClr>
                </a:solidFill>
                <a:latin typeface="Times New Roman" panose="02020603050405020304" pitchFamily="18" charset="0"/>
                <a:ea typeface="宋体" panose="02010600030101010101" pitchFamily="2" charset="-122"/>
              </a:rPr>
              <a:t>bert</a:t>
            </a:r>
            <a:r>
              <a:rPr lang="en-US" altLang="ko-KR" sz="4400" dirty="0">
                <a:solidFill>
                  <a:schemeClr val="tx1">
                    <a:lumMod val="75000"/>
                    <a:lumOff val="25000"/>
                  </a:schemeClr>
                </a:solidFill>
                <a:latin typeface="Times New Roman" panose="02020603050405020304" pitchFamily="18" charset="0"/>
                <a:ea typeface="宋体" panose="02010600030101010101" pitchFamily="2" charset="-122"/>
              </a:rPr>
              <a:t>-base-Chinese attempts to generate poetry</a:t>
            </a:r>
            <a:endParaRPr lang="ko-KR" altLang="en-US" sz="4400" dirty="0">
              <a:solidFill>
                <a:schemeClr val="tx1">
                  <a:lumMod val="75000"/>
                  <a:lumOff val="25000"/>
                </a:schemeClr>
              </a:solidFill>
              <a:latin typeface="Times New Roman" panose="02020603050405020304" pitchFamily="18" charset="0"/>
            </a:endParaRPr>
          </a:p>
        </p:txBody>
      </p:sp>
    </p:spTree>
    <p:extLst>
      <p:ext uri="{BB962C8B-B14F-4D97-AF65-F5344CB8AC3E}">
        <p14:creationId xmlns:p14="http://schemas.microsoft.com/office/powerpoint/2010/main" val="4111180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917FFF37-CA00-4FF5-B170-0A18EA25864A}"/>
              </a:ext>
            </a:extLst>
          </p:cNvPr>
          <p:cNvSpPr txBox="1"/>
          <p:nvPr/>
        </p:nvSpPr>
        <p:spPr>
          <a:xfrm>
            <a:off x="-1061119" y="344223"/>
            <a:ext cx="8666936" cy="646331"/>
          </a:xfrm>
          <a:prstGeom prst="rect">
            <a:avLst/>
          </a:prstGeom>
          <a:noFill/>
        </p:spPr>
        <p:txBody>
          <a:bodyPr wrap="square" rtlCol="0">
            <a:spAutoFit/>
          </a:bodyPr>
          <a:lstStyle/>
          <a:p>
            <a:pPr algn="ctr"/>
            <a:r>
              <a:rPr lang="en-US" altLang="zh-CN" sz="3600" dirty="0">
                <a:solidFill>
                  <a:srgbClr val="AD9485"/>
                </a:solidFill>
                <a:latin typeface="Times New Roman" panose="02020603050405020304" pitchFamily="18" charset="0"/>
                <a:ea typeface="宋体" panose="02010600030101010101" pitchFamily="2" charset="-122"/>
                <a:cs typeface="Arial" panose="020B0604020202020204" pitchFamily="34" charset="0"/>
              </a:rPr>
              <a:t>How to generate a poem</a:t>
            </a:r>
            <a:endParaRPr lang="ko-KR" altLang="en-US" sz="3600" dirty="0">
              <a:solidFill>
                <a:srgbClr val="AD9485"/>
              </a:solidFill>
              <a:latin typeface="Times New Roman" panose="02020603050405020304" pitchFamily="18" charset="0"/>
              <a:cs typeface="Arial" panose="020B0604020202020204" pitchFamily="34" charset="0"/>
            </a:endParaRPr>
          </a:p>
        </p:txBody>
      </p:sp>
      <p:sp>
        <p:nvSpPr>
          <p:cNvPr id="20" name="TextBox 19">
            <a:extLst>
              <a:ext uri="{FF2B5EF4-FFF2-40B4-BE49-F238E27FC236}">
                <a16:creationId xmlns:a16="http://schemas.microsoft.com/office/drawing/2014/main" id="{CE3EEF69-2D28-44AA-AFBA-E174BCF7DE7F}"/>
              </a:ext>
            </a:extLst>
          </p:cNvPr>
          <p:cNvSpPr txBox="1"/>
          <p:nvPr/>
        </p:nvSpPr>
        <p:spPr>
          <a:xfrm>
            <a:off x="8016852" y="2000679"/>
            <a:ext cx="4175148" cy="738664"/>
          </a:xfrm>
          <a:prstGeom prst="rect">
            <a:avLst/>
          </a:prstGeom>
          <a:noFill/>
        </p:spPr>
        <p:txBody>
          <a:bodyPr wrap="square" rtlCol="0">
            <a:spAutoFit/>
          </a:bodyPr>
          <a:lstStyle>
            <a:defPPr>
              <a:defRPr lang="ko-KR"/>
            </a:defPPr>
            <a:lvl1pPr algn="just">
              <a:lnSpc>
                <a:spcPct val="150000"/>
              </a:lnSpc>
              <a:defRPr sz="1100">
                <a:solidFill>
                  <a:schemeClr val="tx1">
                    <a:lumMod val="75000"/>
                    <a:lumOff val="25000"/>
                  </a:schemeClr>
                </a:solidFill>
              </a:defRPr>
            </a:lvl1pPr>
          </a:lstStyle>
          <a:p>
            <a:pPr marL="285750" indent="-285750" algn="l">
              <a:lnSpc>
                <a:spcPct val="100000"/>
              </a:lnSpc>
              <a:buFont typeface="Arial" panose="020B0604020202020204" pitchFamily="34" charset="0"/>
              <a:buChar char="•"/>
            </a:pPr>
            <a:r>
              <a:rPr lang="en-US" altLang="ko-KR" sz="1400" dirty="0">
                <a:latin typeface="Times New Roman" panose="02020603050405020304" pitchFamily="18" charset="0"/>
                <a:ea typeface="宋体" panose="02010600030101010101" pitchFamily="2" charset="-122"/>
              </a:rPr>
              <a:t>Decoding strategy</a:t>
            </a:r>
          </a:p>
          <a:p>
            <a:pPr marL="285750" indent="-285750" algn="l">
              <a:lnSpc>
                <a:spcPct val="100000"/>
              </a:lnSpc>
              <a:buFont typeface="Arial" panose="020B0604020202020204" pitchFamily="34" charset="0"/>
              <a:buChar char="•"/>
            </a:pPr>
            <a:r>
              <a:rPr lang="en-US" altLang="ko-KR" sz="1400" dirty="0">
                <a:latin typeface="Times New Roman" panose="02020603050405020304" pitchFamily="18" charset="0"/>
                <a:ea typeface="宋体" panose="02010600030101010101" pitchFamily="2" charset="-122"/>
              </a:rPr>
              <a:t>Generate the next token </a:t>
            </a:r>
          </a:p>
          <a:p>
            <a:pPr marL="285750" indent="-285750" algn="l">
              <a:lnSpc>
                <a:spcPct val="100000"/>
              </a:lnSpc>
              <a:buFont typeface="Arial" panose="020B0604020202020204" pitchFamily="34" charset="0"/>
              <a:buChar char="•"/>
            </a:pPr>
            <a:r>
              <a:rPr lang="en-US" altLang="ko-KR" sz="1400" dirty="0" err="1">
                <a:latin typeface="Times New Roman" panose="02020603050405020304" pitchFamily="18" charset="0"/>
                <a:ea typeface="宋体" panose="02010600030101010101" pitchFamily="2" charset="-122"/>
              </a:rPr>
              <a:t>probabilityContinuation</a:t>
            </a:r>
            <a:r>
              <a:rPr lang="en-US" altLang="ko-KR" sz="1400" dirty="0">
                <a:latin typeface="Times New Roman" panose="02020603050405020304" pitchFamily="18" charset="0"/>
                <a:ea typeface="宋体" panose="02010600030101010101" pitchFamily="2" charset="-122"/>
              </a:rPr>
              <a:t> generation</a:t>
            </a:r>
            <a:endParaRPr lang="ko-KR" altLang="en-US" sz="1400" dirty="0">
              <a:latin typeface="Times New Roman" panose="02020603050405020304" pitchFamily="18" charset="0"/>
            </a:endParaRPr>
          </a:p>
        </p:txBody>
      </p:sp>
      <p:sp>
        <p:nvSpPr>
          <p:cNvPr id="21" name="직사각형 20">
            <a:extLst>
              <a:ext uri="{FF2B5EF4-FFF2-40B4-BE49-F238E27FC236}">
                <a16:creationId xmlns:a16="http://schemas.microsoft.com/office/drawing/2014/main" id="{D01AB746-90C4-4482-9CC3-E4E3DFBC8A5F}"/>
              </a:ext>
            </a:extLst>
          </p:cNvPr>
          <p:cNvSpPr/>
          <p:nvPr/>
        </p:nvSpPr>
        <p:spPr>
          <a:xfrm>
            <a:off x="1589123" y="1495574"/>
            <a:ext cx="2087574" cy="400110"/>
          </a:xfrm>
          <a:prstGeom prst="rect">
            <a:avLst/>
          </a:prstGeom>
          <a:noFill/>
        </p:spPr>
        <p:txBody>
          <a:bodyPr wrap="square" rtlCol="0">
            <a:spAutoFit/>
          </a:bodyPr>
          <a:lstStyle/>
          <a:p>
            <a:pPr algn="ctr"/>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Preprocessing</a:t>
            </a:r>
          </a:p>
        </p:txBody>
      </p:sp>
      <p:sp>
        <p:nvSpPr>
          <p:cNvPr id="22" name="직사각형 21">
            <a:extLst>
              <a:ext uri="{FF2B5EF4-FFF2-40B4-BE49-F238E27FC236}">
                <a16:creationId xmlns:a16="http://schemas.microsoft.com/office/drawing/2014/main" id="{E3947125-DC2A-443D-9A51-B50D571F8BF9}"/>
              </a:ext>
            </a:extLst>
          </p:cNvPr>
          <p:cNvSpPr/>
          <p:nvPr/>
        </p:nvSpPr>
        <p:spPr>
          <a:xfrm>
            <a:off x="190633" y="1453453"/>
            <a:ext cx="2087574" cy="523220"/>
          </a:xfrm>
          <a:prstGeom prst="rect">
            <a:avLst/>
          </a:prstGeom>
          <a:noFill/>
        </p:spPr>
        <p:txBody>
          <a:bodyPr wrap="square" rtlCol="0">
            <a:spAutoFit/>
          </a:bodyPr>
          <a:lstStyle/>
          <a:p>
            <a:pPr algn="ctr"/>
            <a:r>
              <a:rPr lang="en-US" altLang="ko-KR" sz="2800" dirty="0">
                <a:solidFill>
                  <a:schemeClr val="tx1">
                    <a:lumMod val="75000"/>
                    <a:lumOff val="25000"/>
                  </a:schemeClr>
                </a:solidFill>
                <a:latin typeface="Times New Roman" panose="02020603050405020304" pitchFamily="18" charset="0"/>
                <a:ea typeface="宋体" panose="02010600030101010101" pitchFamily="2" charset="-122"/>
              </a:rPr>
              <a:t>01.</a:t>
            </a:r>
          </a:p>
        </p:txBody>
      </p:sp>
      <p:sp>
        <p:nvSpPr>
          <p:cNvPr id="23" name="TextBox 22">
            <a:extLst>
              <a:ext uri="{FF2B5EF4-FFF2-40B4-BE49-F238E27FC236}">
                <a16:creationId xmlns:a16="http://schemas.microsoft.com/office/drawing/2014/main" id="{5478FC23-ABA7-4305-BAA8-EB1DB39D559B}"/>
              </a:ext>
            </a:extLst>
          </p:cNvPr>
          <p:cNvSpPr txBox="1"/>
          <p:nvPr/>
        </p:nvSpPr>
        <p:spPr>
          <a:xfrm>
            <a:off x="8016525" y="3581595"/>
            <a:ext cx="2087574" cy="523220"/>
          </a:xfrm>
          <a:prstGeom prst="rect">
            <a:avLst/>
          </a:prstGeom>
          <a:noFill/>
        </p:spPr>
        <p:txBody>
          <a:bodyPr wrap="square" rtlCol="0">
            <a:spAutoFit/>
          </a:bodyPr>
          <a:lstStyle>
            <a:defPPr>
              <a:defRPr lang="ko-KR"/>
            </a:defPPr>
            <a:lvl1pPr algn="just">
              <a:lnSpc>
                <a:spcPct val="150000"/>
              </a:lnSpc>
              <a:defRPr sz="1100">
                <a:solidFill>
                  <a:schemeClr val="tx1">
                    <a:lumMod val="75000"/>
                    <a:lumOff val="25000"/>
                  </a:schemeClr>
                </a:solidFill>
              </a:defRPr>
            </a:lvl1pPr>
          </a:lstStyle>
          <a:p>
            <a:pPr marL="285750" indent="-285750" algn="l">
              <a:lnSpc>
                <a:spcPct val="100000"/>
              </a:lnSpc>
              <a:buFont typeface="Arial" panose="020B0604020202020204" pitchFamily="34" charset="0"/>
              <a:buChar char="•"/>
            </a:pPr>
            <a:r>
              <a:rPr lang="en-US" altLang="ko-KR" sz="1400" dirty="0">
                <a:latin typeface="Times New Roman" panose="02020603050405020304" pitchFamily="18" charset="0"/>
                <a:ea typeface="宋体" panose="02010600030101010101" pitchFamily="2" charset="-122"/>
              </a:rPr>
              <a:t>Evaluate the generated poetry</a:t>
            </a:r>
            <a:endParaRPr lang="ko-KR" altLang="en-US" sz="1400" dirty="0">
              <a:latin typeface="Times New Roman" panose="02020603050405020304" pitchFamily="18" charset="0"/>
            </a:endParaRPr>
          </a:p>
        </p:txBody>
      </p:sp>
      <p:sp>
        <p:nvSpPr>
          <p:cNvPr id="24" name="직사각형 23">
            <a:extLst>
              <a:ext uri="{FF2B5EF4-FFF2-40B4-BE49-F238E27FC236}">
                <a16:creationId xmlns:a16="http://schemas.microsoft.com/office/drawing/2014/main" id="{7DB64BED-7577-402B-90E8-1EC6DAC1060B}"/>
              </a:ext>
            </a:extLst>
          </p:cNvPr>
          <p:cNvSpPr/>
          <p:nvPr/>
        </p:nvSpPr>
        <p:spPr>
          <a:xfrm>
            <a:off x="1614485" y="2445746"/>
            <a:ext cx="2087574" cy="400110"/>
          </a:xfrm>
          <a:prstGeom prst="rect">
            <a:avLst/>
          </a:prstGeom>
          <a:noFill/>
        </p:spPr>
        <p:txBody>
          <a:bodyPr wrap="square" rtlCol="0">
            <a:spAutoFit/>
          </a:bodyPr>
          <a:lstStyle/>
          <a:p>
            <a:pPr algn="ctr"/>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Model Loading:</a:t>
            </a:r>
          </a:p>
        </p:txBody>
      </p:sp>
      <p:sp>
        <p:nvSpPr>
          <p:cNvPr id="25" name="직사각형 24">
            <a:extLst>
              <a:ext uri="{FF2B5EF4-FFF2-40B4-BE49-F238E27FC236}">
                <a16:creationId xmlns:a16="http://schemas.microsoft.com/office/drawing/2014/main" id="{E4A63E67-BCE6-4313-AE02-5559CFB55E2E}"/>
              </a:ext>
            </a:extLst>
          </p:cNvPr>
          <p:cNvSpPr/>
          <p:nvPr/>
        </p:nvSpPr>
        <p:spPr>
          <a:xfrm>
            <a:off x="174457" y="2337915"/>
            <a:ext cx="2087574" cy="523220"/>
          </a:xfrm>
          <a:prstGeom prst="rect">
            <a:avLst/>
          </a:prstGeom>
          <a:noFill/>
        </p:spPr>
        <p:txBody>
          <a:bodyPr wrap="square" rtlCol="0">
            <a:spAutoFit/>
          </a:bodyPr>
          <a:lstStyle/>
          <a:p>
            <a:pPr algn="ctr"/>
            <a:r>
              <a:rPr lang="en-US" altLang="ko-KR" sz="2800" dirty="0">
                <a:solidFill>
                  <a:schemeClr val="tx1">
                    <a:lumMod val="75000"/>
                    <a:lumOff val="25000"/>
                  </a:schemeClr>
                </a:solidFill>
                <a:latin typeface="Times New Roman" panose="02020603050405020304" pitchFamily="18" charset="0"/>
                <a:ea typeface="宋体" panose="02010600030101010101" pitchFamily="2" charset="-122"/>
              </a:rPr>
              <a:t>02.</a:t>
            </a:r>
          </a:p>
        </p:txBody>
      </p:sp>
      <p:sp>
        <p:nvSpPr>
          <p:cNvPr id="26" name="TextBox 25">
            <a:extLst>
              <a:ext uri="{FF2B5EF4-FFF2-40B4-BE49-F238E27FC236}">
                <a16:creationId xmlns:a16="http://schemas.microsoft.com/office/drawing/2014/main" id="{3AC79556-3432-452D-A45E-2BF665F2C689}"/>
              </a:ext>
            </a:extLst>
          </p:cNvPr>
          <p:cNvSpPr txBox="1"/>
          <p:nvPr/>
        </p:nvSpPr>
        <p:spPr>
          <a:xfrm>
            <a:off x="1912136" y="3568207"/>
            <a:ext cx="4674071" cy="307777"/>
          </a:xfrm>
          <a:prstGeom prst="rect">
            <a:avLst/>
          </a:prstGeom>
          <a:noFill/>
        </p:spPr>
        <p:txBody>
          <a:bodyPr wrap="square" rtlCol="0">
            <a:spAutoFit/>
          </a:bodyPr>
          <a:lstStyle>
            <a:defPPr>
              <a:defRPr lang="ko-KR"/>
            </a:defPPr>
            <a:lvl1pPr algn="just">
              <a:lnSpc>
                <a:spcPct val="150000"/>
              </a:lnSpc>
              <a:defRPr sz="1100">
                <a:solidFill>
                  <a:schemeClr val="tx1">
                    <a:lumMod val="75000"/>
                    <a:lumOff val="25000"/>
                  </a:schemeClr>
                </a:solidFill>
              </a:defRPr>
            </a:lvl1pPr>
          </a:lstStyle>
          <a:p>
            <a:pPr marL="285750" indent="-285750" algn="l">
              <a:lnSpc>
                <a:spcPct val="100000"/>
              </a:lnSpc>
              <a:buFont typeface="Arial" panose="020B0604020202020204" pitchFamily="34" charset="0"/>
              <a:buChar char="•"/>
            </a:pPr>
            <a:r>
              <a:rPr lang="en-US" altLang="ko-KR" sz="1400" dirty="0">
                <a:latin typeface="Times New Roman" panose="02020603050405020304" pitchFamily="18" charset="0"/>
                <a:ea typeface="宋体" panose="02010600030101010101" pitchFamily="2" charset="-122"/>
              </a:rPr>
              <a:t>adapt it to the poetry generation task.</a:t>
            </a:r>
            <a:endParaRPr lang="ko-KR" altLang="en-US" sz="1400" dirty="0">
              <a:latin typeface="Times New Roman" panose="02020603050405020304" pitchFamily="18" charset="0"/>
            </a:endParaRPr>
          </a:p>
        </p:txBody>
      </p:sp>
      <p:sp>
        <p:nvSpPr>
          <p:cNvPr id="27" name="직사각형 26">
            <a:extLst>
              <a:ext uri="{FF2B5EF4-FFF2-40B4-BE49-F238E27FC236}">
                <a16:creationId xmlns:a16="http://schemas.microsoft.com/office/drawing/2014/main" id="{C8A92A63-6F9C-4E21-8B8C-8363538572CE}"/>
              </a:ext>
            </a:extLst>
          </p:cNvPr>
          <p:cNvSpPr/>
          <p:nvPr/>
        </p:nvSpPr>
        <p:spPr>
          <a:xfrm>
            <a:off x="1414235" y="3138560"/>
            <a:ext cx="2087574" cy="400110"/>
          </a:xfrm>
          <a:prstGeom prst="rect">
            <a:avLst/>
          </a:prstGeom>
          <a:noFill/>
        </p:spPr>
        <p:txBody>
          <a:bodyPr wrap="square" rtlCol="0">
            <a:spAutoFit/>
          </a:bodyPr>
          <a:lstStyle/>
          <a:p>
            <a:pPr algn="ctr"/>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Fine-Tuning</a:t>
            </a:r>
          </a:p>
        </p:txBody>
      </p:sp>
      <p:sp>
        <p:nvSpPr>
          <p:cNvPr id="28" name="직사각형 27">
            <a:extLst>
              <a:ext uri="{FF2B5EF4-FFF2-40B4-BE49-F238E27FC236}">
                <a16:creationId xmlns:a16="http://schemas.microsoft.com/office/drawing/2014/main" id="{408C9B21-2109-4A7F-922F-C7E490317550}"/>
              </a:ext>
            </a:extLst>
          </p:cNvPr>
          <p:cNvSpPr/>
          <p:nvPr/>
        </p:nvSpPr>
        <p:spPr>
          <a:xfrm>
            <a:off x="190633" y="3068814"/>
            <a:ext cx="2087574" cy="523220"/>
          </a:xfrm>
          <a:prstGeom prst="rect">
            <a:avLst/>
          </a:prstGeom>
          <a:noFill/>
        </p:spPr>
        <p:txBody>
          <a:bodyPr wrap="square" rtlCol="0">
            <a:spAutoFit/>
          </a:bodyPr>
          <a:lstStyle/>
          <a:p>
            <a:pPr algn="ctr"/>
            <a:r>
              <a:rPr lang="en-US" altLang="ko-KR" sz="2800" dirty="0">
                <a:solidFill>
                  <a:schemeClr val="tx1">
                    <a:lumMod val="75000"/>
                    <a:lumOff val="25000"/>
                  </a:schemeClr>
                </a:solidFill>
                <a:latin typeface="Times New Roman" panose="02020603050405020304" pitchFamily="18" charset="0"/>
                <a:ea typeface="宋体" panose="02010600030101010101" pitchFamily="2" charset="-122"/>
              </a:rPr>
              <a:t>03.</a:t>
            </a:r>
          </a:p>
        </p:txBody>
      </p:sp>
      <p:sp>
        <p:nvSpPr>
          <p:cNvPr id="29" name="TextBox 28">
            <a:extLst>
              <a:ext uri="{FF2B5EF4-FFF2-40B4-BE49-F238E27FC236}">
                <a16:creationId xmlns:a16="http://schemas.microsoft.com/office/drawing/2014/main" id="{16733A0C-9D4C-4DC2-8511-F3615B5A5E21}"/>
              </a:ext>
            </a:extLst>
          </p:cNvPr>
          <p:cNvSpPr txBox="1"/>
          <p:nvPr/>
        </p:nvSpPr>
        <p:spPr>
          <a:xfrm>
            <a:off x="1912136" y="4580585"/>
            <a:ext cx="4285531" cy="523220"/>
          </a:xfrm>
          <a:prstGeom prst="rect">
            <a:avLst/>
          </a:prstGeom>
          <a:noFill/>
        </p:spPr>
        <p:txBody>
          <a:bodyPr wrap="square" rtlCol="0">
            <a:spAutoFit/>
          </a:bodyPr>
          <a:lstStyle>
            <a:defPPr>
              <a:defRPr lang="ko-KR"/>
            </a:defPPr>
            <a:lvl1pPr algn="just">
              <a:lnSpc>
                <a:spcPct val="150000"/>
              </a:lnSpc>
              <a:defRPr sz="1100">
                <a:solidFill>
                  <a:schemeClr val="tx1">
                    <a:lumMod val="75000"/>
                    <a:lumOff val="25000"/>
                  </a:schemeClr>
                </a:solidFill>
              </a:defRPr>
            </a:lvl1pPr>
          </a:lstStyle>
          <a:p>
            <a:pPr marL="285750" indent="-285750" algn="l">
              <a:lnSpc>
                <a:spcPct val="100000"/>
              </a:lnSpc>
              <a:buFont typeface="Arial" panose="020B0604020202020204" pitchFamily="34" charset="0"/>
              <a:buChar char="•"/>
            </a:pPr>
            <a:r>
              <a:rPr lang="en-US" altLang="ko-KR" sz="1400" dirty="0">
                <a:latin typeface="Times New Roman" panose="02020603050405020304" pitchFamily="18" charset="0"/>
                <a:ea typeface="宋体" panose="02010600030101010101" pitchFamily="2" charset="-122"/>
              </a:rPr>
              <a:t>Encode the input poetry prompts or keywords using the BERT tokenizer to generate input embeddings.</a:t>
            </a:r>
            <a:endParaRPr lang="ko-KR" altLang="en-US" sz="1400" dirty="0">
              <a:latin typeface="Times New Roman" panose="02020603050405020304" pitchFamily="18" charset="0"/>
            </a:endParaRPr>
          </a:p>
        </p:txBody>
      </p:sp>
      <p:sp>
        <p:nvSpPr>
          <p:cNvPr id="30" name="직사각형 29">
            <a:extLst>
              <a:ext uri="{FF2B5EF4-FFF2-40B4-BE49-F238E27FC236}">
                <a16:creationId xmlns:a16="http://schemas.microsoft.com/office/drawing/2014/main" id="{384EB2C5-ED30-4476-9A33-D7F3263250D3}"/>
              </a:ext>
            </a:extLst>
          </p:cNvPr>
          <p:cNvSpPr/>
          <p:nvPr/>
        </p:nvSpPr>
        <p:spPr>
          <a:xfrm>
            <a:off x="1614485" y="4185028"/>
            <a:ext cx="2087574" cy="400110"/>
          </a:xfrm>
          <a:prstGeom prst="rect">
            <a:avLst/>
          </a:prstGeom>
          <a:noFill/>
        </p:spPr>
        <p:txBody>
          <a:bodyPr wrap="square" rtlCol="0">
            <a:spAutoFit/>
          </a:bodyPr>
          <a:lstStyle/>
          <a:p>
            <a:pPr algn="ctr"/>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Input Encoding</a:t>
            </a:r>
          </a:p>
        </p:txBody>
      </p:sp>
      <p:sp>
        <p:nvSpPr>
          <p:cNvPr id="31" name="직사각형 30">
            <a:extLst>
              <a:ext uri="{FF2B5EF4-FFF2-40B4-BE49-F238E27FC236}">
                <a16:creationId xmlns:a16="http://schemas.microsoft.com/office/drawing/2014/main" id="{687B3F2D-72CA-404E-BD20-0A5CFDB18222}"/>
              </a:ext>
            </a:extLst>
          </p:cNvPr>
          <p:cNvSpPr/>
          <p:nvPr/>
        </p:nvSpPr>
        <p:spPr>
          <a:xfrm>
            <a:off x="190633" y="4123473"/>
            <a:ext cx="2087574" cy="523220"/>
          </a:xfrm>
          <a:prstGeom prst="rect">
            <a:avLst/>
          </a:prstGeom>
          <a:noFill/>
        </p:spPr>
        <p:txBody>
          <a:bodyPr wrap="square" rtlCol="0">
            <a:spAutoFit/>
          </a:bodyPr>
          <a:lstStyle/>
          <a:p>
            <a:pPr algn="ctr"/>
            <a:r>
              <a:rPr lang="en-US" altLang="ko-KR" sz="2800" dirty="0">
                <a:solidFill>
                  <a:schemeClr val="tx1">
                    <a:lumMod val="75000"/>
                    <a:lumOff val="25000"/>
                  </a:schemeClr>
                </a:solidFill>
                <a:latin typeface="Times New Roman" panose="02020603050405020304" pitchFamily="18" charset="0"/>
                <a:ea typeface="宋体" panose="02010600030101010101" pitchFamily="2" charset="-122"/>
              </a:rPr>
              <a:t>04.</a:t>
            </a:r>
          </a:p>
        </p:txBody>
      </p:sp>
      <p:sp>
        <p:nvSpPr>
          <p:cNvPr id="2" name="TextBox 2">
            <a:extLst>
              <a:ext uri="{FF2B5EF4-FFF2-40B4-BE49-F238E27FC236}">
                <a16:creationId xmlns:a16="http://schemas.microsoft.com/office/drawing/2014/main" id="{4B542C4F-0C0D-F8F6-06B9-8DFEBD3512FF}"/>
              </a:ext>
            </a:extLst>
          </p:cNvPr>
          <p:cNvSpPr txBox="1"/>
          <p:nvPr/>
        </p:nvSpPr>
        <p:spPr>
          <a:xfrm>
            <a:off x="1912136" y="1832966"/>
            <a:ext cx="7404100" cy="523220"/>
          </a:xfrm>
          <a:prstGeom prst="rect">
            <a:avLst/>
          </a:prstGeom>
          <a:noFill/>
        </p:spPr>
        <p:txBody>
          <a:bodyPr wrap="square" rtlCol="0">
            <a:spAutoFit/>
          </a:bodyPr>
          <a:lstStyle>
            <a:defPPr>
              <a:defRPr lang="ko-KR"/>
            </a:defPPr>
            <a:lvl1pPr>
              <a:defRPr sz="1100"/>
            </a:lvl1pPr>
          </a:lstStyle>
          <a:p>
            <a:pPr marL="285750" indent="-285750">
              <a:buFont typeface="Arial" panose="020B0604020202020204" pitchFamily="34" charset="0"/>
              <a:buChar char="•"/>
            </a:pPr>
            <a:r>
              <a:rPr lang="en-US" altLang="ko-KR" sz="1400" dirty="0">
                <a:solidFill>
                  <a:schemeClr val="tx1">
                    <a:lumMod val="75000"/>
                    <a:lumOff val="25000"/>
                  </a:schemeClr>
                </a:solidFill>
                <a:latin typeface="Times New Roman" panose="02020603050405020304" pitchFamily="18" charset="0"/>
                <a:ea typeface="宋体" panose="02010600030101010101" pitchFamily="2" charset="-122"/>
              </a:rPr>
              <a:t>Tokenization</a:t>
            </a:r>
          </a:p>
          <a:p>
            <a:pPr marL="285750" indent="-285750">
              <a:buFont typeface="Arial" panose="020B0604020202020204" pitchFamily="34" charset="0"/>
              <a:buChar char="•"/>
            </a:pPr>
            <a:r>
              <a:rPr lang="de-DE" altLang="ko-KR" sz="1400" dirty="0">
                <a:solidFill>
                  <a:schemeClr val="tx1">
                    <a:lumMod val="75000"/>
                    <a:lumOff val="25000"/>
                  </a:schemeClr>
                </a:solidFill>
                <a:latin typeface="Times New Roman" panose="02020603050405020304" pitchFamily="18" charset="0"/>
                <a:ea typeface="宋体" panose="02010600030101010101" pitchFamily="2" charset="-122"/>
              </a:rPr>
              <a:t>Padding</a:t>
            </a:r>
            <a:endParaRPr lang="ko-KR" altLang="en-US" sz="1400" dirty="0">
              <a:solidFill>
                <a:schemeClr val="tx1">
                  <a:lumMod val="75000"/>
                  <a:lumOff val="25000"/>
                </a:schemeClr>
              </a:solidFill>
              <a:latin typeface="Times New Roman" panose="02020603050405020304" pitchFamily="18" charset="0"/>
            </a:endParaRPr>
          </a:p>
        </p:txBody>
      </p:sp>
      <p:sp>
        <p:nvSpPr>
          <p:cNvPr id="3" name="직사각형 30">
            <a:extLst>
              <a:ext uri="{FF2B5EF4-FFF2-40B4-BE49-F238E27FC236}">
                <a16:creationId xmlns:a16="http://schemas.microsoft.com/office/drawing/2014/main" id="{C8E019A9-CDDD-453D-06D9-66317BC5E11C}"/>
              </a:ext>
            </a:extLst>
          </p:cNvPr>
          <p:cNvSpPr/>
          <p:nvPr/>
        </p:nvSpPr>
        <p:spPr>
          <a:xfrm>
            <a:off x="5983655" y="1364813"/>
            <a:ext cx="2087574" cy="523220"/>
          </a:xfrm>
          <a:prstGeom prst="rect">
            <a:avLst/>
          </a:prstGeom>
          <a:noFill/>
        </p:spPr>
        <p:txBody>
          <a:bodyPr wrap="square" rtlCol="0">
            <a:spAutoFit/>
          </a:bodyPr>
          <a:lstStyle/>
          <a:p>
            <a:pPr algn="ctr"/>
            <a:r>
              <a:rPr lang="en-US" altLang="ko-KR" sz="2800" dirty="0">
                <a:solidFill>
                  <a:schemeClr val="tx1">
                    <a:lumMod val="75000"/>
                    <a:lumOff val="25000"/>
                  </a:schemeClr>
                </a:solidFill>
                <a:latin typeface="Times New Roman" panose="02020603050405020304" pitchFamily="18" charset="0"/>
                <a:ea typeface="宋体" panose="02010600030101010101" pitchFamily="2" charset="-122"/>
              </a:rPr>
              <a:t>05.</a:t>
            </a:r>
          </a:p>
        </p:txBody>
      </p:sp>
      <p:sp>
        <p:nvSpPr>
          <p:cNvPr id="4" name="직사각형 29">
            <a:extLst>
              <a:ext uri="{FF2B5EF4-FFF2-40B4-BE49-F238E27FC236}">
                <a16:creationId xmlns:a16="http://schemas.microsoft.com/office/drawing/2014/main" id="{57B6C2CB-20D5-B3FB-DCDD-88FEC3B00AD1}"/>
              </a:ext>
            </a:extLst>
          </p:cNvPr>
          <p:cNvSpPr/>
          <p:nvPr/>
        </p:nvSpPr>
        <p:spPr>
          <a:xfrm>
            <a:off x="7777946" y="3172352"/>
            <a:ext cx="3076581" cy="400110"/>
          </a:xfrm>
          <a:prstGeom prst="rect">
            <a:avLst/>
          </a:prstGeom>
          <a:noFill/>
        </p:spPr>
        <p:txBody>
          <a:bodyPr wrap="square" rtlCol="0">
            <a:spAutoFit/>
          </a:bodyPr>
          <a:lstStyle/>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Evaluation</a:t>
            </a:r>
          </a:p>
        </p:txBody>
      </p:sp>
      <p:sp>
        <p:nvSpPr>
          <p:cNvPr id="5" name="직사각형 29">
            <a:extLst>
              <a:ext uri="{FF2B5EF4-FFF2-40B4-BE49-F238E27FC236}">
                <a16:creationId xmlns:a16="http://schemas.microsoft.com/office/drawing/2014/main" id="{3C886D61-1D11-49E8-67BC-0BA7B8D722A5}"/>
              </a:ext>
            </a:extLst>
          </p:cNvPr>
          <p:cNvSpPr/>
          <p:nvPr/>
        </p:nvSpPr>
        <p:spPr>
          <a:xfrm>
            <a:off x="7382145" y="1426368"/>
            <a:ext cx="3076581" cy="400110"/>
          </a:xfrm>
          <a:prstGeom prst="rect">
            <a:avLst/>
          </a:prstGeom>
          <a:noFill/>
        </p:spPr>
        <p:txBody>
          <a:bodyPr wrap="square" rtlCol="0">
            <a:spAutoFit/>
          </a:bodyPr>
          <a:lstStyle/>
          <a:p>
            <a:pPr algn="ctr"/>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Generation Process</a:t>
            </a:r>
          </a:p>
        </p:txBody>
      </p:sp>
      <p:sp>
        <p:nvSpPr>
          <p:cNvPr id="6" name="직사각형 30">
            <a:extLst>
              <a:ext uri="{FF2B5EF4-FFF2-40B4-BE49-F238E27FC236}">
                <a16:creationId xmlns:a16="http://schemas.microsoft.com/office/drawing/2014/main" id="{CE3054B2-A11F-3FB9-DD78-F80652A11B7B}"/>
              </a:ext>
            </a:extLst>
          </p:cNvPr>
          <p:cNvSpPr/>
          <p:nvPr/>
        </p:nvSpPr>
        <p:spPr>
          <a:xfrm>
            <a:off x="6020648" y="3139516"/>
            <a:ext cx="2087574" cy="523220"/>
          </a:xfrm>
          <a:prstGeom prst="rect">
            <a:avLst/>
          </a:prstGeom>
          <a:noFill/>
        </p:spPr>
        <p:txBody>
          <a:bodyPr wrap="square" rtlCol="0">
            <a:spAutoFit/>
          </a:bodyPr>
          <a:lstStyle/>
          <a:p>
            <a:pPr algn="ctr"/>
            <a:r>
              <a:rPr lang="en-US" altLang="ko-KR" sz="2800" dirty="0">
                <a:solidFill>
                  <a:schemeClr val="tx1">
                    <a:lumMod val="75000"/>
                    <a:lumOff val="25000"/>
                  </a:schemeClr>
                </a:solidFill>
                <a:latin typeface="Times New Roman" panose="02020603050405020304" pitchFamily="18" charset="0"/>
                <a:ea typeface="宋体" panose="02010600030101010101" pitchFamily="2" charset="-122"/>
              </a:rPr>
              <a:t>06.</a:t>
            </a:r>
          </a:p>
        </p:txBody>
      </p:sp>
      <p:sp>
        <p:nvSpPr>
          <p:cNvPr id="7" name="직사각형 30">
            <a:extLst>
              <a:ext uri="{FF2B5EF4-FFF2-40B4-BE49-F238E27FC236}">
                <a16:creationId xmlns:a16="http://schemas.microsoft.com/office/drawing/2014/main" id="{4CF92613-6A2E-7FF3-FBEC-5E09A28BD91C}"/>
              </a:ext>
            </a:extLst>
          </p:cNvPr>
          <p:cNvSpPr/>
          <p:nvPr/>
        </p:nvSpPr>
        <p:spPr>
          <a:xfrm>
            <a:off x="6036035" y="4395617"/>
            <a:ext cx="2087574" cy="523220"/>
          </a:xfrm>
          <a:prstGeom prst="rect">
            <a:avLst/>
          </a:prstGeom>
          <a:noFill/>
        </p:spPr>
        <p:txBody>
          <a:bodyPr wrap="square" rtlCol="0">
            <a:spAutoFit/>
          </a:bodyPr>
          <a:lstStyle/>
          <a:p>
            <a:pPr algn="ctr"/>
            <a:r>
              <a:rPr lang="en-US" altLang="ko-KR" sz="2800" dirty="0">
                <a:solidFill>
                  <a:schemeClr val="tx1">
                    <a:lumMod val="75000"/>
                    <a:lumOff val="25000"/>
                  </a:schemeClr>
                </a:solidFill>
                <a:latin typeface="Times New Roman" panose="02020603050405020304" pitchFamily="18" charset="0"/>
                <a:ea typeface="宋体" panose="02010600030101010101" pitchFamily="2" charset="-122"/>
              </a:rPr>
              <a:t>07.</a:t>
            </a:r>
          </a:p>
        </p:txBody>
      </p:sp>
      <p:sp>
        <p:nvSpPr>
          <p:cNvPr id="8" name="직사각형 29">
            <a:extLst>
              <a:ext uri="{FF2B5EF4-FFF2-40B4-BE49-F238E27FC236}">
                <a16:creationId xmlns:a16="http://schemas.microsoft.com/office/drawing/2014/main" id="{427D3862-3707-83AC-37B8-4FAC65511EFC}"/>
              </a:ext>
            </a:extLst>
          </p:cNvPr>
          <p:cNvSpPr/>
          <p:nvPr/>
        </p:nvSpPr>
        <p:spPr>
          <a:xfrm>
            <a:off x="7777946" y="4428453"/>
            <a:ext cx="3076581" cy="400110"/>
          </a:xfrm>
          <a:prstGeom prst="rect">
            <a:avLst/>
          </a:prstGeom>
          <a:noFill/>
        </p:spPr>
        <p:txBody>
          <a:bodyPr wrap="square" rtlCol="0">
            <a:spAutoFit/>
          </a:bodyPr>
          <a:lstStyle/>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Post-processing</a:t>
            </a:r>
          </a:p>
        </p:txBody>
      </p:sp>
    </p:spTree>
    <p:extLst>
      <p:ext uri="{BB962C8B-B14F-4D97-AF65-F5344CB8AC3E}">
        <p14:creationId xmlns:p14="http://schemas.microsoft.com/office/powerpoint/2010/main" val="1714321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8">
            <a:extLst>
              <a:ext uri="{FF2B5EF4-FFF2-40B4-BE49-F238E27FC236}">
                <a16:creationId xmlns:a16="http://schemas.microsoft.com/office/drawing/2014/main" id="{32F42A18-86FD-F82D-C420-268549F46AB0}"/>
              </a:ext>
            </a:extLst>
          </p:cNvPr>
          <p:cNvSpPr txBox="1"/>
          <p:nvPr/>
        </p:nvSpPr>
        <p:spPr>
          <a:xfrm>
            <a:off x="-1924633" y="260627"/>
            <a:ext cx="8666936" cy="646331"/>
          </a:xfrm>
          <a:prstGeom prst="rect">
            <a:avLst/>
          </a:prstGeom>
          <a:noFill/>
        </p:spPr>
        <p:txBody>
          <a:bodyPr wrap="square" rtlCol="0">
            <a:spAutoFit/>
          </a:bodyPr>
          <a:lstStyle/>
          <a:p>
            <a:pPr algn="ctr"/>
            <a:r>
              <a:rPr lang="en-US" altLang="zh-CN" sz="3600" dirty="0">
                <a:solidFill>
                  <a:srgbClr val="AD9485"/>
                </a:solidFill>
                <a:latin typeface="Times New Roman" panose="02020603050405020304" pitchFamily="18" charset="0"/>
                <a:ea typeface="宋体" panose="02010600030101010101" pitchFamily="2" charset="-122"/>
                <a:cs typeface="Arial" panose="020B0604020202020204" pitchFamily="34" charset="0"/>
              </a:rPr>
              <a:t>A failed attempt</a:t>
            </a:r>
          </a:p>
        </p:txBody>
      </p:sp>
      <p:pic>
        <p:nvPicPr>
          <p:cNvPr id="4" name="图片 3">
            <a:extLst>
              <a:ext uri="{FF2B5EF4-FFF2-40B4-BE49-F238E27FC236}">
                <a16:creationId xmlns:a16="http://schemas.microsoft.com/office/drawing/2014/main" id="{C163D6BF-97F0-B6E6-ED5E-0AA187225978}"/>
              </a:ext>
            </a:extLst>
          </p:cNvPr>
          <p:cNvPicPr>
            <a:picLocks noChangeAspect="1"/>
          </p:cNvPicPr>
          <p:nvPr/>
        </p:nvPicPr>
        <p:blipFill>
          <a:blip r:embed="rId3"/>
          <a:stretch>
            <a:fillRect/>
          </a:stretch>
        </p:blipFill>
        <p:spPr>
          <a:xfrm>
            <a:off x="881025" y="1273786"/>
            <a:ext cx="1948358" cy="646331"/>
          </a:xfrm>
          <a:prstGeom prst="rect">
            <a:avLst/>
          </a:prstGeom>
        </p:spPr>
      </p:pic>
      <p:pic>
        <p:nvPicPr>
          <p:cNvPr id="6" name="图片 5">
            <a:extLst>
              <a:ext uri="{FF2B5EF4-FFF2-40B4-BE49-F238E27FC236}">
                <a16:creationId xmlns:a16="http://schemas.microsoft.com/office/drawing/2014/main" id="{AD3BBD23-487A-772B-AA3B-869191E26DF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881025" y="2324100"/>
            <a:ext cx="1950720" cy="1104900"/>
          </a:xfrm>
          <a:prstGeom prst="rect">
            <a:avLst/>
          </a:prstGeom>
          <a:noFill/>
          <a:ln>
            <a:noFill/>
          </a:ln>
        </p:spPr>
      </p:pic>
      <p:pic>
        <p:nvPicPr>
          <p:cNvPr id="8" name="图片 7">
            <a:extLst>
              <a:ext uri="{FF2B5EF4-FFF2-40B4-BE49-F238E27FC236}">
                <a16:creationId xmlns:a16="http://schemas.microsoft.com/office/drawing/2014/main" id="{773B0A66-06CB-518B-07CD-1BB2C4B18B8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881025" y="3832983"/>
            <a:ext cx="3055620" cy="1264920"/>
          </a:xfrm>
          <a:prstGeom prst="rect">
            <a:avLst/>
          </a:prstGeom>
          <a:noFill/>
          <a:ln>
            <a:noFill/>
          </a:ln>
        </p:spPr>
      </p:pic>
      <p:sp>
        <p:nvSpPr>
          <p:cNvPr id="10" name="직사각형 29">
            <a:extLst>
              <a:ext uri="{FF2B5EF4-FFF2-40B4-BE49-F238E27FC236}">
                <a16:creationId xmlns:a16="http://schemas.microsoft.com/office/drawing/2014/main" id="{39BFC970-1A8E-5FA7-4EC0-6383E41D41C2}"/>
              </a:ext>
            </a:extLst>
          </p:cNvPr>
          <p:cNvSpPr/>
          <p:nvPr/>
        </p:nvSpPr>
        <p:spPr>
          <a:xfrm>
            <a:off x="6096000" y="2476440"/>
            <a:ext cx="3076581" cy="400110"/>
          </a:xfrm>
          <a:prstGeom prst="rect">
            <a:avLst/>
          </a:prstGeom>
          <a:noFill/>
        </p:spPr>
        <p:txBody>
          <a:bodyPr wrap="square" rtlCol="0">
            <a:spAutoFit/>
          </a:bodyPr>
          <a:lstStyle/>
          <a:p>
            <a:r>
              <a:rPr lang="en-US" altLang="ko-KR" sz="2000" dirty="0">
                <a:solidFill>
                  <a:schemeClr val="tx1">
                    <a:lumMod val="75000"/>
                    <a:lumOff val="25000"/>
                  </a:schemeClr>
                </a:solidFill>
                <a:latin typeface="Times New Roman" panose="02020603050405020304" pitchFamily="18" charset="0"/>
                <a:ea typeface="宋体" panose="02010600030101010101" pitchFamily="2" charset="-122"/>
              </a:rPr>
              <a:t>BAD RESULTS</a:t>
            </a:r>
            <a:r>
              <a:rPr lang="zh-CN" altLang="en-US" sz="2000" dirty="0">
                <a:solidFill>
                  <a:schemeClr val="tx1">
                    <a:lumMod val="75000"/>
                    <a:lumOff val="25000"/>
                  </a:schemeClr>
                </a:solidFill>
                <a:latin typeface="Times New Roman" panose="02020603050405020304" pitchFamily="18" charset="0"/>
                <a:ea typeface="宋体" panose="02010600030101010101" pitchFamily="2" charset="-122"/>
              </a:rPr>
              <a:t>！！</a:t>
            </a:r>
            <a:endParaRPr lang="en-US" altLang="zh-CN" sz="2000" dirty="0">
              <a:solidFill>
                <a:schemeClr val="tx1">
                  <a:lumMod val="75000"/>
                  <a:lumOff val="25000"/>
                </a:schemeClr>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321587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8">
            <a:extLst>
              <a:ext uri="{FF2B5EF4-FFF2-40B4-BE49-F238E27FC236}">
                <a16:creationId xmlns:a16="http://schemas.microsoft.com/office/drawing/2014/main" id="{32F42A18-86FD-F82D-C420-268549F46AB0}"/>
              </a:ext>
            </a:extLst>
          </p:cNvPr>
          <p:cNvSpPr txBox="1"/>
          <p:nvPr/>
        </p:nvSpPr>
        <p:spPr>
          <a:xfrm>
            <a:off x="-1924633" y="260627"/>
            <a:ext cx="8666936" cy="646331"/>
          </a:xfrm>
          <a:prstGeom prst="rect">
            <a:avLst/>
          </a:prstGeom>
          <a:noFill/>
        </p:spPr>
        <p:txBody>
          <a:bodyPr wrap="square" rtlCol="0">
            <a:spAutoFit/>
          </a:bodyPr>
          <a:lstStyle/>
          <a:p>
            <a:pPr algn="ctr"/>
            <a:r>
              <a:rPr lang="en-US" altLang="zh-CN" sz="3600" dirty="0">
                <a:solidFill>
                  <a:srgbClr val="AD9485"/>
                </a:solidFill>
                <a:latin typeface="Times New Roman" panose="02020603050405020304" pitchFamily="18" charset="0"/>
                <a:ea typeface="宋体" panose="02010600030101010101" pitchFamily="2" charset="-122"/>
                <a:cs typeface="Arial" panose="020B0604020202020204" pitchFamily="34" charset="0"/>
              </a:rPr>
              <a:t>A failed attempt</a:t>
            </a:r>
          </a:p>
        </p:txBody>
      </p:sp>
      <p:pic>
        <p:nvPicPr>
          <p:cNvPr id="5" name="图片 4">
            <a:extLst>
              <a:ext uri="{FF2B5EF4-FFF2-40B4-BE49-F238E27FC236}">
                <a16:creationId xmlns:a16="http://schemas.microsoft.com/office/drawing/2014/main" id="{A370DC80-F0AB-2843-D79F-EA73852BF86E}"/>
              </a:ext>
            </a:extLst>
          </p:cNvPr>
          <p:cNvPicPr>
            <a:picLocks noChangeAspect="1"/>
          </p:cNvPicPr>
          <p:nvPr/>
        </p:nvPicPr>
        <p:blipFill>
          <a:blip r:embed="rId3"/>
          <a:stretch>
            <a:fillRect/>
          </a:stretch>
        </p:blipFill>
        <p:spPr>
          <a:xfrm>
            <a:off x="714443" y="1190324"/>
            <a:ext cx="4701947" cy="662997"/>
          </a:xfrm>
          <a:prstGeom prst="rect">
            <a:avLst/>
          </a:prstGeom>
        </p:spPr>
      </p:pic>
      <p:pic>
        <p:nvPicPr>
          <p:cNvPr id="7" name="图片 6">
            <a:extLst>
              <a:ext uri="{FF2B5EF4-FFF2-40B4-BE49-F238E27FC236}">
                <a16:creationId xmlns:a16="http://schemas.microsoft.com/office/drawing/2014/main" id="{10D701D6-4EC0-94E0-3416-7BE82EE95BB6}"/>
              </a:ext>
            </a:extLst>
          </p:cNvPr>
          <p:cNvPicPr>
            <a:picLocks noChangeAspect="1"/>
          </p:cNvPicPr>
          <p:nvPr/>
        </p:nvPicPr>
        <p:blipFill>
          <a:blip r:embed="rId4"/>
          <a:stretch>
            <a:fillRect/>
          </a:stretch>
        </p:blipFill>
        <p:spPr>
          <a:xfrm>
            <a:off x="714443" y="1797006"/>
            <a:ext cx="4839119" cy="502964"/>
          </a:xfrm>
          <a:prstGeom prst="rect">
            <a:avLst/>
          </a:prstGeom>
        </p:spPr>
      </p:pic>
      <p:pic>
        <p:nvPicPr>
          <p:cNvPr id="9" name="图片 8">
            <a:extLst>
              <a:ext uri="{FF2B5EF4-FFF2-40B4-BE49-F238E27FC236}">
                <a16:creationId xmlns:a16="http://schemas.microsoft.com/office/drawing/2014/main" id="{CFFF5F9F-CF0B-5ECC-914C-C1EAD19F0F46}"/>
              </a:ext>
            </a:extLst>
          </p:cNvPr>
          <p:cNvPicPr>
            <a:picLocks noChangeAspect="1"/>
          </p:cNvPicPr>
          <p:nvPr/>
        </p:nvPicPr>
        <p:blipFill>
          <a:blip r:embed="rId5"/>
          <a:stretch>
            <a:fillRect/>
          </a:stretch>
        </p:blipFill>
        <p:spPr>
          <a:xfrm>
            <a:off x="714443" y="2255555"/>
            <a:ext cx="5664659" cy="1920576"/>
          </a:xfrm>
          <a:prstGeom prst="rect">
            <a:avLst/>
          </a:prstGeom>
        </p:spPr>
      </p:pic>
      <p:sp>
        <p:nvSpPr>
          <p:cNvPr id="12" name="TextBox 21">
            <a:extLst>
              <a:ext uri="{FF2B5EF4-FFF2-40B4-BE49-F238E27FC236}">
                <a16:creationId xmlns:a16="http://schemas.microsoft.com/office/drawing/2014/main" id="{D8D9D179-DE62-2C44-D4E8-F328D490CD58}"/>
              </a:ext>
            </a:extLst>
          </p:cNvPr>
          <p:cNvSpPr txBox="1"/>
          <p:nvPr/>
        </p:nvSpPr>
        <p:spPr>
          <a:xfrm>
            <a:off x="799883" y="4558031"/>
            <a:ext cx="4753679" cy="1169551"/>
          </a:xfrm>
          <a:prstGeom prst="rect">
            <a:avLst/>
          </a:prstGeom>
          <a:noFill/>
        </p:spPr>
        <p:txBody>
          <a:bodyPr wrap="square" rtlCol="0">
            <a:spAutoFit/>
          </a:bodyPr>
          <a:lstStyle>
            <a:defPPr>
              <a:defRPr lang="ko-KR"/>
            </a:defPPr>
            <a:lvl1pPr>
              <a:defRPr sz="1100">
                <a:solidFill>
                  <a:schemeClr val="tx1">
                    <a:lumMod val="75000"/>
                    <a:lumOff val="25000"/>
                  </a:schemeClr>
                </a:solidFill>
              </a:defRPr>
            </a:lvl1pPr>
          </a:lstStyle>
          <a:p>
            <a:r>
              <a:rPr lang="de-DE" altLang="zh-CN" sz="1400" dirty="0">
                <a:latin typeface="Times New Roman" panose="02020603050405020304" pitchFamily="18" charset="0"/>
                <a:ea typeface="宋体" panose="02010600030101010101" pitchFamily="2" charset="-122"/>
              </a:rPr>
              <a:t>Implementation steps</a:t>
            </a:r>
            <a:r>
              <a:rPr lang="zh-CN" altLang="en-US"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rPr>
              <a:t>Load the pre-trained BERT model and tokenizer</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rPr>
              <a:t>Define the poetry generator model</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rPr>
              <a:t>Generative poetry</a:t>
            </a:r>
          </a:p>
          <a:p>
            <a:endParaRPr lang="en-US" altLang="ko-KR" sz="1400" dirty="0">
              <a:latin typeface="Times New Roman" panose="02020603050405020304" pitchFamily="18" charset="0"/>
              <a:ea typeface="宋体" panose="02010600030101010101" pitchFamily="2" charset="-122"/>
            </a:endParaRPr>
          </a:p>
        </p:txBody>
      </p:sp>
      <p:pic>
        <p:nvPicPr>
          <p:cNvPr id="13" name="图片 12">
            <a:extLst>
              <a:ext uri="{FF2B5EF4-FFF2-40B4-BE49-F238E27FC236}">
                <a16:creationId xmlns:a16="http://schemas.microsoft.com/office/drawing/2014/main" id="{68A35939-B3FA-AB6C-4A15-8138A295538B}"/>
              </a:ext>
            </a:extLst>
          </p:cNvPr>
          <p:cNvPicPr>
            <a:picLocks noChangeAspect="1"/>
          </p:cNvPicPr>
          <p:nvPr/>
        </p:nvPicPr>
        <p:blipFill>
          <a:blip r:embed="rId6"/>
          <a:stretch>
            <a:fillRect/>
          </a:stretch>
        </p:blipFill>
        <p:spPr>
          <a:xfrm>
            <a:off x="6407919" y="906958"/>
            <a:ext cx="5784081" cy="3223539"/>
          </a:xfrm>
          <a:prstGeom prst="rect">
            <a:avLst/>
          </a:prstGeom>
        </p:spPr>
      </p:pic>
      <p:sp>
        <p:nvSpPr>
          <p:cNvPr id="14" name="TextBox 21">
            <a:extLst>
              <a:ext uri="{FF2B5EF4-FFF2-40B4-BE49-F238E27FC236}">
                <a16:creationId xmlns:a16="http://schemas.microsoft.com/office/drawing/2014/main" id="{0D89E783-0FC6-8C49-56D5-A363773DE391}"/>
              </a:ext>
            </a:extLst>
          </p:cNvPr>
          <p:cNvSpPr txBox="1"/>
          <p:nvPr/>
        </p:nvSpPr>
        <p:spPr>
          <a:xfrm>
            <a:off x="6379102" y="4532731"/>
            <a:ext cx="4753679" cy="954107"/>
          </a:xfrm>
          <a:prstGeom prst="rect">
            <a:avLst/>
          </a:prstGeom>
          <a:noFill/>
        </p:spPr>
        <p:txBody>
          <a:bodyPr wrap="square" rtlCol="0">
            <a:spAutoFit/>
          </a:bodyPr>
          <a:lstStyle>
            <a:defPPr>
              <a:defRPr lang="ko-KR"/>
            </a:defPPr>
            <a:lvl1pPr>
              <a:defRPr sz="1100">
                <a:solidFill>
                  <a:schemeClr val="tx1">
                    <a:lumMod val="75000"/>
                    <a:lumOff val="25000"/>
                  </a:schemeClr>
                </a:solidFill>
              </a:defRPr>
            </a:lvl1pPr>
          </a:lstStyle>
          <a:p>
            <a:r>
              <a:rPr lang="de-DE" altLang="zh-CN" sz="1400" dirty="0">
                <a:latin typeface="Times New Roman" panose="02020603050405020304" pitchFamily="18" charset="0"/>
                <a:ea typeface="宋体" panose="02010600030101010101" pitchFamily="2" charset="-122"/>
              </a:rPr>
              <a:t>Unimplemented step</a:t>
            </a:r>
            <a:r>
              <a:rPr lang="zh-CN" altLang="en-US"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rPr>
              <a:t>Model training</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rPr>
              <a:t>The introduction of attention mechanisms</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rPr>
              <a:t>Optimization of generation strategy</a:t>
            </a:r>
            <a:endParaRPr lang="en-US" altLang="ko-KR" sz="14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199631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9EF7D3-E137-469A-9D77-6611B6F39593}"/>
              </a:ext>
            </a:extLst>
          </p:cNvPr>
          <p:cNvSpPr txBox="1"/>
          <p:nvPr/>
        </p:nvSpPr>
        <p:spPr>
          <a:xfrm>
            <a:off x="4478401" y="2028616"/>
            <a:ext cx="4116959" cy="2800767"/>
          </a:xfrm>
          <a:prstGeom prst="rect">
            <a:avLst/>
          </a:prstGeom>
          <a:noFill/>
        </p:spPr>
        <p:txBody>
          <a:bodyPr wrap="square" rtlCol="0" anchor="ctr" anchorCtr="0">
            <a:spAutoFit/>
          </a:bodyPr>
          <a:lstStyle/>
          <a:p>
            <a:r>
              <a:rPr lang="en-US" altLang="ko-KR" sz="4400" dirty="0">
                <a:solidFill>
                  <a:schemeClr val="tx1">
                    <a:lumMod val="75000"/>
                    <a:lumOff val="25000"/>
                  </a:schemeClr>
                </a:solidFill>
                <a:latin typeface="Times New Roman" panose="02020603050405020304" pitchFamily="18" charset="0"/>
                <a:ea typeface="宋体" panose="02010600030101010101" pitchFamily="2" charset="-122"/>
              </a:rPr>
              <a:t>Poetry generation using paddle framework</a:t>
            </a:r>
            <a:endParaRPr lang="ko-KR" altLang="en-US" sz="4400" dirty="0">
              <a:solidFill>
                <a:schemeClr val="tx1">
                  <a:lumMod val="75000"/>
                  <a:lumOff val="25000"/>
                </a:schemeClr>
              </a:solidFill>
              <a:latin typeface="Times New Roman" panose="02020603050405020304" pitchFamily="18" charset="0"/>
            </a:endParaRPr>
          </a:p>
        </p:txBody>
      </p:sp>
    </p:spTree>
    <p:extLst>
      <p:ext uri="{BB962C8B-B14F-4D97-AF65-F5344CB8AC3E}">
        <p14:creationId xmlns:p14="http://schemas.microsoft.com/office/powerpoint/2010/main" val="1562301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8">
            <a:extLst>
              <a:ext uri="{FF2B5EF4-FFF2-40B4-BE49-F238E27FC236}">
                <a16:creationId xmlns:a16="http://schemas.microsoft.com/office/drawing/2014/main" id="{32F42A18-86FD-F82D-C420-268549F46AB0}"/>
              </a:ext>
            </a:extLst>
          </p:cNvPr>
          <p:cNvSpPr txBox="1"/>
          <p:nvPr/>
        </p:nvSpPr>
        <p:spPr>
          <a:xfrm>
            <a:off x="-1924633" y="260627"/>
            <a:ext cx="8666936" cy="646331"/>
          </a:xfrm>
          <a:prstGeom prst="rect">
            <a:avLst/>
          </a:prstGeom>
          <a:noFill/>
        </p:spPr>
        <p:txBody>
          <a:bodyPr wrap="square" rtlCol="0">
            <a:spAutoFit/>
          </a:bodyPr>
          <a:lstStyle/>
          <a:p>
            <a:pPr algn="ctr"/>
            <a:r>
              <a:rPr lang="en-US" altLang="zh-CN" sz="3600" dirty="0">
                <a:solidFill>
                  <a:srgbClr val="AD9485"/>
                </a:solidFill>
                <a:latin typeface="Times New Roman" panose="02020603050405020304" pitchFamily="18" charset="0"/>
                <a:ea typeface="宋体" panose="02010600030101010101" pitchFamily="2" charset="-122"/>
                <a:cs typeface="Arial" panose="020B0604020202020204" pitchFamily="34" charset="0"/>
              </a:rPr>
              <a:t>Studied projects</a:t>
            </a:r>
          </a:p>
        </p:txBody>
      </p:sp>
      <p:sp>
        <p:nvSpPr>
          <p:cNvPr id="20" name="文本框 19">
            <a:extLst>
              <a:ext uri="{FF2B5EF4-FFF2-40B4-BE49-F238E27FC236}">
                <a16:creationId xmlns:a16="http://schemas.microsoft.com/office/drawing/2014/main" id="{0ED259CD-4967-394C-1B45-AF65DC4C022A}"/>
              </a:ext>
            </a:extLst>
          </p:cNvPr>
          <p:cNvSpPr txBox="1"/>
          <p:nvPr/>
        </p:nvSpPr>
        <p:spPr>
          <a:xfrm>
            <a:off x="6933371" y="3241824"/>
            <a:ext cx="3666875" cy="2031325"/>
          </a:xfrm>
          <a:prstGeom prst="rect">
            <a:avLst/>
          </a:prstGeom>
          <a:noFill/>
        </p:spPr>
        <p:txBody>
          <a:bodyPr wrap="square" rtlCol="0">
            <a:spAutoFit/>
          </a:bodyPr>
          <a:lstStyle/>
          <a:p>
            <a:pPr latinLnBrk="0"/>
            <a:r>
              <a:rPr lang="en-US" altLang="zh-CN" dirty="0"/>
              <a:t>The project was trained using paddle's built-in data set and generated poems with a random style. But since it doesn't disclose its training for datasets, I chose to train a particular style of poetry on my own based on its code</a:t>
            </a:r>
            <a:endParaRPr lang="zh-CN" altLang="en-US" dirty="0"/>
          </a:p>
        </p:txBody>
      </p:sp>
      <p:pic>
        <p:nvPicPr>
          <p:cNvPr id="7" name="图片 6">
            <a:extLst>
              <a:ext uri="{FF2B5EF4-FFF2-40B4-BE49-F238E27FC236}">
                <a16:creationId xmlns:a16="http://schemas.microsoft.com/office/drawing/2014/main" id="{AC1FD3D3-363C-7649-D704-027B30D4D90E}"/>
              </a:ext>
            </a:extLst>
          </p:cNvPr>
          <p:cNvPicPr>
            <a:picLocks noChangeAspect="1"/>
          </p:cNvPicPr>
          <p:nvPr/>
        </p:nvPicPr>
        <p:blipFill>
          <a:blip r:embed="rId3"/>
          <a:stretch>
            <a:fillRect/>
          </a:stretch>
        </p:blipFill>
        <p:spPr>
          <a:xfrm>
            <a:off x="950618" y="2618057"/>
            <a:ext cx="5311290" cy="3278861"/>
          </a:xfrm>
          <a:prstGeom prst="rect">
            <a:avLst/>
          </a:prstGeom>
        </p:spPr>
      </p:pic>
      <p:pic>
        <p:nvPicPr>
          <p:cNvPr id="11" name="图片 10">
            <a:extLst>
              <a:ext uri="{FF2B5EF4-FFF2-40B4-BE49-F238E27FC236}">
                <a16:creationId xmlns:a16="http://schemas.microsoft.com/office/drawing/2014/main" id="{D93894A1-FDD7-A01A-3205-B9F83D67F5D5}"/>
              </a:ext>
            </a:extLst>
          </p:cNvPr>
          <p:cNvPicPr>
            <a:picLocks noChangeAspect="1"/>
          </p:cNvPicPr>
          <p:nvPr/>
        </p:nvPicPr>
        <p:blipFill>
          <a:blip r:embed="rId4"/>
          <a:stretch>
            <a:fillRect/>
          </a:stretch>
        </p:blipFill>
        <p:spPr>
          <a:xfrm>
            <a:off x="822779" y="1017096"/>
            <a:ext cx="7406821" cy="1072386"/>
          </a:xfrm>
          <a:prstGeom prst="rect">
            <a:avLst/>
          </a:prstGeom>
        </p:spPr>
      </p:pic>
      <p:sp>
        <p:nvSpPr>
          <p:cNvPr id="13" name="文本框 12">
            <a:extLst>
              <a:ext uri="{FF2B5EF4-FFF2-40B4-BE49-F238E27FC236}">
                <a16:creationId xmlns:a16="http://schemas.microsoft.com/office/drawing/2014/main" id="{FE8F94FD-3610-FC78-86CD-30A3DC38763E}"/>
              </a:ext>
            </a:extLst>
          </p:cNvPr>
          <p:cNvSpPr txBox="1"/>
          <p:nvPr/>
        </p:nvSpPr>
        <p:spPr>
          <a:xfrm>
            <a:off x="6909786" y="2296320"/>
            <a:ext cx="4008424" cy="651595"/>
          </a:xfrm>
          <a:prstGeom prst="rect">
            <a:avLst/>
          </a:prstGeom>
          <a:noFill/>
        </p:spPr>
        <p:txBody>
          <a:bodyPr wrap="square" rtlCol="0">
            <a:spAutoFit/>
          </a:bodyPr>
          <a:lstStyle/>
          <a:p>
            <a:pPr latinLnBrk="0"/>
            <a:r>
              <a:rPr lang="en-US" altLang="zh-CN" dirty="0"/>
              <a:t>Error occurred when generate its data processing codes.</a:t>
            </a:r>
            <a:endParaRPr lang="zh-CN" altLang="en-US" dirty="0"/>
          </a:p>
        </p:txBody>
      </p:sp>
      <p:cxnSp>
        <p:nvCxnSpPr>
          <p:cNvPr id="19" name="直接箭头连接符 18">
            <a:extLst>
              <a:ext uri="{FF2B5EF4-FFF2-40B4-BE49-F238E27FC236}">
                <a16:creationId xmlns:a16="http://schemas.microsoft.com/office/drawing/2014/main" id="{FF2DB339-F785-19BB-2318-2C053A41FFAA}"/>
              </a:ext>
            </a:extLst>
          </p:cNvPr>
          <p:cNvCxnSpPr>
            <a:endCxn id="13" idx="1"/>
          </p:cNvCxnSpPr>
          <p:nvPr/>
        </p:nvCxnSpPr>
        <p:spPr>
          <a:xfrm flipV="1">
            <a:off x="6261908" y="2622118"/>
            <a:ext cx="647878" cy="3257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8192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8">
            <a:extLst>
              <a:ext uri="{FF2B5EF4-FFF2-40B4-BE49-F238E27FC236}">
                <a16:creationId xmlns:a16="http://schemas.microsoft.com/office/drawing/2014/main" id="{32F42A18-86FD-F82D-C420-268549F46AB0}"/>
              </a:ext>
            </a:extLst>
          </p:cNvPr>
          <p:cNvSpPr txBox="1"/>
          <p:nvPr/>
        </p:nvSpPr>
        <p:spPr>
          <a:xfrm>
            <a:off x="-1924633" y="260627"/>
            <a:ext cx="8666936" cy="646331"/>
          </a:xfrm>
          <a:prstGeom prst="rect">
            <a:avLst/>
          </a:prstGeom>
          <a:noFill/>
        </p:spPr>
        <p:txBody>
          <a:bodyPr wrap="square" rtlCol="0">
            <a:spAutoFit/>
          </a:bodyPr>
          <a:lstStyle/>
          <a:p>
            <a:pPr algn="ctr"/>
            <a:r>
              <a:rPr lang="en-US" altLang="zh-CN" sz="3600" dirty="0">
                <a:solidFill>
                  <a:srgbClr val="AD9485"/>
                </a:solidFill>
                <a:latin typeface="Times New Roman" panose="02020603050405020304" pitchFamily="18" charset="0"/>
                <a:ea typeface="宋体" panose="02010600030101010101" pitchFamily="2" charset="-122"/>
                <a:cs typeface="Arial" panose="020B0604020202020204" pitchFamily="34" charset="0"/>
              </a:rPr>
              <a:t>Related files</a:t>
            </a:r>
          </a:p>
        </p:txBody>
      </p:sp>
      <p:sp>
        <p:nvSpPr>
          <p:cNvPr id="10" name="직사각형 29">
            <a:extLst>
              <a:ext uri="{FF2B5EF4-FFF2-40B4-BE49-F238E27FC236}">
                <a16:creationId xmlns:a16="http://schemas.microsoft.com/office/drawing/2014/main" id="{39BFC970-1A8E-5FA7-4EC0-6383E41D41C2}"/>
              </a:ext>
            </a:extLst>
          </p:cNvPr>
          <p:cNvSpPr/>
          <p:nvPr/>
        </p:nvSpPr>
        <p:spPr>
          <a:xfrm>
            <a:off x="2494845" y="906958"/>
            <a:ext cx="7021689" cy="646331"/>
          </a:xfrm>
          <a:prstGeom prst="rect">
            <a:avLst/>
          </a:prstGeom>
          <a:noFill/>
        </p:spPr>
        <p:txBody>
          <a:bodyPr wrap="square" rtlCol="0">
            <a:spAutoFit/>
          </a:bodyPr>
          <a:lstStyle/>
          <a:p>
            <a:pPr latinLnBrk="0"/>
            <a:r>
              <a:rPr lang="en-US" altLang="ko-KR" dirty="0">
                <a:solidFill>
                  <a:schemeClr val="tx1">
                    <a:lumMod val="75000"/>
                    <a:lumOff val="25000"/>
                  </a:schemeClr>
                </a:solidFill>
                <a:latin typeface="Times New Roman" panose="02020603050405020304" pitchFamily="18" charset="0"/>
                <a:ea typeface="宋体" panose="02010600030101010101" pitchFamily="2" charset="-122"/>
              </a:rPr>
              <a:t>Class: </a:t>
            </a:r>
            <a:r>
              <a:rPr lang="en-US" altLang="ko-KR" dirty="0" err="1">
                <a:solidFill>
                  <a:schemeClr val="tx1">
                    <a:lumMod val="75000"/>
                    <a:lumOff val="25000"/>
                  </a:schemeClr>
                </a:solidFill>
                <a:latin typeface="Times New Roman" panose="02020603050405020304" pitchFamily="18" charset="0"/>
                <a:ea typeface="宋体" panose="02010600030101010101" pitchFamily="2" charset="-122"/>
              </a:rPr>
              <a:t>PoemDataDescription</a:t>
            </a:r>
            <a:r>
              <a:rPr lang="en-US" altLang="ko-KR" dirty="0">
                <a:solidFill>
                  <a:schemeClr val="tx1">
                    <a:lumMod val="75000"/>
                    <a:lumOff val="25000"/>
                  </a:schemeClr>
                </a:solidFill>
                <a:latin typeface="Times New Roman" panose="02020603050405020304" pitchFamily="18" charset="0"/>
                <a:ea typeface="宋体" panose="02010600030101010101" pitchFamily="2" charset="-122"/>
              </a:rPr>
              <a:t>: The class responsible for loading, processing, and preparing a dataset of ancient poems.</a:t>
            </a:r>
            <a:endParaRPr lang="en-US" altLang="zh-CN" dirty="0">
              <a:solidFill>
                <a:schemeClr val="tx1">
                  <a:lumMod val="75000"/>
                  <a:lumOff val="25000"/>
                </a:schemeClr>
              </a:solidFill>
              <a:latin typeface="Times New Roman" panose="02020603050405020304" pitchFamily="18" charset="0"/>
              <a:ea typeface="宋体" panose="02010600030101010101" pitchFamily="2" charset="-122"/>
            </a:endParaRPr>
          </a:p>
        </p:txBody>
      </p:sp>
      <p:pic>
        <p:nvPicPr>
          <p:cNvPr id="5" name="图片 4">
            <a:extLst>
              <a:ext uri="{FF2B5EF4-FFF2-40B4-BE49-F238E27FC236}">
                <a16:creationId xmlns:a16="http://schemas.microsoft.com/office/drawing/2014/main" id="{D829E3D6-9FEC-EF58-F8A8-5FC9D8A50242}"/>
              </a:ext>
            </a:extLst>
          </p:cNvPr>
          <p:cNvPicPr>
            <a:picLocks noChangeAspect="1"/>
          </p:cNvPicPr>
          <p:nvPr/>
        </p:nvPicPr>
        <p:blipFill>
          <a:blip r:embed="rId3"/>
          <a:stretch>
            <a:fillRect/>
          </a:stretch>
        </p:blipFill>
        <p:spPr>
          <a:xfrm>
            <a:off x="998885" y="1040882"/>
            <a:ext cx="1251824" cy="328947"/>
          </a:xfrm>
          <a:prstGeom prst="rect">
            <a:avLst/>
          </a:prstGeom>
        </p:spPr>
      </p:pic>
      <p:pic>
        <p:nvPicPr>
          <p:cNvPr id="9" name="图片 8">
            <a:extLst>
              <a:ext uri="{FF2B5EF4-FFF2-40B4-BE49-F238E27FC236}">
                <a16:creationId xmlns:a16="http://schemas.microsoft.com/office/drawing/2014/main" id="{9D9CE9D9-C532-37B1-D0C5-F57CB0196612}"/>
              </a:ext>
            </a:extLst>
          </p:cNvPr>
          <p:cNvPicPr>
            <a:picLocks noChangeAspect="1"/>
          </p:cNvPicPr>
          <p:nvPr/>
        </p:nvPicPr>
        <p:blipFill>
          <a:blip r:embed="rId4"/>
          <a:stretch>
            <a:fillRect/>
          </a:stretch>
        </p:blipFill>
        <p:spPr>
          <a:xfrm>
            <a:off x="998885" y="2072321"/>
            <a:ext cx="1251824" cy="386742"/>
          </a:xfrm>
          <a:prstGeom prst="rect">
            <a:avLst/>
          </a:prstGeom>
        </p:spPr>
      </p:pic>
      <p:pic>
        <p:nvPicPr>
          <p:cNvPr id="12" name="图片 11">
            <a:extLst>
              <a:ext uri="{FF2B5EF4-FFF2-40B4-BE49-F238E27FC236}">
                <a16:creationId xmlns:a16="http://schemas.microsoft.com/office/drawing/2014/main" id="{DC9C5C6C-FFBD-9FB6-320E-96C93AE8F5B7}"/>
              </a:ext>
            </a:extLst>
          </p:cNvPr>
          <p:cNvPicPr>
            <a:picLocks noChangeAspect="1"/>
          </p:cNvPicPr>
          <p:nvPr/>
        </p:nvPicPr>
        <p:blipFill>
          <a:blip r:embed="rId5"/>
          <a:stretch>
            <a:fillRect/>
          </a:stretch>
        </p:blipFill>
        <p:spPr>
          <a:xfrm>
            <a:off x="1036114" y="5094715"/>
            <a:ext cx="1407060" cy="394503"/>
          </a:xfrm>
          <a:prstGeom prst="rect">
            <a:avLst/>
          </a:prstGeom>
        </p:spPr>
      </p:pic>
      <p:pic>
        <p:nvPicPr>
          <p:cNvPr id="14" name="图片 13">
            <a:extLst>
              <a:ext uri="{FF2B5EF4-FFF2-40B4-BE49-F238E27FC236}">
                <a16:creationId xmlns:a16="http://schemas.microsoft.com/office/drawing/2014/main" id="{08A62365-CD88-0F4F-0B10-D4C174123772}"/>
              </a:ext>
            </a:extLst>
          </p:cNvPr>
          <p:cNvPicPr>
            <a:picLocks noChangeAspect="1"/>
          </p:cNvPicPr>
          <p:nvPr/>
        </p:nvPicPr>
        <p:blipFill>
          <a:blip r:embed="rId6"/>
          <a:stretch>
            <a:fillRect/>
          </a:stretch>
        </p:blipFill>
        <p:spPr>
          <a:xfrm>
            <a:off x="941637" y="3105247"/>
            <a:ext cx="1292995" cy="465944"/>
          </a:xfrm>
          <a:prstGeom prst="rect">
            <a:avLst/>
          </a:prstGeom>
        </p:spPr>
      </p:pic>
      <p:pic>
        <p:nvPicPr>
          <p:cNvPr id="16" name="图片 15">
            <a:extLst>
              <a:ext uri="{FF2B5EF4-FFF2-40B4-BE49-F238E27FC236}">
                <a16:creationId xmlns:a16="http://schemas.microsoft.com/office/drawing/2014/main" id="{A59F1E17-3568-F0FE-07AA-718DA4A8E568}"/>
              </a:ext>
            </a:extLst>
          </p:cNvPr>
          <p:cNvPicPr>
            <a:picLocks noChangeAspect="1"/>
          </p:cNvPicPr>
          <p:nvPr/>
        </p:nvPicPr>
        <p:blipFill>
          <a:blip r:embed="rId7"/>
          <a:stretch>
            <a:fillRect/>
          </a:stretch>
        </p:blipFill>
        <p:spPr>
          <a:xfrm>
            <a:off x="950618" y="4080224"/>
            <a:ext cx="1578053" cy="369332"/>
          </a:xfrm>
          <a:prstGeom prst="rect">
            <a:avLst/>
          </a:prstGeom>
        </p:spPr>
      </p:pic>
      <p:sp>
        <p:nvSpPr>
          <p:cNvPr id="17" name="직사각형 29">
            <a:extLst>
              <a:ext uri="{FF2B5EF4-FFF2-40B4-BE49-F238E27FC236}">
                <a16:creationId xmlns:a16="http://schemas.microsoft.com/office/drawing/2014/main" id="{E591A7A3-C00D-9B35-6394-D2BCB42E91F2}"/>
              </a:ext>
            </a:extLst>
          </p:cNvPr>
          <p:cNvSpPr/>
          <p:nvPr/>
        </p:nvSpPr>
        <p:spPr>
          <a:xfrm>
            <a:off x="2585155" y="1986765"/>
            <a:ext cx="9121423" cy="646331"/>
          </a:xfrm>
          <a:prstGeom prst="rect">
            <a:avLst/>
          </a:prstGeom>
          <a:noFill/>
        </p:spPr>
        <p:txBody>
          <a:bodyPr wrap="square" rtlCol="0">
            <a:spAutoFit/>
          </a:bodyPr>
          <a:lstStyle/>
          <a:p>
            <a:r>
              <a:rPr lang="en-US" altLang="ko-KR" dirty="0">
                <a:solidFill>
                  <a:schemeClr val="tx1">
                    <a:lumMod val="75000"/>
                    <a:lumOff val="25000"/>
                  </a:schemeClr>
                </a:solidFill>
                <a:latin typeface="Times New Roman" panose="02020603050405020304" pitchFamily="18" charset="0"/>
                <a:ea typeface="宋体" panose="02010600030101010101" pitchFamily="2" charset="-122"/>
              </a:rPr>
              <a:t>Class: </a:t>
            </a:r>
            <a:r>
              <a:rPr lang="en-US" altLang="ko-KR" dirty="0" err="1">
                <a:solidFill>
                  <a:schemeClr val="tx1">
                    <a:lumMod val="75000"/>
                    <a:lumOff val="25000"/>
                  </a:schemeClr>
                </a:solidFill>
                <a:latin typeface="Times New Roman" panose="02020603050405020304" pitchFamily="18" charset="0"/>
                <a:ea typeface="宋体" panose="02010600030101010101" pitchFamily="2" charset="-122"/>
              </a:rPr>
              <a:t>PoetryBertModel</a:t>
            </a:r>
            <a:r>
              <a:rPr lang="en-US" altLang="ko-KR" dirty="0">
                <a:solidFill>
                  <a:schemeClr val="tx1">
                    <a:lumMod val="75000"/>
                    <a:lumOff val="25000"/>
                  </a:schemeClr>
                </a:solidFill>
                <a:latin typeface="Times New Roman" panose="02020603050405020304" pitchFamily="18" charset="0"/>
                <a:ea typeface="宋体" panose="02010600030101010101" pitchFamily="2" charset="-122"/>
              </a:rPr>
              <a:t> </a:t>
            </a:r>
            <a:r>
              <a:rPr lang="en-US" altLang="ko-KR" dirty="0" err="1">
                <a:solidFill>
                  <a:schemeClr val="tx1">
                    <a:lumMod val="75000"/>
                    <a:lumOff val="25000"/>
                  </a:schemeClr>
                </a:solidFill>
                <a:latin typeface="Times New Roman" panose="02020603050405020304" pitchFamily="18" charset="0"/>
                <a:ea typeface="宋体" panose="02010600030101010101" pitchFamily="2" charset="-122"/>
              </a:rPr>
              <a:t>PoetryBertModelLossCriterionDescription</a:t>
            </a:r>
            <a:r>
              <a:rPr lang="en-US" altLang="ko-KR" dirty="0">
                <a:solidFill>
                  <a:schemeClr val="tx1">
                    <a:lumMod val="75000"/>
                    <a:lumOff val="25000"/>
                  </a:schemeClr>
                </a:solidFill>
                <a:latin typeface="Times New Roman" panose="02020603050405020304" pitchFamily="18" charset="0"/>
                <a:ea typeface="宋体" panose="02010600030101010101" pitchFamily="2" charset="-122"/>
              </a:rPr>
              <a:t>: The generation model of ancient poetry and the related loss function classes are defined respectively.</a:t>
            </a:r>
            <a:endParaRPr lang="en-US" altLang="zh-CN" dirty="0">
              <a:solidFill>
                <a:schemeClr val="tx1">
                  <a:lumMod val="75000"/>
                  <a:lumOff val="25000"/>
                </a:schemeClr>
              </a:solidFill>
              <a:latin typeface="Times New Roman" panose="02020603050405020304" pitchFamily="18" charset="0"/>
              <a:ea typeface="宋体" panose="02010600030101010101" pitchFamily="2" charset="-122"/>
            </a:endParaRPr>
          </a:p>
        </p:txBody>
      </p:sp>
      <p:sp>
        <p:nvSpPr>
          <p:cNvPr id="18" name="文本框 17">
            <a:extLst>
              <a:ext uri="{FF2B5EF4-FFF2-40B4-BE49-F238E27FC236}">
                <a16:creationId xmlns:a16="http://schemas.microsoft.com/office/drawing/2014/main" id="{024776BE-9AEC-8402-BE82-034B13DE59CF}"/>
              </a:ext>
            </a:extLst>
          </p:cNvPr>
          <p:cNvSpPr txBox="1"/>
          <p:nvPr/>
        </p:nvSpPr>
        <p:spPr>
          <a:xfrm>
            <a:off x="2585155" y="3201859"/>
            <a:ext cx="8481809" cy="369332"/>
          </a:xfrm>
          <a:prstGeom prst="rect">
            <a:avLst/>
          </a:prstGeom>
          <a:noFill/>
        </p:spPr>
        <p:txBody>
          <a:bodyPr wrap="none" rtlCol="0">
            <a:spAutoFit/>
          </a:bodyPr>
          <a:lstStyle/>
          <a:p>
            <a:r>
              <a:rPr lang="en-US" altLang="zh-CN" dirty="0"/>
              <a:t>No specific class, contains some functions and code snippets that generate ancient poems.</a:t>
            </a:r>
            <a:endParaRPr lang="zh-CN" altLang="en-US" dirty="0"/>
          </a:p>
        </p:txBody>
      </p:sp>
      <p:sp>
        <p:nvSpPr>
          <p:cNvPr id="20" name="文本框 19">
            <a:extLst>
              <a:ext uri="{FF2B5EF4-FFF2-40B4-BE49-F238E27FC236}">
                <a16:creationId xmlns:a16="http://schemas.microsoft.com/office/drawing/2014/main" id="{0ED259CD-4967-394C-1B45-AF65DC4C022A}"/>
              </a:ext>
            </a:extLst>
          </p:cNvPr>
          <p:cNvSpPr txBox="1"/>
          <p:nvPr/>
        </p:nvSpPr>
        <p:spPr>
          <a:xfrm>
            <a:off x="2582804" y="4080224"/>
            <a:ext cx="8658578" cy="646331"/>
          </a:xfrm>
          <a:prstGeom prst="rect">
            <a:avLst/>
          </a:prstGeom>
          <a:noFill/>
        </p:spPr>
        <p:txBody>
          <a:bodyPr wrap="square" rtlCol="0">
            <a:spAutoFit/>
          </a:bodyPr>
          <a:lstStyle/>
          <a:p>
            <a:pPr latinLnBrk="0"/>
            <a:r>
              <a:rPr lang="en-US" altLang="zh-CN" dirty="0"/>
              <a:t>There are no specific classes, but some auxiliary functions and classes are used in the process of generating ancient poems.</a:t>
            </a:r>
            <a:endParaRPr lang="zh-CN" altLang="en-US" dirty="0"/>
          </a:p>
        </p:txBody>
      </p:sp>
      <p:sp>
        <p:nvSpPr>
          <p:cNvPr id="21" name="文本框 20">
            <a:extLst>
              <a:ext uri="{FF2B5EF4-FFF2-40B4-BE49-F238E27FC236}">
                <a16:creationId xmlns:a16="http://schemas.microsoft.com/office/drawing/2014/main" id="{4CC954EA-1D4B-B8E8-33DD-0F011946A0ED}"/>
              </a:ext>
            </a:extLst>
          </p:cNvPr>
          <p:cNvSpPr txBox="1"/>
          <p:nvPr/>
        </p:nvSpPr>
        <p:spPr>
          <a:xfrm>
            <a:off x="2582804" y="5007952"/>
            <a:ext cx="7472816" cy="923330"/>
          </a:xfrm>
          <a:prstGeom prst="rect">
            <a:avLst/>
          </a:prstGeom>
          <a:noFill/>
        </p:spPr>
        <p:txBody>
          <a:bodyPr wrap="square" rtlCol="0">
            <a:spAutoFit/>
          </a:bodyPr>
          <a:lstStyle/>
          <a:p>
            <a:pPr latinLnBrk="0"/>
            <a:r>
              <a:rPr lang="en-US" altLang="zh-CN" dirty="0"/>
              <a:t>There is no specific class, which contains the main script for the entire training process, relying on the </a:t>
            </a:r>
            <a:r>
              <a:rPr lang="en-US" altLang="zh-CN" dirty="0" err="1"/>
              <a:t>PoemData</a:t>
            </a:r>
            <a:r>
              <a:rPr lang="en-US" altLang="zh-CN" dirty="0"/>
              <a:t> class and the </a:t>
            </a:r>
            <a:r>
              <a:rPr lang="en-US" altLang="zh-CN" dirty="0" err="1"/>
              <a:t>PoetryBertModel</a:t>
            </a:r>
            <a:r>
              <a:rPr lang="en-US" altLang="zh-CN" dirty="0"/>
              <a:t> class for training.</a:t>
            </a:r>
            <a:endParaRPr lang="zh-CN" altLang="en-US" dirty="0"/>
          </a:p>
        </p:txBody>
      </p:sp>
    </p:spTree>
    <p:extLst>
      <p:ext uri="{BB962C8B-B14F-4D97-AF65-F5344CB8AC3E}">
        <p14:creationId xmlns:p14="http://schemas.microsoft.com/office/powerpoint/2010/main" val="446892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36382EE-B0F1-4525-96CC-87A751C3C21D}"/>
              </a:ext>
            </a:extLst>
          </p:cNvPr>
          <p:cNvSpPr txBox="1"/>
          <p:nvPr/>
        </p:nvSpPr>
        <p:spPr>
          <a:xfrm>
            <a:off x="218786" y="1877658"/>
            <a:ext cx="3398262" cy="1200329"/>
          </a:xfrm>
          <a:prstGeom prst="rect">
            <a:avLst/>
          </a:prstGeom>
          <a:noFill/>
        </p:spPr>
        <p:txBody>
          <a:bodyPr wrap="square" rtlCol="0">
            <a:spAutoFit/>
          </a:bodyPr>
          <a:lstStyle/>
          <a:p>
            <a:pPr latinLnBrk="0"/>
            <a:r>
              <a:rPr lang="en-US" altLang="zh-CN" sz="1800" dirty="0">
                <a:effectLst/>
                <a:latin typeface="Times New Roman" panose="02020603050405020304" pitchFamily="18" charset="0"/>
                <a:ea typeface="宋体" panose="02010600030101010101" pitchFamily="2" charset="-122"/>
              </a:rPr>
              <a:t>The data of ancient poems are cleaned, marked and organized to facilitate subsequent training and generation.</a:t>
            </a:r>
            <a:endParaRPr lang="ko-KR" altLang="en-US" sz="1400" dirty="0">
              <a:solidFill>
                <a:schemeClr val="tx1">
                  <a:lumMod val="75000"/>
                  <a:lumOff val="25000"/>
                </a:schemeClr>
              </a:solidFill>
              <a:latin typeface="Times New Roman" panose="02020603050405020304" pitchFamily="18" charset="0"/>
            </a:endParaRPr>
          </a:p>
        </p:txBody>
      </p:sp>
      <p:sp>
        <p:nvSpPr>
          <p:cNvPr id="13" name="TextBox 12">
            <a:extLst>
              <a:ext uri="{FF2B5EF4-FFF2-40B4-BE49-F238E27FC236}">
                <a16:creationId xmlns:a16="http://schemas.microsoft.com/office/drawing/2014/main" id="{1655436B-EC80-40D2-957E-94A2EC99E77B}"/>
              </a:ext>
            </a:extLst>
          </p:cNvPr>
          <p:cNvSpPr txBox="1"/>
          <p:nvPr/>
        </p:nvSpPr>
        <p:spPr>
          <a:xfrm>
            <a:off x="218786" y="454763"/>
            <a:ext cx="3768906" cy="523220"/>
          </a:xfrm>
          <a:prstGeom prst="rect">
            <a:avLst/>
          </a:prstGeom>
          <a:noFill/>
        </p:spPr>
        <p:txBody>
          <a:bodyPr wrap="square" rtlCol="0">
            <a:spAutoFit/>
          </a:bodyPr>
          <a:lstStyle>
            <a:defPPr>
              <a:defRPr lang="ko-KR"/>
            </a:defPPr>
            <a:lvl1pPr algn="ctr">
              <a:defRPr sz="2800">
                <a:solidFill>
                  <a:srgbClr val="B7AEA5"/>
                </a:solidFill>
                <a:cs typeface="Arial" panose="020B0604020202020204" pitchFamily="34" charset="0"/>
              </a:defRPr>
            </a:lvl1pPr>
          </a:lstStyle>
          <a:p>
            <a:pPr algn="l"/>
            <a:r>
              <a:rPr lang="en-US" altLang="zh-CN" dirty="0">
                <a:solidFill>
                  <a:srgbClr val="AD9485"/>
                </a:solidFill>
                <a:latin typeface="Times New Roman" panose="02020603050405020304" pitchFamily="18" charset="0"/>
                <a:ea typeface="宋体" panose="02010600030101010101" pitchFamily="2" charset="-122"/>
              </a:rPr>
              <a:t>Dataset.py</a:t>
            </a:r>
            <a:endParaRPr lang="ko-KR" altLang="en-US" dirty="0">
              <a:solidFill>
                <a:srgbClr val="AD9485"/>
              </a:solidFill>
              <a:latin typeface="Times New Roman" panose="02020603050405020304" pitchFamily="18" charset="0"/>
            </a:endParaRPr>
          </a:p>
        </p:txBody>
      </p:sp>
      <p:pic>
        <p:nvPicPr>
          <p:cNvPr id="8" name="图片 7">
            <a:extLst>
              <a:ext uri="{FF2B5EF4-FFF2-40B4-BE49-F238E27FC236}">
                <a16:creationId xmlns:a16="http://schemas.microsoft.com/office/drawing/2014/main" id="{E82AB973-05AA-87D8-9EE4-7CE65EE818B3}"/>
              </a:ext>
            </a:extLst>
          </p:cNvPr>
          <p:cNvPicPr>
            <a:picLocks noChangeAspect="1"/>
          </p:cNvPicPr>
          <p:nvPr/>
        </p:nvPicPr>
        <p:blipFill>
          <a:blip r:embed="rId3"/>
          <a:stretch>
            <a:fillRect/>
          </a:stretch>
        </p:blipFill>
        <p:spPr>
          <a:xfrm>
            <a:off x="4081532" y="128957"/>
            <a:ext cx="8245555" cy="6729043"/>
          </a:xfrm>
          <a:prstGeom prst="rect">
            <a:avLst/>
          </a:prstGeom>
        </p:spPr>
      </p:pic>
    </p:spTree>
    <p:extLst>
      <p:ext uri="{BB962C8B-B14F-4D97-AF65-F5344CB8AC3E}">
        <p14:creationId xmlns:p14="http://schemas.microsoft.com/office/powerpoint/2010/main" val="3407577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36382EE-B0F1-4525-96CC-87A751C3C21D}"/>
              </a:ext>
            </a:extLst>
          </p:cNvPr>
          <p:cNvSpPr txBox="1"/>
          <p:nvPr/>
        </p:nvSpPr>
        <p:spPr>
          <a:xfrm>
            <a:off x="218786" y="1877658"/>
            <a:ext cx="3398262" cy="1754326"/>
          </a:xfrm>
          <a:prstGeom prst="rect">
            <a:avLst/>
          </a:prstGeom>
          <a:noFill/>
        </p:spPr>
        <p:txBody>
          <a:bodyPr wrap="square" rtlCol="0">
            <a:spAutoFit/>
          </a:bodyPr>
          <a:lstStyle/>
          <a:p>
            <a:pPr latinLnBrk="0"/>
            <a:r>
              <a:rPr lang="en-US" altLang="zh-CN" sz="1800" dirty="0">
                <a:effectLst/>
                <a:latin typeface="Times New Roman" panose="02020603050405020304" pitchFamily="18" charset="0"/>
                <a:ea typeface="宋体" panose="02010600030101010101" pitchFamily="2" charset="-122"/>
              </a:rPr>
              <a:t>The model for generating poetry and the associated loss functions are defined in the model.py file. I chose to use the pre-trained BERT model as a base and built a poetry generator model on top of it.</a:t>
            </a:r>
            <a:endParaRPr lang="ko-KR" altLang="en-US" sz="1400" dirty="0">
              <a:solidFill>
                <a:schemeClr val="tx1">
                  <a:lumMod val="75000"/>
                  <a:lumOff val="25000"/>
                </a:schemeClr>
              </a:solidFill>
              <a:latin typeface="Times New Roman" panose="02020603050405020304" pitchFamily="18" charset="0"/>
            </a:endParaRPr>
          </a:p>
        </p:txBody>
      </p:sp>
      <p:sp>
        <p:nvSpPr>
          <p:cNvPr id="13" name="TextBox 12">
            <a:extLst>
              <a:ext uri="{FF2B5EF4-FFF2-40B4-BE49-F238E27FC236}">
                <a16:creationId xmlns:a16="http://schemas.microsoft.com/office/drawing/2014/main" id="{1655436B-EC80-40D2-957E-94A2EC99E77B}"/>
              </a:ext>
            </a:extLst>
          </p:cNvPr>
          <p:cNvSpPr txBox="1"/>
          <p:nvPr/>
        </p:nvSpPr>
        <p:spPr>
          <a:xfrm>
            <a:off x="218786" y="454763"/>
            <a:ext cx="3768906" cy="523220"/>
          </a:xfrm>
          <a:prstGeom prst="rect">
            <a:avLst/>
          </a:prstGeom>
          <a:noFill/>
        </p:spPr>
        <p:txBody>
          <a:bodyPr wrap="square" rtlCol="0">
            <a:spAutoFit/>
          </a:bodyPr>
          <a:lstStyle>
            <a:defPPr>
              <a:defRPr lang="ko-KR"/>
            </a:defPPr>
            <a:lvl1pPr algn="ctr">
              <a:defRPr sz="2800">
                <a:solidFill>
                  <a:srgbClr val="B7AEA5"/>
                </a:solidFill>
                <a:cs typeface="Arial" panose="020B0604020202020204" pitchFamily="34" charset="0"/>
              </a:defRPr>
            </a:lvl1pPr>
          </a:lstStyle>
          <a:p>
            <a:pPr algn="l"/>
            <a:r>
              <a:rPr lang="en-US" altLang="zh-CN" dirty="0">
                <a:solidFill>
                  <a:srgbClr val="AD9485"/>
                </a:solidFill>
                <a:latin typeface="Times New Roman" panose="02020603050405020304" pitchFamily="18" charset="0"/>
                <a:ea typeface="宋体" panose="02010600030101010101" pitchFamily="2" charset="-122"/>
              </a:rPr>
              <a:t>model.py</a:t>
            </a:r>
            <a:endParaRPr lang="ko-KR" altLang="en-US" dirty="0">
              <a:solidFill>
                <a:srgbClr val="AD9485"/>
              </a:solidFill>
              <a:latin typeface="Times New Roman" panose="02020603050405020304" pitchFamily="18" charset="0"/>
            </a:endParaRPr>
          </a:p>
        </p:txBody>
      </p:sp>
      <p:pic>
        <p:nvPicPr>
          <p:cNvPr id="3" name="图片 2">
            <a:extLst>
              <a:ext uri="{FF2B5EF4-FFF2-40B4-BE49-F238E27FC236}">
                <a16:creationId xmlns:a16="http://schemas.microsoft.com/office/drawing/2014/main" id="{CB762252-0DB5-E03A-23C1-A2374F330539}"/>
              </a:ext>
            </a:extLst>
          </p:cNvPr>
          <p:cNvPicPr>
            <a:picLocks noChangeAspect="1"/>
          </p:cNvPicPr>
          <p:nvPr/>
        </p:nvPicPr>
        <p:blipFill>
          <a:blip r:embed="rId3"/>
          <a:stretch>
            <a:fillRect/>
          </a:stretch>
        </p:blipFill>
        <p:spPr>
          <a:xfrm>
            <a:off x="3864831" y="217618"/>
            <a:ext cx="8108383" cy="2674852"/>
          </a:xfrm>
          <a:prstGeom prst="rect">
            <a:avLst/>
          </a:prstGeom>
        </p:spPr>
      </p:pic>
      <p:pic>
        <p:nvPicPr>
          <p:cNvPr id="7" name="图片 6">
            <a:extLst>
              <a:ext uri="{FF2B5EF4-FFF2-40B4-BE49-F238E27FC236}">
                <a16:creationId xmlns:a16="http://schemas.microsoft.com/office/drawing/2014/main" id="{A42E7C7F-727E-E3B1-A6A7-FF3F042B716A}"/>
              </a:ext>
            </a:extLst>
          </p:cNvPr>
          <p:cNvPicPr>
            <a:picLocks noChangeAspect="1"/>
          </p:cNvPicPr>
          <p:nvPr/>
        </p:nvPicPr>
        <p:blipFill>
          <a:blip r:embed="rId4"/>
          <a:stretch>
            <a:fillRect/>
          </a:stretch>
        </p:blipFill>
        <p:spPr>
          <a:xfrm>
            <a:off x="907030" y="3965531"/>
            <a:ext cx="7239627" cy="2217612"/>
          </a:xfrm>
          <a:prstGeom prst="rect">
            <a:avLst/>
          </a:prstGeom>
        </p:spPr>
      </p:pic>
    </p:spTree>
    <p:extLst>
      <p:ext uri="{BB962C8B-B14F-4D97-AF65-F5344CB8AC3E}">
        <p14:creationId xmlns:p14="http://schemas.microsoft.com/office/powerpoint/2010/main" val="402556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36382EE-B0F1-4525-96CC-87A751C3C21D}"/>
              </a:ext>
            </a:extLst>
          </p:cNvPr>
          <p:cNvSpPr txBox="1"/>
          <p:nvPr/>
        </p:nvSpPr>
        <p:spPr>
          <a:xfrm>
            <a:off x="218786" y="1877658"/>
            <a:ext cx="3398262" cy="2585323"/>
          </a:xfrm>
          <a:prstGeom prst="rect">
            <a:avLst/>
          </a:prstGeom>
          <a:noFill/>
        </p:spPr>
        <p:txBody>
          <a:bodyPr wrap="square" rtlCol="0">
            <a:spAutoFit/>
          </a:bodyPr>
          <a:lstStyle/>
          <a:p>
            <a:pPr latinLnBrk="0"/>
            <a:r>
              <a:rPr lang="en-US" altLang="zh-CN" sz="1800" dirty="0">
                <a:effectLst/>
                <a:latin typeface="Times New Roman" panose="02020603050405020304" pitchFamily="18" charset="0"/>
                <a:ea typeface="宋体" panose="02010600030101010101" pitchFamily="2" charset="-122"/>
              </a:rPr>
              <a:t>Contains some auxiliary functions and code snippets for generating ancient poems. These functions and code snippets help to process text data during the generation process, call models to make predictions, and post-process the generated results to ensure the quality of the resulting poetry.</a:t>
            </a:r>
            <a:endParaRPr lang="ko-KR" altLang="en-US" sz="1400" dirty="0">
              <a:solidFill>
                <a:schemeClr val="tx1">
                  <a:lumMod val="75000"/>
                  <a:lumOff val="25000"/>
                </a:schemeClr>
              </a:solidFill>
              <a:latin typeface="Times New Roman" panose="02020603050405020304" pitchFamily="18" charset="0"/>
            </a:endParaRPr>
          </a:p>
        </p:txBody>
      </p:sp>
      <p:sp>
        <p:nvSpPr>
          <p:cNvPr id="13" name="TextBox 12">
            <a:extLst>
              <a:ext uri="{FF2B5EF4-FFF2-40B4-BE49-F238E27FC236}">
                <a16:creationId xmlns:a16="http://schemas.microsoft.com/office/drawing/2014/main" id="{1655436B-EC80-40D2-957E-94A2EC99E77B}"/>
              </a:ext>
            </a:extLst>
          </p:cNvPr>
          <p:cNvSpPr txBox="1"/>
          <p:nvPr/>
        </p:nvSpPr>
        <p:spPr>
          <a:xfrm>
            <a:off x="218786" y="454763"/>
            <a:ext cx="3768906" cy="523220"/>
          </a:xfrm>
          <a:prstGeom prst="rect">
            <a:avLst/>
          </a:prstGeom>
          <a:noFill/>
        </p:spPr>
        <p:txBody>
          <a:bodyPr wrap="square" rtlCol="0">
            <a:spAutoFit/>
          </a:bodyPr>
          <a:lstStyle>
            <a:defPPr>
              <a:defRPr lang="ko-KR"/>
            </a:defPPr>
            <a:lvl1pPr algn="ctr">
              <a:defRPr sz="2800">
                <a:solidFill>
                  <a:srgbClr val="B7AEA5"/>
                </a:solidFill>
                <a:cs typeface="Arial" panose="020B0604020202020204" pitchFamily="34" charset="0"/>
              </a:defRPr>
            </a:lvl1pPr>
          </a:lstStyle>
          <a:p>
            <a:pPr algn="l"/>
            <a:r>
              <a:rPr lang="en-US" altLang="zh-CN" dirty="0">
                <a:solidFill>
                  <a:srgbClr val="AD9485"/>
                </a:solidFill>
                <a:latin typeface="Times New Roman" panose="02020603050405020304" pitchFamily="18" charset="0"/>
                <a:ea typeface="宋体" panose="02010600030101010101" pitchFamily="2" charset="-122"/>
              </a:rPr>
              <a:t>gen.py</a:t>
            </a:r>
            <a:endParaRPr lang="ko-KR" altLang="en-US" dirty="0">
              <a:solidFill>
                <a:srgbClr val="AD9485"/>
              </a:solidFill>
              <a:latin typeface="Times New Roman" panose="02020603050405020304" pitchFamily="18" charset="0"/>
            </a:endParaRPr>
          </a:p>
        </p:txBody>
      </p:sp>
      <p:pic>
        <p:nvPicPr>
          <p:cNvPr id="4" name="图片 3">
            <a:extLst>
              <a:ext uri="{FF2B5EF4-FFF2-40B4-BE49-F238E27FC236}">
                <a16:creationId xmlns:a16="http://schemas.microsoft.com/office/drawing/2014/main" id="{EACAB00C-C895-2BCC-3E46-F46B3604E07A}"/>
              </a:ext>
            </a:extLst>
          </p:cNvPr>
          <p:cNvPicPr>
            <a:picLocks noChangeAspect="1"/>
          </p:cNvPicPr>
          <p:nvPr/>
        </p:nvPicPr>
        <p:blipFill>
          <a:blip r:embed="rId3"/>
          <a:stretch>
            <a:fillRect/>
          </a:stretch>
        </p:blipFill>
        <p:spPr>
          <a:xfrm>
            <a:off x="5210432" y="266675"/>
            <a:ext cx="6729043" cy="4976291"/>
          </a:xfrm>
          <a:prstGeom prst="rect">
            <a:avLst/>
          </a:prstGeom>
        </p:spPr>
      </p:pic>
    </p:spTree>
    <p:extLst>
      <p:ext uri="{BB962C8B-B14F-4D97-AF65-F5344CB8AC3E}">
        <p14:creationId xmlns:p14="http://schemas.microsoft.com/office/powerpoint/2010/main" val="3402228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CECB39-FAB1-4FB6-AB53-82EB85BBBB4D}"/>
              </a:ext>
            </a:extLst>
          </p:cNvPr>
          <p:cNvSpPr txBox="1"/>
          <p:nvPr/>
        </p:nvSpPr>
        <p:spPr>
          <a:xfrm>
            <a:off x="-399344" y="376890"/>
            <a:ext cx="3175000" cy="523220"/>
          </a:xfrm>
          <a:prstGeom prst="rect">
            <a:avLst/>
          </a:prstGeom>
          <a:noFill/>
        </p:spPr>
        <p:txBody>
          <a:bodyPr wrap="square" rtlCol="0" anchor="ctr" anchorCtr="0">
            <a:spAutoFit/>
          </a:bodyPr>
          <a:lstStyle/>
          <a:p>
            <a:pPr algn="ctr"/>
            <a:r>
              <a:rPr lang="en-US" altLang="ko-KR" sz="2800" dirty="0">
                <a:solidFill>
                  <a:srgbClr val="AD9485"/>
                </a:solidFill>
                <a:latin typeface="Times New Roman" panose="02020603050405020304" pitchFamily="18" charset="0"/>
                <a:ea typeface="宋体" panose="02010600030101010101" pitchFamily="2" charset="-122"/>
              </a:rPr>
              <a:t>Train</a:t>
            </a:r>
            <a:r>
              <a:rPr lang="en-US" altLang="ko-KR" sz="2400" dirty="0">
                <a:solidFill>
                  <a:srgbClr val="AD9485"/>
                </a:solidFill>
                <a:latin typeface="Times New Roman" panose="02020603050405020304" pitchFamily="18" charset="0"/>
                <a:ea typeface="宋体" panose="02010600030101010101" pitchFamily="2" charset="-122"/>
              </a:rPr>
              <a:t>.py</a:t>
            </a:r>
          </a:p>
        </p:txBody>
      </p:sp>
      <p:sp>
        <p:nvSpPr>
          <p:cNvPr id="3" name="TextBox 2">
            <a:extLst>
              <a:ext uri="{FF2B5EF4-FFF2-40B4-BE49-F238E27FC236}">
                <a16:creationId xmlns:a16="http://schemas.microsoft.com/office/drawing/2014/main" id="{430969AC-631F-4C4B-A067-97FF7FD3834A}"/>
              </a:ext>
            </a:extLst>
          </p:cNvPr>
          <p:cNvSpPr txBox="1"/>
          <p:nvPr/>
        </p:nvSpPr>
        <p:spPr>
          <a:xfrm>
            <a:off x="673100" y="1230112"/>
            <a:ext cx="3175000" cy="1477328"/>
          </a:xfrm>
          <a:prstGeom prst="rect">
            <a:avLst/>
          </a:prstGeom>
          <a:noFill/>
        </p:spPr>
        <p:txBody>
          <a:bodyPr wrap="square" rtlCol="0">
            <a:spAutoFit/>
          </a:bodyPr>
          <a:lstStyle>
            <a:defPPr>
              <a:defRPr lang="ko-KR"/>
            </a:defPPr>
            <a:lvl1pPr>
              <a:defRPr sz="1100"/>
            </a:lvl1pPr>
          </a:lstStyle>
          <a:p>
            <a:pPr algn="ctr" latinLnBrk="0"/>
            <a:r>
              <a:rPr lang="en-US" altLang="zh-CN" sz="1800" dirty="0">
                <a:effectLst/>
                <a:latin typeface="Times New Roman" panose="02020603050405020304" pitchFamily="18" charset="0"/>
                <a:ea typeface="宋体" panose="02010600030101010101" pitchFamily="2" charset="-122"/>
              </a:rPr>
              <a:t>The standard of division is that 4 sentences are </a:t>
            </a:r>
            <a:r>
              <a:rPr lang="en-US" altLang="zh-CN" sz="1800" dirty="0" err="1">
                <a:effectLst/>
                <a:latin typeface="Times New Roman" panose="02020603050405020304" pitchFamily="18" charset="0"/>
                <a:ea typeface="宋体" panose="02010600030101010101" pitchFamily="2" charset="-122"/>
              </a:rPr>
              <a:t>quantas</a:t>
            </a:r>
            <a:r>
              <a:rPr lang="en-US" altLang="zh-CN" sz="1800" dirty="0">
                <a:effectLst/>
                <a:latin typeface="Times New Roman" panose="02020603050405020304" pitchFamily="18" charset="0"/>
                <a:ea typeface="宋体" panose="02010600030101010101" pitchFamily="2" charset="-122"/>
              </a:rPr>
              <a:t> and 8 sentences are rhythmic poems, each sentence has five or seven words.</a:t>
            </a:r>
            <a:endParaRPr lang="en-US" altLang="ko-KR" sz="1600" dirty="0">
              <a:solidFill>
                <a:schemeClr val="tx1">
                  <a:lumMod val="75000"/>
                  <a:lumOff val="25000"/>
                </a:schemeClr>
              </a:solidFill>
              <a:latin typeface="Times New Roman" panose="02020603050405020304" pitchFamily="18" charset="0"/>
              <a:ea typeface="宋体" panose="02010600030101010101" pitchFamily="2" charset="-122"/>
            </a:endParaRPr>
          </a:p>
        </p:txBody>
      </p:sp>
      <p:pic>
        <p:nvPicPr>
          <p:cNvPr id="12" name="图片 11">
            <a:extLst>
              <a:ext uri="{FF2B5EF4-FFF2-40B4-BE49-F238E27FC236}">
                <a16:creationId xmlns:a16="http://schemas.microsoft.com/office/drawing/2014/main" id="{60CF656A-C5CC-F4C8-41C4-3C150F19EED3}"/>
              </a:ext>
            </a:extLst>
          </p:cNvPr>
          <p:cNvPicPr>
            <a:picLocks noChangeAspect="1"/>
          </p:cNvPicPr>
          <p:nvPr/>
        </p:nvPicPr>
        <p:blipFill>
          <a:blip r:embed="rId3"/>
          <a:stretch>
            <a:fillRect/>
          </a:stretch>
        </p:blipFill>
        <p:spPr>
          <a:xfrm>
            <a:off x="4410569" y="2773723"/>
            <a:ext cx="2506980" cy="2621280"/>
          </a:xfrm>
          <a:prstGeom prst="rect">
            <a:avLst/>
          </a:prstGeom>
        </p:spPr>
      </p:pic>
      <p:pic>
        <p:nvPicPr>
          <p:cNvPr id="16" name="图片 15">
            <a:extLst>
              <a:ext uri="{FF2B5EF4-FFF2-40B4-BE49-F238E27FC236}">
                <a16:creationId xmlns:a16="http://schemas.microsoft.com/office/drawing/2014/main" id="{526500EA-4349-7ECF-1A26-2B22AAB246DE}"/>
              </a:ext>
            </a:extLst>
          </p:cNvPr>
          <p:cNvPicPr>
            <a:picLocks noChangeAspect="1"/>
          </p:cNvPicPr>
          <p:nvPr/>
        </p:nvPicPr>
        <p:blipFill>
          <a:blip r:embed="rId4"/>
          <a:stretch>
            <a:fillRect/>
          </a:stretch>
        </p:blipFill>
        <p:spPr>
          <a:xfrm>
            <a:off x="980329" y="3429000"/>
            <a:ext cx="2560542" cy="670618"/>
          </a:xfrm>
          <a:prstGeom prst="rect">
            <a:avLst/>
          </a:prstGeom>
        </p:spPr>
      </p:pic>
      <p:pic>
        <p:nvPicPr>
          <p:cNvPr id="17" name="图片 16">
            <a:extLst>
              <a:ext uri="{FF2B5EF4-FFF2-40B4-BE49-F238E27FC236}">
                <a16:creationId xmlns:a16="http://schemas.microsoft.com/office/drawing/2014/main" id="{FC867163-588E-3CBC-87BF-D9BAA6AC4997}"/>
              </a:ext>
            </a:extLst>
          </p:cNvPr>
          <p:cNvPicPr>
            <a:picLocks noChangeAspect="1"/>
          </p:cNvPicPr>
          <p:nvPr/>
        </p:nvPicPr>
        <p:blipFill>
          <a:blip r:embed="rId5"/>
          <a:stretch>
            <a:fillRect/>
          </a:stretch>
        </p:blipFill>
        <p:spPr>
          <a:xfrm>
            <a:off x="6942949" y="140794"/>
            <a:ext cx="3849040" cy="2354052"/>
          </a:xfrm>
          <a:prstGeom prst="rect">
            <a:avLst/>
          </a:prstGeom>
        </p:spPr>
      </p:pic>
      <p:pic>
        <p:nvPicPr>
          <p:cNvPr id="18" name="图片 17">
            <a:extLst>
              <a:ext uri="{FF2B5EF4-FFF2-40B4-BE49-F238E27FC236}">
                <a16:creationId xmlns:a16="http://schemas.microsoft.com/office/drawing/2014/main" id="{22C4FB6C-89DF-BBFD-5FF1-D90B4E954731}"/>
              </a:ext>
            </a:extLst>
          </p:cNvPr>
          <p:cNvPicPr>
            <a:picLocks noChangeAspect="1"/>
          </p:cNvPicPr>
          <p:nvPr/>
        </p:nvPicPr>
        <p:blipFill>
          <a:blip r:embed="rId6"/>
          <a:stretch>
            <a:fillRect/>
          </a:stretch>
        </p:blipFill>
        <p:spPr>
          <a:xfrm>
            <a:off x="8592962" y="3429000"/>
            <a:ext cx="1485900" cy="845820"/>
          </a:xfrm>
          <a:prstGeom prst="rect">
            <a:avLst/>
          </a:prstGeom>
        </p:spPr>
      </p:pic>
      <p:cxnSp>
        <p:nvCxnSpPr>
          <p:cNvPr id="20" name="直接箭头连接符 19">
            <a:extLst>
              <a:ext uri="{FF2B5EF4-FFF2-40B4-BE49-F238E27FC236}">
                <a16:creationId xmlns:a16="http://schemas.microsoft.com/office/drawing/2014/main" id="{4FB190FA-6582-4ABC-8BE8-76707B48FD45}"/>
              </a:ext>
            </a:extLst>
          </p:cNvPr>
          <p:cNvCxnSpPr/>
          <p:nvPr/>
        </p:nvCxnSpPr>
        <p:spPr>
          <a:xfrm flipV="1">
            <a:off x="5553145" y="2061109"/>
            <a:ext cx="1389804" cy="221371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1" name="箭头: 右 20">
            <a:extLst>
              <a:ext uri="{FF2B5EF4-FFF2-40B4-BE49-F238E27FC236}">
                <a16:creationId xmlns:a16="http://schemas.microsoft.com/office/drawing/2014/main" id="{5DE38B9C-7947-59D2-717E-3F3EA6D98468}"/>
              </a:ext>
            </a:extLst>
          </p:cNvPr>
          <p:cNvSpPr/>
          <p:nvPr/>
        </p:nvSpPr>
        <p:spPr>
          <a:xfrm>
            <a:off x="3733800" y="3764309"/>
            <a:ext cx="429541" cy="335309"/>
          </a:xfrm>
          <a:prstGeom prst="rightArrow">
            <a:avLst/>
          </a:prstGeom>
          <a:solidFill>
            <a:srgbClr val="AD94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dirty="0">
              <a:solidFill>
                <a:schemeClr val="bg1"/>
              </a:solidFill>
              <a:latin typeface="+mj-lt"/>
            </a:endParaRPr>
          </a:p>
        </p:txBody>
      </p:sp>
      <p:sp>
        <p:nvSpPr>
          <p:cNvPr id="22" name="箭头: 右 21">
            <a:extLst>
              <a:ext uri="{FF2B5EF4-FFF2-40B4-BE49-F238E27FC236}">
                <a16:creationId xmlns:a16="http://schemas.microsoft.com/office/drawing/2014/main" id="{AB629C2F-023B-D24E-761E-8D23B757030D}"/>
              </a:ext>
            </a:extLst>
          </p:cNvPr>
          <p:cNvSpPr/>
          <p:nvPr/>
        </p:nvSpPr>
        <p:spPr>
          <a:xfrm>
            <a:off x="7427312" y="3749054"/>
            <a:ext cx="429541" cy="335309"/>
          </a:xfrm>
          <a:prstGeom prst="rightArrow">
            <a:avLst/>
          </a:prstGeom>
          <a:solidFill>
            <a:srgbClr val="AD94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dirty="0">
              <a:solidFill>
                <a:schemeClr val="bg1"/>
              </a:solidFill>
              <a:latin typeface="+mj-lt"/>
            </a:endParaRPr>
          </a:p>
        </p:txBody>
      </p:sp>
    </p:spTree>
    <p:extLst>
      <p:ext uri="{BB962C8B-B14F-4D97-AF65-F5344CB8AC3E}">
        <p14:creationId xmlns:p14="http://schemas.microsoft.com/office/powerpoint/2010/main" val="2207119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36382EE-B0F1-4525-96CC-87A751C3C21D}"/>
              </a:ext>
            </a:extLst>
          </p:cNvPr>
          <p:cNvSpPr txBox="1"/>
          <p:nvPr/>
        </p:nvSpPr>
        <p:spPr>
          <a:xfrm>
            <a:off x="6618355" y="846773"/>
            <a:ext cx="3398262" cy="646331"/>
          </a:xfrm>
          <a:prstGeom prst="rect">
            <a:avLst/>
          </a:prstGeom>
          <a:noFill/>
        </p:spPr>
        <p:txBody>
          <a:bodyPr wrap="square" rtlCol="0">
            <a:spAutoFit/>
          </a:bodyPr>
          <a:lstStyle/>
          <a:p>
            <a:r>
              <a:rPr lang="en-US" altLang="zh-CN" sz="1800" dirty="0">
                <a:effectLst/>
                <a:latin typeface="Times New Roman" panose="02020603050405020304" pitchFamily="18" charset="0"/>
                <a:ea typeface="宋体" panose="02010600030101010101" pitchFamily="2" charset="-122"/>
              </a:rPr>
              <a:t> By extracting the content after the colon, you get a pure poetic text. </a:t>
            </a:r>
            <a:endParaRPr lang="ko-KR" altLang="en-US" sz="1400" dirty="0">
              <a:solidFill>
                <a:schemeClr val="tx1">
                  <a:lumMod val="75000"/>
                  <a:lumOff val="25000"/>
                </a:schemeClr>
              </a:solidFill>
              <a:latin typeface="Times New Roman" panose="02020603050405020304" pitchFamily="18" charset="0"/>
            </a:endParaRPr>
          </a:p>
        </p:txBody>
      </p:sp>
      <p:sp>
        <p:nvSpPr>
          <p:cNvPr id="11" name="TextBox 10">
            <a:extLst>
              <a:ext uri="{FF2B5EF4-FFF2-40B4-BE49-F238E27FC236}">
                <a16:creationId xmlns:a16="http://schemas.microsoft.com/office/drawing/2014/main" id="{99CA41B3-F80E-48F9-B893-41760A4063CB}"/>
              </a:ext>
            </a:extLst>
          </p:cNvPr>
          <p:cNvSpPr txBox="1"/>
          <p:nvPr/>
        </p:nvSpPr>
        <p:spPr>
          <a:xfrm>
            <a:off x="7064488" y="4374671"/>
            <a:ext cx="3398262" cy="646331"/>
          </a:xfrm>
          <a:prstGeom prst="rect">
            <a:avLst/>
          </a:prstGeom>
          <a:noFill/>
        </p:spPr>
        <p:txBody>
          <a:bodyPr wrap="square" rtlCol="0">
            <a:spAutoFit/>
          </a:bodyPr>
          <a:lstStyle/>
          <a:p>
            <a:r>
              <a:rPr lang="en-US" altLang="zh-CN" dirty="0">
                <a:latin typeface="Times New Roman" panose="02020603050405020304" pitchFamily="18" charset="0"/>
                <a:ea typeface="DFKai-SB"/>
              </a:rPr>
              <a:t>T</a:t>
            </a:r>
            <a:r>
              <a:rPr lang="en-US" altLang="zh-CN" sz="1800" dirty="0">
                <a:effectLst/>
                <a:latin typeface="Times New Roman" panose="02020603050405020304" pitchFamily="18" charset="0"/>
                <a:ea typeface="DFKai-SB"/>
              </a:rPr>
              <a:t>he data set will be divided in a 6:2:2 ratio</a:t>
            </a:r>
            <a:endParaRPr lang="ko-KR" altLang="en-US" sz="1400" dirty="0">
              <a:solidFill>
                <a:schemeClr val="tx1">
                  <a:lumMod val="75000"/>
                  <a:lumOff val="25000"/>
                </a:schemeClr>
              </a:solidFill>
              <a:latin typeface="Times New Roman" panose="02020603050405020304" pitchFamily="18" charset="0"/>
            </a:endParaRPr>
          </a:p>
        </p:txBody>
      </p:sp>
      <p:sp>
        <p:nvSpPr>
          <p:cNvPr id="13" name="TextBox 12">
            <a:extLst>
              <a:ext uri="{FF2B5EF4-FFF2-40B4-BE49-F238E27FC236}">
                <a16:creationId xmlns:a16="http://schemas.microsoft.com/office/drawing/2014/main" id="{1655436B-EC80-40D2-957E-94A2EC99E77B}"/>
              </a:ext>
            </a:extLst>
          </p:cNvPr>
          <p:cNvSpPr txBox="1"/>
          <p:nvPr/>
        </p:nvSpPr>
        <p:spPr>
          <a:xfrm>
            <a:off x="407982" y="323553"/>
            <a:ext cx="2762219" cy="523220"/>
          </a:xfrm>
          <a:prstGeom prst="rect">
            <a:avLst/>
          </a:prstGeom>
          <a:noFill/>
        </p:spPr>
        <p:txBody>
          <a:bodyPr wrap="square" rtlCol="0">
            <a:spAutoFit/>
          </a:bodyPr>
          <a:lstStyle>
            <a:defPPr>
              <a:defRPr lang="ko-KR"/>
            </a:defPPr>
            <a:lvl1pPr algn="ctr">
              <a:defRPr sz="2800">
                <a:solidFill>
                  <a:srgbClr val="B7AEA5"/>
                </a:solidFill>
                <a:cs typeface="Arial" panose="020B0604020202020204" pitchFamily="34" charset="0"/>
              </a:defRPr>
            </a:lvl1pPr>
          </a:lstStyle>
          <a:p>
            <a:pPr algn="l"/>
            <a:r>
              <a:rPr lang="en-US" altLang="ko-KR" dirty="0">
                <a:solidFill>
                  <a:srgbClr val="AD9485"/>
                </a:solidFill>
                <a:latin typeface="Times New Roman" panose="02020603050405020304" pitchFamily="18" charset="0"/>
                <a:ea typeface="宋体" panose="02010600030101010101" pitchFamily="2" charset="-122"/>
              </a:rPr>
              <a:t>Data processing</a:t>
            </a:r>
            <a:endParaRPr lang="ko-KR" altLang="en-US" dirty="0">
              <a:solidFill>
                <a:srgbClr val="AD9485"/>
              </a:solidFill>
              <a:latin typeface="Times New Roman" panose="02020603050405020304" pitchFamily="18" charset="0"/>
            </a:endParaRPr>
          </a:p>
        </p:txBody>
      </p:sp>
      <p:pic>
        <p:nvPicPr>
          <p:cNvPr id="2" name="图片 1">
            <a:extLst>
              <a:ext uri="{FF2B5EF4-FFF2-40B4-BE49-F238E27FC236}">
                <a16:creationId xmlns:a16="http://schemas.microsoft.com/office/drawing/2014/main" id="{65291994-774C-2C78-E407-21C67A57598D}"/>
              </a:ext>
            </a:extLst>
          </p:cNvPr>
          <p:cNvPicPr>
            <a:picLocks noChangeAspect="1"/>
          </p:cNvPicPr>
          <p:nvPr/>
        </p:nvPicPr>
        <p:blipFill>
          <a:blip r:embed="rId3"/>
          <a:stretch>
            <a:fillRect/>
          </a:stretch>
        </p:blipFill>
        <p:spPr>
          <a:xfrm>
            <a:off x="4302649" y="1573318"/>
            <a:ext cx="3329940" cy="937260"/>
          </a:xfrm>
          <a:prstGeom prst="rect">
            <a:avLst/>
          </a:prstGeom>
        </p:spPr>
      </p:pic>
      <p:pic>
        <p:nvPicPr>
          <p:cNvPr id="3" name="图片 2">
            <a:extLst>
              <a:ext uri="{FF2B5EF4-FFF2-40B4-BE49-F238E27FC236}">
                <a16:creationId xmlns:a16="http://schemas.microsoft.com/office/drawing/2014/main" id="{971DEC4D-1327-388F-8279-42B0D362A0DA}"/>
              </a:ext>
            </a:extLst>
          </p:cNvPr>
          <p:cNvPicPr>
            <a:picLocks noChangeAspect="1"/>
          </p:cNvPicPr>
          <p:nvPr/>
        </p:nvPicPr>
        <p:blipFill>
          <a:blip r:embed="rId4"/>
          <a:stretch>
            <a:fillRect/>
          </a:stretch>
        </p:blipFill>
        <p:spPr>
          <a:xfrm>
            <a:off x="1249680" y="1348466"/>
            <a:ext cx="2506980" cy="2621280"/>
          </a:xfrm>
          <a:prstGeom prst="rect">
            <a:avLst/>
          </a:prstGeom>
        </p:spPr>
      </p:pic>
      <p:pic>
        <p:nvPicPr>
          <p:cNvPr id="4" name="图片 3">
            <a:extLst>
              <a:ext uri="{FF2B5EF4-FFF2-40B4-BE49-F238E27FC236}">
                <a16:creationId xmlns:a16="http://schemas.microsoft.com/office/drawing/2014/main" id="{D5337127-B8A7-2E72-53D5-D6EFC36FE027}"/>
              </a:ext>
            </a:extLst>
          </p:cNvPr>
          <p:cNvPicPr>
            <a:picLocks noChangeAspect="1"/>
          </p:cNvPicPr>
          <p:nvPr/>
        </p:nvPicPr>
        <p:blipFill>
          <a:blip r:embed="rId5"/>
          <a:stretch>
            <a:fillRect/>
          </a:stretch>
        </p:blipFill>
        <p:spPr>
          <a:xfrm>
            <a:off x="4174913" y="3175684"/>
            <a:ext cx="5400040" cy="821690"/>
          </a:xfrm>
          <a:prstGeom prst="rect">
            <a:avLst/>
          </a:prstGeom>
        </p:spPr>
      </p:pic>
      <p:pic>
        <p:nvPicPr>
          <p:cNvPr id="5" name="图片 4">
            <a:extLst>
              <a:ext uri="{FF2B5EF4-FFF2-40B4-BE49-F238E27FC236}">
                <a16:creationId xmlns:a16="http://schemas.microsoft.com/office/drawing/2014/main" id="{390B0B65-D726-E8F4-9DBB-A02F47186561}"/>
              </a:ext>
            </a:extLst>
          </p:cNvPr>
          <p:cNvPicPr>
            <a:picLocks noChangeAspect="1"/>
          </p:cNvPicPr>
          <p:nvPr/>
        </p:nvPicPr>
        <p:blipFill>
          <a:blip r:embed="rId6"/>
          <a:stretch>
            <a:fillRect/>
          </a:stretch>
        </p:blipFill>
        <p:spPr>
          <a:xfrm>
            <a:off x="9273667" y="2087668"/>
            <a:ext cx="1485900" cy="845820"/>
          </a:xfrm>
          <a:prstGeom prst="rect">
            <a:avLst/>
          </a:prstGeom>
        </p:spPr>
      </p:pic>
      <p:sp>
        <p:nvSpPr>
          <p:cNvPr id="6" name="箭头: 右 5">
            <a:extLst>
              <a:ext uri="{FF2B5EF4-FFF2-40B4-BE49-F238E27FC236}">
                <a16:creationId xmlns:a16="http://schemas.microsoft.com/office/drawing/2014/main" id="{C1A70DC3-1E8D-9F39-7D2C-9E77012B82A4}"/>
              </a:ext>
            </a:extLst>
          </p:cNvPr>
          <p:cNvSpPr/>
          <p:nvPr/>
        </p:nvSpPr>
        <p:spPr>
          <a:xfrm>
            <a:off x="4075289" y="2664769"/>
            <a:ext cx="4794472" cy="350488"/>
          </a:xfrm>
          <a:prstGeom prst="rightArrow">
            <a:avLst/>
          </a:prstGeom>
          <a:solidFill>
            <a:srgbClr val="AD94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dirty="0">
              <a:solidFill>
                <a:schemeClr val="bg1"/>
              </a:solidFill>
              <a:latin typeface="+mj-lt"/>
            </a:endParaRPr>
          </a:p>
        </p:txBody>
      </p:sp>
      <p:cxnSp>
        <p:nvCxnSpPr>
          <p:cNvPr id="8" name="直接箭头连接符 7">
            <a:extLst>
              <a:ext uri="{FF2B5EF4-FFF2-40B4-BE49-F238E27FC236}">
                <a16:creationId xmlns:a16="http://schemas.microsoft.com/office/drawing/2014/main" id="{78AC5A29-D928-164C-60A7-D14C21D82921}"/>
              </a:ext>
            </a:extLst>
          </p:cNvPr>
          <p:cNvCxnSpPr/>
          <p:nvPr/>
        </p:nvCxnSpPr>
        <p:spPr>
          <a:xfrm flipV="1">
            <a:off x="6287911" y="1348466"/>
            <a:ext cx="330444" cy="224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EA1FC40-5362-ADD7-B965-9BBB74569148}"/>
              </a:ext>
            </a:extLst>
          </p:cNvPr>
          <p:cNvCxnSpPr/>
          <p:nvPr/>
        </p:nvCxnSpPr>
        <p:spPr>
          <a:xfrm>
            <a:off x="6618355" y="3997374"/>
            <a:ext cx="446133" cy="3772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27614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36382EE-B0F1-4525-96CC-87A751C3C21D}"/>
              </a:ext>
            </a:extLst>
          </p:cNvPr>
          <p:cNvSpPr txBox="1"/>
          <p:nvPr/>
        </p:nvSpPr>
        <p:spPr>
          <a:xfrm>
            <a:off x="218786" y="1491846"/>
            <a:ext cx="4714458" cy="3416320"/>
          </a:xfrm>
          <a:prstGeom prst="rect">
            <a:avLst/>
          </a:prstGeom>
          <a:noFill/>
        </p:spPr>
        <p:txBody>
          <a:bodyPr wrap="square" rtlCol="0">
            <a:spAutoFit/>
          </a:bodyPr>
          <a:lstStyle/>
          <a:p>
            <a:pPr marL="285750" indent="-285750">
              <a:buFont typeface="Arial" panose="020B0604020202020204" pitchFamily="34" charset="0"/>
              <a:buChar char="•"/>
            </a:pPr>
            <a:r>
              <a:rPr lang="en-US" altLang="zh-CN" sz="1800" dirty="0">
                <a:solidFill>
                  <a:schemeClr val="accent2">
                    <a:lumMod val="75000"/>
                  </a:schemeClr>
                </a:solidFill>
                <a:effectLst/>
                <a:latin typeface="Times New Roman" panose="02020603050405020304" pitchFamily="18" charset="0"/>
                <a:ea typeface="宋体" panose="02010600030101010101" pitchFamily="2" charset="-122"/>
              </a:rPr>
              <a:t>Load Model</a:t>
            </a:r>
            <a:r>
              <a:rPr lang="en-US" altLang="zh-CN" sz="1800" dirty="0">
                <a:effectLst/>
                <a:latin typeface="Times New Roman" panose="02020603050405020304" pitchFamily="18" charset="0"/>
                <a:ea typeface="宋体" panose="02010600030101010101" pitchFamily="2" charset="-122"/>
              </a:rPr>
              <a:t>: A function or class is defined to load a pre-trained poetry generator model for subsequent use.</a:t>
            </a:r>
          </a:p>
          <a:p>
            <a:pPr marL="285750" indent="-285750" latinLnBrk="0">
              <a:buFont typeface="Arial" panose="020B0604020202020204" pitchFamily="34" charset="0"/>
              <a:buChar char="•"/>
            </a:pPr>
            <a:r>
              <a:rPr lang="en-US" altLang="zh-CN" sz="1800" dirty="0">
                <a:solidFill>
                  <a:schemeClr val="accent2">
                    <a:lumMod val="75000"/>
                  </a:schemeClr>
                </a:solidFill>
                <a:effectLst/>
                <a:latin typeface="Times New Roman" panose="02020603050405020304" pitchFamily="18" charset="0"/>
                <a:ea typeface="宋体" panose="02010600030101010101" pitchFamily="2" charset="-122"/>
              </a:rPr>
              <a:t>Save the generated results</a:t>
            </a:r>
            <a:r>
              <a:rPr lang="en-US" altLang="zh-CN" sz="1800" dirty="0">
                <a:effectLst/>
                <a:latin typeface="Times New Roman" panose="02020603050405020304" pitchFamily="18" charset="0"/>
                <a:ea typeface="宋体" panose="02010600030101010101" pitchFamily="2" charset="-122"/>
              </a:rPr>
              <a:t>: A function or class is defined to save the generated results of ancient poems to a file for later viewing or sharing.</a:t>
            </a:r>
          </a:p>
          <a:p>
            <a:pPr marL="285750" indent="-285750">
              <a:buFont typeface="Arial" panose="020B0604020202020204" pitchFamily="34" charset="0"/>
              <a:buChar char="•"/>
            </a:pPr>
            <a:r>
              <a:rPr lang="en-US" altLang="zh-CN" sz="1800" dirty="0">
                <a:solidFill>
                  <a:schemeClr val="accent2">
                    <a:lumMod val="75000"/>
                  </a:schemeClr>
                </a:solidFill>
                <a:effectLst/>
                <a:latin typeface="Times New Roman" panose="02020603050405020304" pitchFamily="18" charset="0"/>
                <a:ea typeface="宋体" panose="02010600030101010101" pitchFamily="2" charset="-122"/>
              </a:rPr>
              <a:t>Poetic-generating interface</a:t>
            </a:r>
            <a:r>
              <a:rPr lang="en-US" altLang="zh-CN" sz="1800" dirty="0">
                <a:effectLst/>
                <a:latin typeface="Times New Roman" panose="02020603050405020304" pitchFamily="18" charset="0"/>
                <a:ea typeface="宋体" panose="02010600030101010101" pitchFamily="2" charset="-122"/>
              </a:rPr>
              <a:t>: A function or class is defined as an interface for the user to interact with the generator model by calling the interface to enter a piece of text and then get the result of the generated ancient poem.</a:t>
            </a:r>
            <a:endParaRPr lang="ko-KR" altLang="en-US" sz="1400" dirty="0">
              <a:solidFill>
                <a:schemeClr val="tx1">
                  <a:lumMod val="75000"/>
                  <a:lumOff val="25000"/>
                </a:schemeClr>
              </a:solidFill>
              <a:latin typeface="Times New Roman" panose="02020603050405020304" pitchFamily="18" charset="0"/>
            </a:endParaRPr>
          </a:p>
        </p:txBody>
      </p:sp>
      <p:sp>
        <p:nvSpPr>
          <p:cNvPr id="13" name="TextBox 12">
            <a:extLst>
              <a:ext uri="{FF2B5EF4-FFF2-40B4-BE49-F238E27FC236}">
                <a16:creationId xmlns:a16="http://schemas.microsoft.com/office/drawing/2014/main" id="{1655436B-EC80-40D2-957E-94A2EC99E77B}"/>
              </a:ext>
            </a:extLst>
          </p:cNvPr>
          <p:cNvSpPr txBox="1"/>
          <p:nvPr/>
        </p:nvSpPr>
        <p:spPr>
          <a:xfrm>
            <a:off x="218786" y="454763"/>
            <a:ext cx="3768906" cy="523220"/>
          </a:xfrm>
          <a:prstGeom prst="rect">
            <a:avLst/>
          </a:prstGeom>
          <a:noFill/>
        </p:spPr>
        <p:txBody>
          <a:bodyPr wrap="square" rtlCol="0">
            <a:spAutoFit/>
          </a:bodyPr>
          <a:lstStyle>
            <a:defPPr>
              <a:defRPr lang="ko-KR"/>
            </a:defPPr>
            <a:lvl1pPr algn="ctr">
              <a:defRPr sz="2800">
                <a:solidFill>
                  <a:srgbClr val="B7AEA5"/>
                </a:solidFill>
                <a:cs typeface="Arial" panose="020B0604020202020204" pitchFamily="34" charset="0"/>
              </a:defRPr>
            </a:lvl1pPr>
          </a:lstStyle>
          <a:p>
            <a:pPr algn="l"/>
            <a:r>
              <a:rPr lang="en-US" altLang="zh-CN" dirty="0">
                <a:solidFill>
                  <a:srgbClr val="AD9485"/>
                </a:solidFill>
                <a:latin typeface="Times New Roman" panose="02020603050405020304" pitchFamily="18" charset="0"/>
                <a:ea typeface="宋体" panose="02010600030101010101" pitchFamily="2" charset="-122"/>
              </a:rPr>
              <a:t>creator.py</a:t>
            </a:r>
            <a:endParaRPr lang="ko-KR" altLang="en-US" dirty="0">
              <a:solidFill>
                <a:srgbClr val="AD9485"/>
              </a:solidFill>
              <a:latin typeface="Times New Roman" panose="02020603050405020304" pitchFamily="18" charset="0"/>
            </a:endParaRPr>
          </a:p>
        </p:txBody>
      </p:sp>
      <p:pic>
        <p:nvPicPr>
          <p:cNvPr id="3" name="图片 2">
            <a:extLst>
              <a:ext uri="{FF2B5EF4-FFF2-40B4-BE49-F238E27FC236}">
                <a16:creationId xmlns:a16="http://schemas.microsoft.com/office/drawing/2014/main" id="{765ED7F1-74D0-0438-B34C-7D0E0E99469C}"/>
              </a:ext>
            </a:extLst>
          </p:cNvPr>
          <p:cNvPicPr>
            <a:picLocks noChangeAspect="1"/>
          </p:cNvPicPr>
          <p:nvPr/>
        </p:nvPicPr>
        <p:blipFill>
          <a:blip r:embed="rId3"/>
          <a:stretch>
            <a:fillRect/>
          </a:stretch>
        </p:blipFill>
        <p:spPr>
          <a:xfrm>
            <a:off x="4867465" y="1159986"/>
            <a:ext cx="7324535" cy="4206168"/>
          </a:xfrm>
          <a:prstGeom prst="rect">
            <a:avLst/>
          </a:prstGeom>
        </p:spPr>
      </p:pic>
    </p:spTree>
    <p:extLst>
      <p:ext uri="{BB962C8B-B14F-4D97-AF65-F5344CB8AC3E}">
        <p14:creationId xmlns:p14="http://schemas.microsoft.com/office/powerpoint/2010/main" val="1391220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36382EE-B0F1-4525-96CC-87A751C3C21D}"/>
              </a:ext>
            </a:extLst>
          </p:cNvPr>
          <p:cNvSpPr txBox="1"/>
          <p:nvPr/>
        </p:nvSpPr>
        <p:spPr>
          <a:xfrm>
            <a:off x="218786" y="1877658"/>
            <a:ext cx="5019258" cy="1754326"/>
          </a:xfrm>
          <a:prstGeom prst="rect">
            <a:avLst/>
          </a:prstGeom>
          <a:noFill/>
        </p:spPr>
        <p:txBody>
          <a:bodyPr wrap="square" rtlCol="0">
            <a:spAutoFit/>
          </a:bodyPr>
          <a:lstStyle/>
          <a:p>
            <a:pPr marL="285750" indent="-285750" latinLnBrk="0">
              <a:buFont typeface="Arial" panose="020B0604020202020204" pitchFamily="34" charset="0"/>
              <a:buChar char="•"/>
            </a:pPr>
            <a:r>
              <a:rPr lang="en-US" altLang="zh-CN" sz="1800" dirty="0">
                <a:effectLst/>
                <a:latin typeface="Times New Roman" panose="02020603050405020304" pitchFamily="18" charset="0"/>
                <a:ea typeface="宋体" panose="02010600030101010101" pitchFamily="2" charset="-122"/>
              </a:rPr>
              <a:t>In my demo, I used </a:t>
            </a:r>
            <a:r>
              <a:rPr lang="en-US" altLang="zh-CN" sz="1800" dirty="0">
                <a:solidFill>
                  <a:schemeClr val="accent2">
                    <a:lumMod val="75000"/>
                  </a:schemeClr>
                </a:solidFill>
                <a:effectLst/>
                <a:latin typeface="Times New Roman" panose="02020603050405020304" pitchFamily="18" charset="0"/>
                <a:ea typeface="宋体" panose="02010600030101010101" pitchFamily="2" charset="-122"/>
              </a:rPr>
              <a:t>a pre-trained BERT model</a:t>
            </a:r>
            <a:r>
              <a:rPr lang="en-US" altLang="zh-CN" sz="1800" dirty="0">
                <a:effectLst/>
                <a:latin typeface="Times New Roman" panose="02020603050405020304" pitchFamily="18" charset="0"/>
                <a:ea typeface="宋体" panose="02010600030101010101" pitchFamily="2" charset="-122"/>
              </a:rPr>
              <a:t>, which is a deep learning model with powerful text representation capabilities. I generate poems by </a:t>
            </a:r>
            <a:r>
              <a:rPr lang="en-US" altLang="zh-CN" sz="1800" dirty="0">
                <a:solidFill>
                  <a:schemeClr val="accent2">
                    <a:lumMod val="75000"/>
                  </a:schemeClr>
                </a:solidFill>
                <a:effectLst/>
                <a:latin typeface="Times New Roman" panose="02020603050405020304" pitchFamily="18" charset="0"/>
                <a:ea typeface="宋体" panose="02010600030101010101" pitchFamily="2" charset="-122"/>
              </a:rPr>
              <a:t>encoding</a:t>
            </a:r>
            <a:r>
              <a:rPr lang="en-US" altLang="zh-CN" sz="1800" dirty="0">
                <a:effectLst/>
                <a:latin typeface="Times New Roman" panose="02020603050405020304" pitchFamily="18" charset="0"/>
                <a:ea typeface="宋体" panose="02010600030101010101" pitchFamily="2" charset="-122"/>
              </a:rPr>
              <a:t> the input text into a format that the model can understand and then feeding it into a </a:t>
            </a:r>
            <a:r>
              <a:rPr lang="en-US" altLang="zh-CN" sz="1800" dirty="0">
                <a:solidFill>
                  <a:schemeClr val="accent2">
                    <a:lumMod val="75000"/>
                  </a:schemeClr>
                </a:solidFill>
                <a:effectLst/>
                <a:latin typeface="Times New Roman" panose="02020603050405020304" pitchFamily="18" charset="0"/>
                <a:ea typeface="宋体" panose="02010600030101010101" pitchFamily="2" charset="-122"/>
              </a:rPr>
              <a:t>poetry generator</a:t>
            </a:r>
            <a:r>
              <a:rPr lang="en-US" altLang="zh-CN" sz="1800" dirty="0">
                <a:effectLst/>
                <a:latin typeface="Times New Roman" panose="02020603050405020304" pitchFamily="18" charset="0"/>
                <a:ea typeface="宋体" panose="02010600030101010101" pitchFamily="2" charset="-122"/>
              </a:rPr>
              <a:t> model defined by my code.</a:t>
            </a:r>
            <a:endParaRPr lang="ko-KR" altLang="en-US" sz="1400" dirty="0">
              <a:solidFill>
                <a:schemeClr val="tx1">
                  <a:lumMod val="75000"/>
                  <a:lumOff val="25000"/>
                </a:schemeClr>
              </a:solidFill>
              <a:latin typeface="Times New Roman" panose="02020603050405020304" pitchFamily="18" charset="0"/>
            </a:endParaRPr>
          </a:p>
        </p:txBody>
      </p:sp>
      <p:sp>
        <p:nvSpPr>
          <p:cNvPr id="13" name="TextBox 12">
            <a:extLst>
              <a:ext uri="{FF2B5EF4-FFF2-40B4-BE49-F238E27FC236}">
                <a16:creationId xmlns:a16="http://schemas.microsoft.com/office/drawing/2014/main" id="{1655436B-EC80-40D2-957E-94A2EC99E77B}"/>
              </a:ext>
            </a:extLst>
          </p:cNvPr>
          <p:cNvSpPr txBox="1"/>
          <p:nvPr/>
        </p:nvSpPr>
        <p:spPr>
          <a:xfrm>
            <a:off x="218786" y="454763"/>
            <a:ext cx="3768906" cy="523220"/>
          </a:xfrm>
          <a:prstGeom prst="rect">
            <a:avLst/>
          </a:prstGeom>
          <a:noFill/>
        </p:spPr>
        <p:txBody>
          <a:bodyPr wrap="square" rtlCol="0">
            <a:spAutoFit/>
          </a:bodyPr>
          <a:lstStyle>
            <a:defPPr>
              <a:defRPr lang="ko-KR"/>
            </a:defPPr>
            <a:lvl1pPr algn="ctr">
              <a:defRPr sz="2800">
                <a:solidFill>
                  <a:srgbClr val="B7AEA5"/>
                </a:solidFill>
                <a:cs typeface="Arial" panose="020B0604020202020204" pitchFamily="34" charset="0"/>
              </a:defRPr>
            </a:lvl1pPr>
          </a:lstStyle>
          <a:p>
            <a:pPr algn="l"/>
            <a:r>
              <a:rPr lang="en-US" altLang="zh-CN" dirty="0" err="1">
                <a:solidFill>
                  <a:srgbClr val="AD9485"/>
                </a:solidFill>
                <a:latin typeface="Times New Roman" panose="02020603050405020304" pitchFamily="18" charset="0"/>
                <a:ea typeface="宋体" panose="02010600030101010101" pitchFamily="2" charset="-122"/>
              </a:rPr>
              <a:t>Summary&amp;results</a:t>
            </a:r>
            <a:endParaRPr lang="ko-KR" altLang="en-US" dirty="0">
              <a:solidFill>
                <a:srgbClr val="AD9485"/>
              </a:solidFill>
              <a:latin typeface="Times New Roman" panose="02020603050405020304" pitchFamily="18" charset="0"/>
            </a:endParaRPr>
          </a:p>
        </p:txBody>
      </p:sp>
      <p:pic>
        <p:nvPicPr>
          <p:cNvPr id="2" name="图片 1">
            <a:extLst>
              <a:ext uri="{FF2B5EF4-FFF2-40B4-BE49-F238E27FC236}">
                <a16:creationId xmlns:a16="http://schemas.microsoft.com/office/drawing/2014/main" id="{FB1DB6E4-528D-2548-AEE9-C28DCA1BD160}"/>
              </a:ext>
            </a:extLst>
          </p:cNvPr>
          <p:cNvPicPr>
            <a:picLocks noChangeAspect="1"/>
          </p:cNvPicPr>
          <p:nvPr/>
        </p:nvPicPr>
        <p:blipFill>
          <a:blip r:embed="rId3"/>
          <a:stretch>
            <a:fillRect/>
          </a:stretch>
        </p:blipFill>
        <p:spPr>
          <a:xfrm>
            <a:off x="5504290" y="298992"/>
            <a:ext cx="5400040" cy="2647950"/>
          </a:xfrm>
          <a:prstGeom prst="rect">
            <a:avLst/>
          </a:prstGeom>
        </p:spPr>
      </p:pic>
      <p:pic>
        <p:nvPicPr>
          <p:cNvPr id="4" name="图片 3">
            <a:extLst>
              <a:ext uri="{FF2B5EF4-FFF2-40B4-BE49-F238E27FC236}">
                <a16:creationId xmlns:a16="http://schemas.microsoft.com/office/drawing/2014/main" id="{6DAD7C9C-13C4-E8ED-FA12-D7C66B62A79A}"/>
              </a:ext>
            </a:extLst>
          </p:cNvPr>
          <p:cNvPicPr>
            <a:picLocks noChangeAspect="1"/>
          </p:cNvPicPr>
          <p:nvPr/>
        </p:nvPicPr>
        <p:blipFill>
          <a:blip r:embed="rId4"/>
          <a:stretch>
            <a:fillRect/>
          </a:stretch>
        </p:blipFill>
        <p:spPr>
          <a:xfrm>
            <a:off x="5504290" y="3437395"/>
            <a:ext cx="5400040" cy="2628265"/>
          </a:xfrm>
          <a:prstGeom prst="rect">
            <a:avLst/>
          </a:prstGeom>
        </p:spPr>
      </p:pic>
    </p:spTree>
    <p:extLst>
      <p:ext uri="{BB962C8B-B14F-4D97-AF65-F5344CB8AC3E}">
        <p14:creationId xmlns:p14="http://schemas.microsoft.com/office/powerpoint/2010/main" val="4253617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1655436B-EC80-40D2-957E-94A2EC99E77B}"/>
              </a:ext>
            </a:extLst>
          </p:cNvPr>
          <p:cNvSpPr txBox="1"/>
          <p:nvPr/>
        </p:nvSpPr>
        <p:spPr>
          <a:xfrm>
            <a:off x="4211547" y="2905780"/>
            <a:ext cx="3768906" cy="523220"/>
          </a:xfrm>
          <a:prstGeom prst="rect">
            <a:avLst/>
          </a:prstGeom>
          <a:noFill/>
        </p:spPr>
        <p:txBody>
          <a:bodyPr wrap="square" rtlCol="0">
            <a:spAutoFit/>
          </a:bodyPr>
          <a:lstStyle>
            <a:defPPr>
              <a:defRPr lang="ko-KR"/>
            </a:defPPr>
            <a:lvl1pPr algn="ctr">
              <a:defRPr sz="2800">
                <a:solidFill>
                  <a:srgbClr val="B7AEA5"/>
                </a:solidFill>
                <a:cs typeface="Arial" panose="020B0604020202020204" pitchFamily="34" charset="0"/>
              </a:defRPr>
            </a:lvl1pPr>
          </a:lstStyle>
          <a:p>
            <a:r>
              <a:rPr lang="en-US" altLang="zh-CN" dirty="0">
                <a:solidFill>
                  <a:srgbClr val="AD9485"/>
                </a:solidFill>
                <a:latin typeface="Times New Roman" panose="02020603050405020304" pitchFamily="18" charset="0"/>
                <a:ea typeface="宋体" panose="02010600030101010101" pitchFamily="2" charset="-122"/>
              </a:rPr>
              <a:t>Q&amp;A</a:t>
            </a:r>
            <a:endParaRPr lang="ko-KR" altLang="en-US" dirty="0">
              <a:solidFill>
                <a:srgbClr val="AD9485"/>
              </a:solidFill>
              <a:latin typeface="Times New Roman" panose="02020603050405020304" pitchFamily="18" charset="0"/>
            </a:endParaRPr>
          </a:p>
        </p:txBody>
      </p:sp>
    </p:spTree>
    <p:extLst>
      <p:ext uri="{BB962C8B-B14F-4D97-AF65-F5344CB8AC3E}">
        <p14:creationId xmlns:p14="http://schemas.microsoft.com/office/powerpoint/2010/main" val="3466601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DA8806F-4D89-4CAD-9464-4CBA8A8B38A7}"/>
              </a:ext>
            </a:extLst>
          </p:cNvPr>
          <p:cNvSpPr txBox="1"/>
          <p:nvPr/>
        </p:nvSpPr>
        <p:spPr>
          <a:xfrm>
            <a:off x="5848952" y="2767281"/>
            <a:ext cx="5691738" cy="1323439"/>
          </a:xfrm>
          <a:prstGeom prst="rect">
            <a:avLst/>
          </a:prstGeom>
          <a:noFill/>
        </p:spPr>
        <p:txBody>
          <a:bodyPr wrap="square" rtlCol="0" anchor="ctr" anchorCtr="0">
            <a:spAutoFit/>
          </a:bodyPr>
          <a:lstStyle>
            <a:defPPr>
              <a:defRPr lang="ko-KR"/>
            </a:defPPr>
            <a:lvl1pPr>
              <a:defRPr sz="4000" b="1">
                <a:latin typeface="+mj-lt"/>
                <a:cs typeface="Arial" panose="020B0604020202020204" pitchFamily="34" charset="0"/>
              </a:defRPr>
            </a:lvl1pPr>
          </a:lstStyle>
          <a:p>
            <a:pPr algn="ctr"/>
            <a:r>
              <a:rPr lang="en-US" altLang="ko-KR" sz="8000" b="0" dirty="0">
                <a:solidFill>
                  <a:schemeClr val="tx1">
                    <a:lumMod val="75000"/>
                    <a:lumOff val="25000"/>
                  </a:schemeClr>
                </a:solidFill>
                <a:latin typeface="Times New Roman" panose="02020603050405020304" pitchFamily="18" charset="0"/>
                <a:ea typeface="宋体" panose="02010600030101010101" pitchFamily="2" charset="-122"/>
              </a:rPr>
              <a:t>Thanks !</a:t>
            </a:r>
          </a:p>
        </p:txBody>
      </p:sp>
    </p:spTree>
    <p:extLst>
      <p:ext uri="{BB962C8B-B14F-4D97-AF65-F5344CB8AC3E}">
        <p14:creationId xmlns:p14="http://schemas.microsoft.com/office/powerpoint/2010/main" val="1907620479"/>
      </p:ext>
    </p:extLst>
  </p:cSld>
  <p:clrMapOvr>
    <a:masterClrMapping/>
  </p:clrMapOvr>
</p:sld>
</file>

<file path=ppt/theme/theme1.xml><?xml version="1.0" encoding="utf-8"?>
<a:theme xmlns:a="http://schemas.openxmlformats.org/drawingml/2006/main" name="PPTMON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ont">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AD9485"/>
        </a:solidFill>
        <a:ln>
          <a:noFill/>
        </a:ln>
      </a:spPr>
      <a:bodyPr rtlCol="0" anchor="ctr" anchorCtr="0"/>
      <a:lstStyle>
        <a:defPPr algn="ctr">
          <a:defRPr sz="2400" dirty="0" smtClean="0">
            <a:solidFill>
              <a:schemeClr val="bg1"/>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5158</TotalTime>
  <Words>3044</Words>
  <Application>Microsoft Office PowerPoint</Application>
  <PresentationFormat>宽屏</PresentationFormat>
  <Paragraphs>206</Paragraphs>
  <Slides>26</Slides>
  <Notes>25</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26</vt:i4>
      </vt:variant>
    </vt:vector>
  </HeadingPairs>
  <TitlesOfParts>
    <vt:vector size="34" baseType="lpstr">
      <vt:lpstr>等线</vt:lpstr>
      <vt:lpstr>Wingdings</vt:lpstr>
      <vt:lpstr>맑은 고딕</vt:lpstr>
      <vt:lpstr>Times New Roman</vt:lpstr>
      <vt:lpstr>等线 Light</vt:lpstr>
      <vt:lpstr>Arial</vt:lpstr>
      <vt:lpstr>PPTMON theme</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5</dc:creator>
  <cp:lastModifiedBy>yy Eluid</cp:lastModifiedBy>
  <cp:revision>299</cp:revision>
  <dcterms:created xsi:type="dcterms:W3CDTF">2019-04-06T05:20:47Z</dcterms:created>
  <dcterms:modified xsi:type="dcterms:W3CDTF">2024-05-08T08:34:58Z</dcterms:modified>
</cp:coreProperties>
</file>